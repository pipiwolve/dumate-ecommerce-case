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c76a10803240cd" /><Relationship Type="http://schemas.openxmlformats.org/officeDocument/2006/relationships/extended-properties" Target="/docProps/app.xml" Id="Rb51b2ae985ca4313" /><Relationship Type="http://schemas.openxmlformats.org/officeDocument/2006/relationships/officeDocument" Target="/ppt/presentation.xml" Id="R657376876a1743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385fc837b34c96"/>
  </p:sldMasterIdLst>
  <p:notesMasterIdLst>
    <p:notesMasterId xmlns:r="http://schemas.openxmlformats.org/officeDocument/2006/relationships" r:id="R0dab9fa67d954c20"/>
  </p:notesMasterIdLst>
  <p:sldIdLst>
    <p:sldId xmlns:r="http://schemas.openxmlformats.org/officeDocument/2006/relationships" id="256" r:id="R77da079a83b6462c"/>
    <p:sldId xmlns:r="http://schemas.openxmlformats.org/officeDocument/2006/relationships" id="257" r:id="Ra3b65b27b81c4824"/>
    <p:sldId xmlns:r="http://schemas.openxmlformats.org/officeDocument/2006/relationships" id="258" r:id="R9511bd02a0884e43"/>
    <p:sldId xmlns:r="http://schemas.openxmlformats.org/officeDocument/2006/relationships" id="259" r:id="Ra4788b7d10e04b3e"/>
    <p:sldId xmlns:r="http://schemas.openxmlformats.org/officeDocument/2006/relationships" id="260" r:id="R1ad10a499b7f40cf"/>
    <p:sldId xmlns:r="http://schemas.openxmlformats.org/officeDocument/2006/relationships" id="261" r:id="R7181c854eab14264"/>
    <p:sldId xmlns:r="http://schemas.openxmlformats.org/officeDocument/2006/relationships" id="262" r:id="Rcfba2cc830a844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9ad06424af4226" /><Relationship Type="http://schemas.openxmlformats.org/officeDocument/2006/relationships/slideMaster" Target="/ppt/slideMasters/slideMaster1.xml" Id="R88385fc837b34c96" /><Relationship Type="http://schemas.openxmlformats.org/officeDocument/2006/relationships/notesMaster" Target="/ppt/notesMasters/notesMaster1.xml" Id="R0dab9fa67d954c20" /><Relationship Type="http://schemas.openxmlformats.org/officeDocument/2006/relationships/presProps" Target="/ppt/presProps.xml" Id="Rfd99b039ae094573" /><Relationship Type="http://schemas.openxmlformats.org/officeDocument/2006/relationships/tableStyles" Target="/ppt/tableStyles.xml" Id="Rd910fd8e6b2e429f" /><Relationship Type="http://schemas.openxmlformats.org/officeDocument/2006/relationships/slide" Target="/ppt/slides/slide1.xml" Id="R77da079a83b6462c" /><Relationship Type="http://schemas.openxmlformats.org/officeDocument/2006/relationships/slide" Target="/ppt/slides/slide2.xml" Id="Ra3b65b27b81c4824" /><Relationship Type="http://schemas.openxmlformats.org/officeDocument/2006/relationships/slide" Target="/ppt/slides/slide3.xml" Id="R9511bd02a0884e43" /><Relationship Type="http://schemas.openxmlformats.org/officeDocument/2006/relationships/slide" Target="/ppt/slides/slide4.xml" Id="Ra4788b7d10e04b3e" /><Relationship Type="http://schemas.openxmlformats.org/officeDocument/2006/relationships/slide" Target="/ppt/slides/slide5.xml" Id="R1ad10a499b7f40cf" /><Relationship Type="http://schemas.openxmlformats.org/officeDocument/2006/relationships/slide" Target="/ppt/slides/slide6.xml" Id="R7181c854eab14264" /><Relationship Type="http://schemas.openxmlformats.org/officeDocument/2006/relationships/slide" Target="/ppt/slides/slide7.xml" Id="Rcfba2cc830a844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edb382081d4b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1eaf8bf6244335" /><Relationship Type="http://schemas.openxmlformats.org/officeDocument/2006/relationships/notesMaster" Target="/ppt/notesMasters/notesMaster1.xml" Id="Rfeb6b105b0d945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3cc906f5e941d8" /><Relationship Type="http://schemas.openxmlformats.org/officeDocument/2006/relationships/notesMaster" Target="/ppt/notesMasters/notesMaster1.xml" Id="R2f93709edcae48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86918d56c947d3" /><Relationship Type="http://schemas.openxmlformats.org/officeDocument/2006/relationships/notesMaster" Target="/ppt/notesMasters/notesMaster1.xml" Id="R00dc9c1c265a44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875a8ddc1b44df" /><Relationship Type="http://schemas.openxmlformats.org/officeDocument/2006/relationships/notesMaster" Target="/ppt/notesMasters/notesMaster1.xml" Id="R5208f818947c41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82946a6b3d4ad8" /><Relationship Type="http://schemas.openxmlformats.org/officeDocument/2006/relationships/notesMaster" Target="/ppt/notesMasters/notesMaster1.xml" Id="R9a8b95b18cb848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85a14845b240b0" /><Relationship Type="http://schemas.openxmlformats.org/officeDocument/2006/relationships/notesMaster" Target="/ppt/notesMasters/notesMaster1.xml" Id="R2170250e7b8349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87e28170554576" /><Relationship Type="http://schemas.openxmlformats.org/officeDocument/2006/relationships/notesMaster" Target="/ppt/notesMasters/notesMaster1.xml" Id="R4aaf5205a43f42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git://shopflow/main@8b67e3d750386b4c993fed848298fa54ff6e2bea</a:t>
            </a:r>
          </a:p>
          <a:p xmlns:a="http://schemas.openxmlformats.org/drawingml/2006/main">
            <a:r>
              <a:t>- kb://shopflow/architecture/inventory-concurrency-v1</a:t>
            </a:r>
          </a:p>
          <a:p xmlns:a="http://schemas.openxmlformats.org/drawingml/2006/main">
            <a:r>
              <a:t>- kb://shopflow/incidents/oversell-2025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git://shopflow/main@8b67e3d750386b4c993fed848298fa54ff6e2bea</a:t>
            </a:r>
          </a:p>
          <a:p xmlns:a="http://schemas.openxmlformats.org/drawingml/2006/main">
            <a:r>
              <a:t>- kb://shopflow/architecture/inventory-concurrency-v1</a:t>
            </a:r>
          </a:p>
          <a:p xmlns:a="http://schemas.openxmlformats.org/drawingml/2006/main">
            <a:r>
              <a:t>- kb://shopflow/incidents/oversell-2025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git://shopflow/main@8b67e3d750386b4c993fed848298fa54ff6e2bea</a:t>
            </a:r>
          </a:p>
          <a:p xmlns:a="http://schemas.openxmlformats.org/drawingml/2006/main">
            <a:r>
              <a:t>- kb://shopflow/architecture/inventory-concurrency-v1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git://shopflow/main@8b67e3d750386b4c993fed848298fa54ff6e2bea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kb://shopflow/architecture/inventory-concurrency-v1</a:t>
            </a:r>
          </a:p>
          <a:p xmlns:a="http://schemas.openxmlformats.org/drawingml/2006/main">
            <a:r>
              <a:t>- kb://shopflow/incidents/oversell-2025</a:t>
            </a:r>
          </a:p>
          <a:p xmlns:a="http://schemas.openxmlformats.org/drawingml/2006/main">
            <a:r>
              <a:t>- directory://shopflow/experts/expert-wang-hai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kb://shopflow/sop/promotion-release-gate-v1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900081089d49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a2c1af19d84823" /><Relationship Type="http://schemas.openxmlformats.org/officeDocument/2006/relationships/slideLayout" Target="/ppt/slideLayouts/slideLayout1.xml" Id="R4503537325d643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03537325d643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7f8ef7b5e4a18" /><Relationship Type="http://schemas.openxmlformats.org/officeDocument/2006/relationships/notesSlide" Target="/ppt/notesSlides/notesSlide1.xml" Id="R3297bf4d023d40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c308d44ac4685" /><Relationship Type="http://schemas.openxmlformats.org/officeDocument/2006/relationships/notesSlide" Target="/ppt/notesSlides/notesSlide2.xml" Id="R46d5d4d682514b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50a3e15764d56" /><Relationship Type="http://schemas.openxmlformats.org/officeDocument/2006/relationships/notesSlide" Target="/ppt/notesSlides/notesSlide3.xml" Id="Rc4f2a8205d614d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ae56d82c94894" /><Relationship Type="http://schemas.openxmlformats.org/officeDocument/2006/relationships/notesSlide" Target="/ppt/notesSlides/notesSlide4.xml" Id="Re5e48c2ce6e34f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6e115e30e4c75" /><Relationship Type="http://schemas.openxmlformats.org/officeDocument/2006/relationships/notesSlide" Target="/ppt/notesSlides/notesSlide5.xml" Id="Rb688c9490dbc424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14f9b70dc4659" /><Relationship Type="http://schemas.openxmlformats.org/officeDocument/2006/relationships/notesSlide" Target="/ppt/notesSlides/notesSlide6.xml" Id="R3a0e5c445fa64f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f93f2bf034bd9" /><Relationship Type="http://schemas.openxmlformats.org/officeDocument/2006/relationships/notesSlide" Target="/ppt/notesSlides/notesSlide7.xml" Id="Rb4d789f0eb7048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9FAD363C-CE9A-4246-A1C6-F3B29221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SHOPFLOW  /  DELIVERY REVIEW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04B86FC-08D8-44B1-A107-5836ABF4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990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限时促销版本</a:t>
            </a:r>
          </a:p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交付风险审查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D99F4F67-296D-45E6-B6CF-CAF00579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4332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audience">
            <a:extLst xmlns:a="http://schemas.openxmlformats.org/drawingml/2006/main">
              <a:ext uri="{FF2B5EF4-FFF2-40B4-BE49-F238E27FC236}">
                <a16:creationId xmlns:a16="http://schemas.microsoft.com/office/drawing/2014/main" id="{45FA8B3C-D5AA-4204-A7FD-5288E736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技术负责人版</a:t>
            </a:r>
          </a:p>
        </p:txBody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98D6F916-74CC-422E-9CB4-49682D9F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快照时间  2026-08-06T18:00:00+08:00</a:t>
            </a:r>
          </a:p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里程碑  v2.6 限时促销稳定性</a:t>
            </a:r>
          </a:p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证据快照  shopflow-5bfd99fc6000</a:t>
            </a:r>
          </a:p>
        </p:txBody>
      </p:sp>
      <p:sp>
        <p:nvSpPr>
          <p:cNvPr id="6" name="cover-health">
            <a:extLst xmlns:a="http://schemas.openxmlformats.org/drawingml/2006/main">
              <a:ext uri="{FF2B5EF4-FFF2-40B4-BE49-F238E27FC236}">
                <a16:creationId xmlns:a16="http://schemas.microsoft.com/office/drawing/2014/main" id="{6DE0155A-38AC-4A25-8844-19D51730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62500"/>
            <a:ext cx="2266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55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有风险</a:t>
            </a:r>
          </a:p>
        </p:txBody>
      </p:sp>
    </p:spTree>
    <p:extLst>
      <p:ext uri="{BB962C8B-B14F-4D97-AF65-F5344CB8AC3E}">
        <p14:creationId xmlns:p14="http://schemas.microsoft.com/office/powerpoint/2010/main" val="10957023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-2">
            <a:extLst xmlns:a="http://schemas.openxmlformats.org/drawingml/2006/main">
              <a:ext uri="{FF2B5EF4-FFF2-40B4-BE49-F238E27FC236}">
                <a16:creationId xmlns:a16="http://schemas.microsoft.com/office/drawing/2014/main" id="{82D8B159-91AD-411C-AE63-22977283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版本完成 65%，但超卖缺陷仍阻塞发布</a:t>
            </a:r>
          </a:p>
        </p:txBody>
      </p:sp>
      <p:sp>
        <p:nvSpPr>
          <p:cNvPr id="2" name="subtitle-2">
            <a:extLst xmlns:a="http://schemas.openxmlformats.org/drawingml/2006/main">
              <a:ext uri="{FF2B5EF4-FFF2-40B4-BE49-F238E27FC236}">
                <a16:creationId xmlns:a16="http://schemas.microsoft.com/office/drawing/2014/main" id="{A96FDF74-002E-48A2-9484-AC797964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Issue 进度是计划基线；PR、Diff 与检查结果用于验证完成度和风险。</a:t>
            </a:r>
          </a:p>
        </p:txBody>
      </p:sp>
      <p:sp>
        <p:nvSpPr>
          <p:cNvPr id="3" name="footer-2">
            <a:extLst xmlns:a="http://schemas.openxmlformats.org/drawingml/2006/main">
              <a:ext uri="{FF2B5EF4-FFF2-40B4-BE49-F238E27FC236}">
                <a16:creationId xmlns:a16="http://schemas.microsoft.com/office/drawing/2014/main" id="{242B5152-A152-4048-B102-CA316F44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shopflow-5bfd99fc6000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7EE9A318-00E2-401A-B002-D6765C4F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5" name="progress-number">
            <a:extLst xmlns:a="http://schemas.openxmlformats.org/drawingml/2006/main">
              <a:ext uri="{FF2B5EF4-FFF2-40B4-BE49-F238E27FC236}">
                <a16:creationId xmlns:a16="http://schemas.microsoft.com/office/drawing/2014/main" id="{929D84DD-C29C-4B77-A5AF-2B71EF7F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143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615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65%</a:t>
            </a:r>
          </a:p>
        </p:txBody>
      </p:sp>
      <p:sp>
        <p:nvSpPr>
          <p:cNvPr id="6" name="progress-base">
            <a:extLst xmlns:a="http://schemas.openxmlformats.org/drawingml/2006/main">
              <a:ext uri="{FF2B5EF4-FFF2-40B4-BE49-F238E27FC236}">
                <a16:creationId xmlns:a16="http://schemas.microsoft.com/office/drawing/2014/main" id="{760CAA69-9471-40A7-9B27-650E8675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gress-fill">
            <a:extLst xmlns:a="http://schemas.openxmlformats.org/drawingml/2006/main">
              <a:ext uri="{FF2B5EF4-FFF2-40B4-BE49-F238E27FC236}">
                <a16:creationId xmlns:a16="http://schemas.microsoft.com/office/drawing/2014/main" id="{886F8FA3-54F1-4850-A4F2-A71B6451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204311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gress-label">
            <a:extLst xmlns:a="http://schemas.openxmlformats.org/drawingml/2006/main">
              <a:ext uri="{FF2B5EF4-FFF2-40B4-BE49-F238E27FC236}">
                <a16:creationId xmlns:a16="http://schemas.microsoft.com/office/drawing/2014/main" id="{B30693F5-AD12-44BC-AEED-6CAA3566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57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加权里程碑进度</a:t>
            </a:r>
          </a:p>
        </p:txBody>
      </p:sp>
      <p:sp>
        <p:nvSpPr>
          <p:cNvPr id="9" name="stat-bg-0">
            <a:extLst xmlns:a="http://schemas.openxmlformats.org/drawingml/2006/main">
              <a:ext uri="{FF2B5EF4-FFF2-40B4-BE49-F238E27FC236}">
                <a16:creationId xmlns:a16="http://schemas.microsoft.com/office/drawing/2014/main" id="{FA7F515D-3A50-4C74-93F4-2F47FF9A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value-0">
            <a:extLst xmlns:a="http://schemas.openxmlformats.org/drawingml/2006/main">
              <a:ext uri="{FF2B5EF4-FFF2-40B4-BE49-F238E27FC236}">
                <a16:creationId xmlns:a16="http://schemas.microsoft.com/office/drawing/2014/main" id="{CEB50D38-7975-47B6-8A99-B883FFFE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1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F3BA3C7D-4F68-4A0C-A00B-4EA5860E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发布阻塞项</a:t>
            </a:r>
          </a:p>
        </p:txBody>
      </p:sp>
      <p:sp>
        <p:nvSpPr>
          <p:cNvPr id="12" name="stat-bg-1">
            <a:extLst xmlns:a="http://schemas.openxmlformats.org/drawingml/2006/main">
              <a:ext uri="{FF2B5EF4-FFF2-40B4-BE49-F238E27FC236}">
                <a16:creationId xmlns:a16="http://schemas.microsoft.com/office/drawing/2014/main" id="{FB928CE4-9417-445E-831C-AF91C7FB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t-value-1">
            <a:extLst xmlns:a="http://schemas.openxmlformats.org/drawingml/2006/main">
              <a:ext uri="{FF2B5EF4-FFF2-40B4-BE49-F238E27FC236}">
                <a16:creationId xmlns:a16="http://schemas.microsoft.com/office/drawing/2014/main" id="{EEE2204D-4778-4EF3-B77B-A5B28DD4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B46A00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B46A00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4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E4373068-8A37-40E8-81FE-6D517BD7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失败检查</a:t>
            </a:r>
          </a:p>
        </p:txBody>
      </p:sp>
      <p:sp>
        <p:nvSpPr>
          <p:cNvPr id="15" name="stat-bg-2">
            <a:extLst xmlns:a="http://schemas.openxmlformats.org/drawingml/2006/main">
              <a:ext uri="{FF2B5EF4-FFF2-40B4-BE49-F238E27FC236}">
                <a16:creationId xmlns:a16="http://schemas.microsoft.com/office/drawing/2014/main" id="{CBD4AF64-3CE6-48E9-A702-28BC5B6E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tat-value-2">
            <a:extLst xmlns:a="http://schemas.openxmlformats.org/drawingml/2006/main">
              <a:ext uri="{FF2B5EF4-FFF2-40B4-BE49-F238E27FC236}">
                <a16:creationId xmlns:a16="http://schemas.microsoft.com/office/drawing/2014/main" id="{C80188A2-2186-4123-B6BF-08E96697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7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5299C8FB-5F6C-4CA0-B9A2-A4AC796D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计划外改动</a:t>
            </a:r>
          </a:p>
        </p:txBody>
      </p:sp>
      <p:sp>
        <p:nvSpPr>
          <p:cNvPr id="18" name="health-conclusion">
            <a:extLst xmlns:a="http://schemas.openxmlformats.org/drawingml/2006/main">
              <a:ext uri="{FF2B5EF4-FFF2-40B4-BE49-F238E27FC236}">
                <a16:creationId xmlns:a16="http://schemas.microsoft.com/office/drawing/2014/main" id="{468DD03D-727D-4F65-AC6A-F58B3273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00600"/>
            <a:ext cx="7543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发布门禁：BUG-102 的并发回归测试仍失败；SEC-105 未启动；PERF-104 等待 owner review。</a:t>
            </a:r>
          </a:p>
        </p:txBody>
      </p:sp>
    </p:spTree>
    <p:extLst>
      <p:ext uri="{BB962C8B-B14F-4D97-AF65-F5344CB8AC3E}">
        <p14:creationId xmlns:p14="http://schemas.microsoft.com/office/powerpoint/2010/main" val="9594168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title-3">
            <a:extLst xmlns:a="http://schemas.openxmlformats.org/drawingml/2006/main">
              <a:ext uri="{FF2B5EF4-FFF2-40B4-BE49-F238E27FC236}">
                <a16:creationId xmlns:a16="http://schemas.microsoft.com/office/drawing/2014/main" id="{BEBF4918-F11F-44F4-A02B-B32411E1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六项计划中，两项完成、一项阻塞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15405B93-D6FA-476B-837D-529C73A8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状态来自同一 GitHub Milestone 快照。</a:t>
            </a:r>
          </a:p>
        </p:txBody>
      </p:sp>
      <p:sp>
        <p:nvSpPr>
          <p:cNvPr id="3" name="footer-3">
            <a:extLst xmlns:a="http://schemas.openxmlformats.org/drawingml/2006/main">
              <a:ext uri="{FF2B5EF4-FFF2-40B4-BE49-F238E27FC236}">
                <a16:creationId xmlns:a16="http://schemas.microsoft.com/office/drawing/2014/main" id="{08F72DEF-4F50-4440-99E4-AA0CC9CA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shopflow-5bfd99fc6000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C7149DC3-D3FA-400A-A33B-1974C41E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5" name="header-bg-0-180">
            <a:extLst xmlns:a="http://schemas.openxmlformats.org/drawingml/2006/main">
              <a:ext uri="{FF2B5EF4-FFF2-40B4-BE49-F238E27FC236}">
                <a16:creationId xmlns:a16="http://schemas.microsoft.com/office/drawing/2014/main" id="{10AEA4A3-ABB7-4E02-9D10-B5DA4F68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eader-0-180">
            <a:extLst xmlns:a="http://schemas.openxmlformats.org/drawingml/2006/main">
              <a:ext uri="{FF2B5EF4-FFF2-40B4-BE49-F238E27FC236}">
                <a16:creationId xmlns:a16="http://schemas.microsoft.com/office/drawing/2014/main" id="{CA03D595-F4AB-409A-99A3-8C98AB46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1247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Issue</a:t>
            </a:r>
          </a:p>
        </p:txBody>
      </p:sp>
      <p:sp>
        <p:nvSpPr>
          <p:cNvPr id="7" name="header-bg-1-180">
            <a:extLst xmlns:a="http://schemas.openxmlformats.org/drawingml/2006/main">
              <a:ext uri="{FF2B5EF4-FFF2-40B4-BE49-F238E27FC236}">
                <a16:creationId xmlns:a16="http://schemas.microsoft.com/office/drawing/2014/main" id="{F7C04062-4490-48F5-B7B3-11AE8DE2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17145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eader-1-180">
            <a:extLst xmlns:a="http://schemas.openxmlformats.org/drawingml/2006/main">
              <a:ext uri="{FF2B5EF4-FFF2-40B4-BE49-F238E27FC236}">
                <a16:creationId xmlns:a16="http://schemas.microsoft.com/office/drawing/2014/main" id="{F2800DA2-96AD-4E5C-9090-D3DFFE2B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809750"/>
            <a:ext cx="424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事项</a:t>
            </a:r>
          </a:p>
        </p:txBody>
      </p:sp>
      <p:sp>
        <p:nvSpPr>
          <p:cNvPr id="9" name="header-bg-2-180">
            <a:extLst xmlns:a="http://schemas.openxmlformats.org/drawingml/2006/main">
              <a:ext uri="{FF2B5EF4-FFF2-40B4-BE49-F238E27FC236}">
                <a16:creationId xmlns:a16="http://schemas.microsoft.com/office/drawing/2014/main" id="{2C393104-EA43-4BDA-88BC-AC1FAADC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1450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2-180">
            <a:extLst xmlns:a="http://schemas.openxmlformats.org/drawingml/2006/main">
              <a:ext uri="{FF2B5EF4-FFF2-40B4-BE49-F238E27FC236}">
                <a16:creationId xmlns:a16="http://schemas.microsoft.com/office/drawing/2014/main" id="{3B24805D-99CD-439D-A14E-DDBE93B1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1809750"/>
            <a:ext cx="1343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</a:t>
            </a:r>
          </a:p>
        </p:txBody>
      </p:sp>
      <p:sp>
        <p:nvSpPr>
          <p:cNvPr id="11" name="header-bg-3-180">
            <a:extLst xmlns:a="http://schemas.openxmlformats.org/drawingml/2006/main">
              <a:ext uri="{FF2B5EF4-FFF2-40B4-BE49-F238E27FC236}">
                <a16:creationId xmlns:a16="http://schemas.microsoft.com/office/drawing/2014/main" id="{5D3BD063-BDE7-4E43-8500-CDFC3407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145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eader-3-180">
            <a:extLst xmlns:a="http://schemas.openxmlformats.org/drawingml/2006/main">
              <a:ext uri="{FF2B5EF4-FFF2-40B4-BE49-F238E27FC236}">
                <a16:creationId xmlns:a16="http://schemas.microsoft.com/office/drawing/2014/main" id="{59E2E87C-7841-4692-A98B-F49FAED3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14382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进度</a:t>
            </a:r>
          </a:p>
        </p:txBody>
      </p:sp>
      <p:sp>
        <p:nvSpPr>
          <p:cNvPr id="13" name="header-bg-4-180">
            <a:extLst xmlns:a="http://schemas.openxmlformats.org/drawingml/2006/main">
              <a:ext uri="{FF2B5EF4-FFF2-40B4-BE49-F238E27FC236}">
                <a16:creationId xmlns:a16="http://schemas.microsoft.com/office/drawing/2014/main" id="{1797E49E-338E-48DB-B1BB-0DD79E67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71450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eader-4-180">
            <a:extLst xmlns:a="http://schemas.openxmlformats.org/drawingml/2006/main">
              <a:ext uri="{FF2B5EF4-FFF2-40B4-BE49-F238E27FC236}">
                <a16:creationId xmlns:a16="http://schemas.microsoft.com/office/drawing/2014/main" id="{BB7F0A14-8146-4B0F-B7A6-35BF0DFA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1809750"/>
            <a:ext cx="10572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优先级</a:t>
            </a:r>
          </a:p>
        </p:txBody>
      </p:sp>
      <p:sp>
        <p:nvSpPr>
          <p:cNvPr id="15" name="cell-bg-0-0-180">
            <a:extLst xmlns:a="http://schemas.openxmlformats.org/drawingml/2006/main">
              <a:ext uri="{FF2B5EF4-FFF2-40B4-BE49-F238E27FC236}">
                <a16:creationId xmlns:a16="http://schemas.microsoft.com/office/drawing/2014/main" id="{B51AE2A3-E568-4A64-AACA-2E85B507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6" name="cell-0-0-180">
            <a:extLst xmlns:a="http://schemas.openxmlformats.org/drawingml/2006/main">
              <a:ext uri="{FF2B5EF4-FFF2-40B4-BE49-F238E27FC236}">
                <a16:creationId xmlns:a16="http://schemas.microsoft.com/office/drawing/2014/main" id="{4C6EC0CF-B557-45C3-A2B3-FCDF9E58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9077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FEAT-101</a:t>
            </a:r>
          </a:p>
        </p:txBody>
      </p:sp>
      <p:sp>
        <p:nvSpPr>
          <p:cNvPr id="17" name="cell-bg-0-1-180">
            <a:extLst xmlns:a="http://schemas.openxmlformats.org/drawingml/2006/main">
              <a:ext uri="{FF2B5EF4-FFF2-40B4-BE49-F238E27FC236}">
                <a16:creationId xmlns:a16="http://schemas.microsoft.com/office/drawing/2014/main" id="{C74F4E0B-323A-4326-B242-1D793423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3050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8" name="cell-0-1-180">
            <a:extLst xmlns:a="http://schemas.openxmlformats.org/drawingml/2006/main">
              <a:ext uri="{FF2B5EF4-FFF2-40B4-BE49-F238E27FC236}">
                <a16:creationId xmlns:a16="http://schemas.microsoft.com/office/drawing/2014/main" id="{353F51C5-1294-4BB3-8F11-67E63AEB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39077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新增库存预占与超时释放模块</a:t>
            </a:r>
          </a:p>
        </p:txBody>
      </p:sp>
      <p:sp>
        <p:nvSpPr>
          <p:cNvPr id="19" name="cell-bg-0-2-180">
            <a:extLst xmlns:a="http://schemas.openxmlformats.org/drawingml/2006/main">
              <a:ext uri="{FF2B5EF4-FFF2-40B4-BE49-F238E27FC236}">
                <a16:creationId xmlns:a16="http://schemas.microsoft.com/office/drawing/2014/main" id="{2B839A0D-2C2D-4EF9-B011-B6EB37AD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0505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0" name="cell-0-2-180">
            <a:extLst xmlns:a="http://schemas.openxmlformats.org/drawingml/2006/main">
              <a:ext uri="{FF2B5EF4-FFF2-40B4-BE49-F238E27FC236}">
                <a16:creationId xmlns:a16="http://schemas.microsoft.com/office/drawing/2014/main" id="{DAD31B0B-17C6-4C7A-97DC-9242994C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9077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</a:t>
            </a:r>
          </a:p>
        </p:txBody>
      </p:sp>
      <p:sp>
        <p:nvSpPr>
          <p:cNvPr id="21" name="cell-bg-0-3-180">
            <a:extLst xmlns:a="http://schemas.openxmlformats.org/drawingml/2006/main">
              <a:ext uri="{FF2B5EF4-FFF2-40B4-BE49-F238E27FC236}">
                <a16:creationId xmlns:a16="http://schemas.microsoft.com/office/drawing/2014/main" id="{A1ADACDE-3B9A-4258-AD43-EF7DE1AC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050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2" name="cell-0-3-180">
            <a:extLst xmlns:a="http://schemas.openxmlformats.org/drawingml/2006/main">
              <a:ext uri="{FF2B5EF4-FFF2-40B4-BE49-F238E27FC236}">
                <a16:creationId xmlns:a16="http://schemas.microsoft.com/office/drawing/2014/main" id="{9FB5B957-C3E5-45D9-930B-0C1709D8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9077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100%</a:t>
            </a:r>
          </a:p>
        </p:txBody>
      </p:sp>
      <p:sp>
        <p:nvSpPr>
          <p:cNvPr id="23" name="cell-bg-0-4-180">
            <a:extLst xmlns:a="http://schemas.openxmlformats.org/drawingml/2006/main">
              <a:ext uri="{FF2B5EF4-FFF2-40B4-BE49-F238E27FC236}">
                <a16:creationId xmlns:a16="http://schemas.microsoft.com/office/drawing/2014/main" id="{3354246A-220F-4604-B02C-711D18F5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30505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4" name="cell-0-4-180">
            <a:extLst xmlns:a="http://schemas.openxmlformats.org/drawingml/2006/main">
              <a:ext uri="{FF2B5EF4-FFF2-40B4-BE49-F238E27FC236}">
                <a16:creationId xmlns:a16="http://schemas.microsoft.com/office/drawing/2014/main" id="{9A587F2D-BC7F-4262-8F64-05CB05A7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39077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P0</a:t>
            </a:r>
          </a:p>
        </p:txBody>
      </p:sp>
      <p:sp>
        <p:nvSpPr>
          <p:cNvPr id="25" name="cell-bg-1-0-180">
            <a:extLst xmlns:a="http://schemas.openxmlformats.org/drawingml/2006/main">
              <a:ext uri="{FF2B5EF4-FFF2-40B4-BE49-F238E27FC236}">
                <a16:creationId xmlns:a16="http://schemas.microsoft.com/office/drawing/2014/main" id="{676CCED7-D63B-4690-96DB-E8E3E5D7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6" name="cell-1-0-180">
            <a:extLst xmlns:a="http://schemas.openxmlformats.org/drawingml/2006/main">
              <a:ext uri="{FF2B5EF4-FFF2-40B4-BE49-F238E27FC236}">
                <a16:creationId xmlns:a16="http://schemas.microsoft.com/office/drawing/2014/main" id="{151891D3-6995-4E83-862B-61A6F56C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8132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BUG-102</a:t>
            </a:r>
          </a:p>
        </p:txBody>
      </p:sp>
      <p:sp>
        <p:nvSpPr>
          <p:cNvPr id="27" name="cell-bg-1-1-180">
            <a:extLst xmlns:a="http://schemas.openxmlformats.org/drawingml/2006/main">
              <a:ext uri="{FF2B5EF4-FFF2-40B4-BE49-F238E27FC236}">
                <a16:creationId xmlns:a16="http://schemas.microsoft.com/office/drawing/2014/main" id="{3AD88D1B-ED3B-426B-B875-0D5D2471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8956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8" name="cell-1-1-180">
            <a:extLst xmlns:a="http://schemas.openxmlformats.org/drawingml/2006/main">
              <a:ext uri="{FF2B5EF4-FFF2-40B4-BE49-F238E27FC236}">
                <a16:creationId xmlns:a16="http://schemas.microsoft.com/office/drawing/2014/main" id="{4E40C91C-5534-4B7D-AEDC-1626E96C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8132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高并发库存预占出现超卖</a:t>
            </a:r>
          </a:p>
        </p:txBody>
      </p:sp>
      <p:sp>
        <p:nvSpPr>
          <p:cNvPr id="29" name="cell-bg-1-2-180">
            <a:extLst xmlns:a="http://schemas.openxmlformats.org/drawingml/2006/main">
              <a:ext uri="{FF2B5EF4-FFF2-40B4-BE49-F238E27FC236}">
                <a16:creationId xmlns:a16="http://schemas.microsoft.com/office/drawing/2014/main" id="{CAAD653D-F338-48EC-9A6E-C5096C89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89560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0" name="cell-1-2-180">
            <a:extLst xmlns:a="http://schemas.openxmlformats.org/drawingml/2006/main">
              <a:ext uri="{FF2B5EF4-FFF2-40B4-BE49-F238E27FC236}">
                <a16:creationId xmlns:a16="http://schemas.microsoft.com/office/drawing/2014/main" id="{2728CA46-A8A4-49A5-9C5D-3AA37C79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98132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阻塞</a:t>
            </a:r>
          </a:p>
        </p:txBody>
      </p:sp>
      <p:sp>
        <p:nvSpPr>
          <p:cNvPr id="31" name="cell-bg-1-3-180">
            <a:extLst xmlns:a="http://schemas.openxmlformats.org/drawingml/2006/main">
              <a:ext uri="{FF2B5EF4-FFF2-40B4-BE49-F238E27FC236}">
                <a16:creationId xmlns:a16="http://schemas.microsoft.com/office/drawing/2014/main" id="{B4D53DF4-3A54-4744-939D-273E3EAE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956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2" name="cell-1-3-180">
            <a:extLst xmlns:a="http://schemas.openxmlformats.org/drawingml/2006/main">
              <a:ext uri="{FF2B5EF4-FFF2-40B4-BE49-F238E27FC236}">
                <a16:creationId xmlns:a16="http://schemas.microsoft.com/office/drawing/2014/main" id="{FF628230-018E-4B37-9468-2B5F338C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8132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45%</a:t>
            </a:r>
          </a:p>
        </p:txBody>
      </p:sp>
      <p:sp>
        <p:nvSpPr>
          <p:cNvPr id="33" name="cell-bg-1-4-180">
            <a:extLst xmlns:a="http://schemas.openxmlformats.org/drawingml/2006/main">
              <a:ext uri="{FF2B5EF4-FFF2-40B4-BE49-F238E27FC236}">
                <a16:creationId xmlns:a16="http://schemas.microsoft.com/office/drawing/2014/main" id="{B3AB93A4-2796-400B-B305-6142EB31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89560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4" name="cell-1-4-180">
            <a:extLst xmlns:a="http://schemas.openxmlformats.org/drawingml/2006/main">
              <a:ext uri="{FF2B5EF4-FFF2-40B4-BE49-F238E27FC236}">
                <a16:creationId xmlns:a16="http://schemas.microsoft.com/office/drawing/2014/main" id="{DD050D5B-BFFE-4153-8BE3-6DA4DDF9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98132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P0</a:t>
            </a:r>
          </a:p>
        </p:txBody>
      </p:sp>
      <p:sp>
        <p:nvSpPr>
          <p:cNvPr id="35" name="cell-bg-2-0-180">
            <a:extLst xmlns:a="http://schemas.openxmlformats.org/drawingml/2006/main">
              <a:ext uri="{FF2B5EF4-FFF2-40B4-BE49-F238E27FC236}">
                <a16:creationId xmlns:a16="http://schemas.microsoft.com/office/drawing/2014/main" id="{9F26BDAD-1771-4E72-89D6-D747E448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8615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6" name="cell-2-0-180">
            <a:extLst xmlns:a="http://schemas.openxmlformats.org/drawingml/2006/main">
              <a:ext uri="{FF2B5EF4-FFF2-40B4-BE49-F238E27FC236}">
                <a16:creationId xmlns:a16="http://schemas.microsoft.com/office/drawing/2014/main" id="{6B19AEE4-E2F7-4B3B-AB8D-F3BF602A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7187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BUG-103</a:t>
            </a:r>
          </a:p>
        </p:txBody>
      </p:sp>
      <p:sp>
        <p:nvSpPr>
          <p:cNvPr id="37" name="cell-bg-2-1-180">
            <a:extLst xmlns:a="http://schemas.openxmlformats.org/drawingml/2006/main">
              <a:ext uri="{FF2B5EF4-FFF2-40B4-BE49-F238E27FC236}">
                <a16:creationId xmlns:a16="http://schemas.microsoft.com/office/drawing/2014/main" id="{A0742820-991A-4582-B027-B75E22D7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34861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8" name="cell-2-1-180">
            <a:extLst xmlns:a="http://schemas.openxmlformats.org/drawingml/2006/main">
              <a:ext uri="{FF2B5EF4-FFF2-40B4-BE49-F238E27FC236}">
                <a16:creationId xmlns:a16="http://schemas.microsoft.com/office/drawing/2014/main" id="{7341CDAC-6C6D-4EF2-BEF2-A536D458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7187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取消订单后库存未完全释放</a:t>
            </a:r>
          </a:p>
        </p:txBody>
      </p:sp>
      <p:sp>
        <p:nvSpPr>
          <p:cNvPr id="39" name="cell-bg-2-2-180">
            <a:extLst xmlns:a="http://schemas.openxmlformats.org/drawingml/2006/main">
              <a:ext uri="{FF2B5EF4-FFF2-40B4-BE49-F238E27FC236}">
                <a16:creationId xmlns:a16="http://schemas.microsoft.com/office/drawing/2014/main" id="{38318F2A-B60B-4241-B972-B137CF8A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8615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0" name="cell-2-2-180">
            <a:extLst xmlns:a="http://schemas.openxmlformats.org/drawingml/2006/main">
              <a:ext uri="{FF2B5EF4-FFF2-40B4-BE49-F238E27FC236}">
                <a16:creationId xmlns:a16="http://schemas.microsoft.com/office/drawing/2014/main" id="{C6D96E95-E48D-4417-95B4-483B9739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57187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</a:t>
            </a:r>
          </a:p>
        </p:txBody>
      </p:sp>
      <p:sp>
        <p:nvSpPr>
          <p:cNvPr id="41" name="cell-bg-2-3-180">
            <a:extLst xmlns:a="http://schemas.openxmlformats.org/drawingml/2006/main">
              <a:ext uri="{FF2B5EF4-FFF2-40B4-BE49-F238E27FC236}">
                <a16:creationId xmlns:a16="http://schemas.microsoft.com/office/drawing/2014/main" id="{82A86242-2966-4FE2-BDFC-54D2893E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861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2" name="cell-2-3-180">
            <a:extLst xmlns:a="http://schemas.openxmlformats.org/drawingml/2006/main">
              <a:ext uri="{FF2B5EF4-FFF2-40B4-BE49-F238E27FC236}">
                <a16:creationId xmlns:a16="http://schemas.microsoft.com/office/drawing/2014/main" id="{0CD14F89-86EA-4AFB-9975-A5B48A18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7187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100%</a:t>
            </a:r>
          </a:p>
        </p:txBody>
      </p:sp>
      <p:sp>
        <p:nvSpPr>
          <p:cNvPr id="43" name="cell-bg-2-4-180">
            <a:extLst xmlns:a="http://schemas.openxmlformats.org/drawingml/2006/main">
              <a:ext uri="{FF2B5EF4-FFF2-40B4-BE49-F238E27FC236}">
                <a16:creationId xmlns:a16="http://schemas.microsoft.com/office/drawing/2014/main" id="{8E85C079-38C8-4C26-AACC-0C2F6CFD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48615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4" name="cell-2-4-180">
            <a:extLst xmlns:a="http://schemas.openxmlformats.org/drawingml/2006/main">
              <a:ext uri="{FF2B5EF4-FFF2-40B4-BE49-F238E27FC236}">
                <a16:creationId xmlns:a16="http://schemas.microsoft.com/office/drawing/2014/main" id="{3B274624-918D-4A4D-8E11-E4ACA8C7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357187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P1</a:t>
            </a:r>
          </a:p>
        </p:txBody>
      </p:sp>
      <p:sp>
        <p:nvSpPr>
          <p:cNvPr id="45" name="cell-bg-3-0-180">
            <a:extLst xmlns:a="http://schemas.openxmlformats.org/drawingml/2006/main">
              <a:ext uri="{FF2B5EF4-FFF2-40B4-BE49-F238E27FC236}">
                <a16:creationId xmlns:a16="http://schemas.microsoft.com/office/drawing/2014/main" id="{6D8E7898-EEC0-4160-B837-6A3A67C7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7670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6" name="cell-3-0-180">
            <a:extLst xmlns:a="http://schemas.openxmlformats.org/drawingml/2006/main">
              <a:ext uri="{FF2B5EF4-FFF2-40B4-BE49-F238E27FC236}">
                <a16:creationId xmlns:a16="http://schemas.microsoft.com/office/drawing/2014/main" id="{E5C5771C-E084-417B-815B-10233E64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6242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PERF-104</a:t>
            </a:r>
          </a:p>
        </p:txBody>
      </p:sp>
      <p:sp>
        <p:nvSpPr>
          <p:cNvPr id="47" name="cell-bg-3-1-180">
            <a:extLst xmlns:a="http://schemas.openxmlformats.org/drawingml/2006/main">
              <a:ext uri="{FF2B5EF4-FFF2-40B4-BE49-F238E27FC236}">
                <a16:creationId xmlns:a16="http://schemas.microsoft.com/office/drawing/2014/main" id="{D4F644B1-5774-4D94-B09F-07D3C1E4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0767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8" name="cell-3-1-180">
            <a:extLst xmlns:a="http://schemas.openxmlformats.org/drawingml/2006/main">
              <a:ext uri="{FF2B5EF4-FFF2-40B4-BE49-F238E27FC236}">
                <a16:creationId xmlns:a16="http://schemas.microsoft.com/office/drawing/2014/main" id="{3859FD9F-E66E-458B-B4A8-0686D728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16242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购物车批量库存校验存在 N+1 查询</a:t>
            </a:r>
          </a:p>
        </p:txBody>
      </p:sp>
      <p:sp>
        <p:nvSpPr>
          <p:cNvPr id="49" name="cell-bg-3-2-180">
            <a:extLst xmlns:a="http://schemas.openxmlformats.org/drawingml/2006/main">
              <a:ext uri="{FF2B5EF4-FFF2-40B4-BE49-F238E27FC236}">
                <a16:creationId xmlns:a16="http://schemas.microsoft.com/office/drawing/2014/main" id="{1118B31B-F338-4F13-9747-39ADEF50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7670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0" name="cell-3-2-180">
            <a:extLst xmlns:a="http://schemas.openxmlformats.org/drawingml/2006/main">
              <a:ext uri="{FF2B5EF4-FFF2-40B4-BE49-F238E27FC236}">
                <a16:creationId xmlns:a16="http://schemas.microsoft.com/office/drawing/2014/main" id="{10C81CAD-C790-4629-AF2E-55991DC0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16242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审查中</a:t>
            </a:r>
          </a:p>
        </p:txBody>
      </p:sp>
      <p:sp>
        <p:nvSpPr>
          <p:cNvPr id="51" name="cell-bg-3-3-180">
            <a:extLst xmlns:a="http://schemas.openxmlformats.org/drawingml/2006/main">
              <a:ext uri="{FF2B5EF4-FFF2-40B4-BE49-F238E27FC236}">
                <a16:creationId xmlns:a16="http://schemas.microsoft.com/office/drawing/2014/main" id="{8AA2EA77-D72F-4C13-AE15-F0AFFA1A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767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2" name="cell-3-3-180">
            <a:extLst xmlns:a="http://schemas.openxmlformats.org/drawingml/2006/main">
              <a:ext uri="{FF2B5EF4-FFF2-40B4-BE49-F238E27FC236}">
                <a16:creationId xmlns:a16="http://schemas.microsoft.com/office/drawing/2014/main" id="{628AAE01-950E-4701-9918-5550AD14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6242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90%</a:t>
            </a:r>
          </a:p>
        </p:txBody>
      </p:sp>
      <p:sp>
        <p:nvSpPr>
          <p:cNvPr id="53" name="cell-bg-3-4-180">
            <a:extLst xmlns:a="http://schemas.openxmlformats.org/drawingml/2006/main">
              <a:ext uri="{FF2B5EF4-FFF2-40B4-BE49-F238E27FC236}">
                <a16:creationId xmlns:a16="http://schemas.microsoft.com/office/drawing/2014/main" id="{C006753F-FD68-4F1C-A778-DD6B7FA9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07670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4" name="cell-3-4-180">
            <a:extLst xmlns:a="http://schemas.openxmlformats.org/drawingml/2006/main">
              <a:ext uri="{FF2B5EF4-FFF2-40B4-BE49-F238E27FC236}">
                <a16:creationId xmlns:a16="http://schemas.microsoft.com/office/drawing/2014/main" id="{34D55231-56AF-445D-8BFB-14607864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416242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P1</a:t>
            </a:r>
          </a:p>
        </p:txBody>
      </p:sp>
      <p:sp>
        <p:nvSpPr>
          <p:cNvPr id="55" name="cell-bg-4-0-180">
            <a:extLst xmlns:a="http://schemas.openxmlformats.org/drawingml/2006/main">
              <a:ext uri="{FF2B5EF4-FFF2-40B4-BE49-F238E27FC236}">
                <a16:creationId xmlns:a16="http://schemas.microsoft.com/office/drawing/2014/main" id="{C128CC92-79A9-4F29-BD72-61C3D7C7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6" name="cell-4-0-180">
            <a:extLst xmlns:a="http://schemas.openxmlformats.org/drawingml/2006/main">
              <a:ext uri="{FF2B5EF4-FFF2-40B4-BE49-F238E27FC236}">
                <a16:creationId xmlns:a16="http://schemas.microsoft.com/office/drawing/2014/main" id="{3792ECCD-055B-4354-B212-4D2A37AA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5297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SEC-105</a:t>
            </a:r>
          </a:p>
        </p:txBody>
      </p:sp>
      <p:sp>
        <p:nvSpPr>
          <p:cNvPr id="57" name="cell-bg-4-1-180">
            <a:extLst xmlns:a="http://schemas.openxmlformats.org/drawingml/2006/main">
              <a:ext uri="{FF2B5EF4-FFF2-40B4-BE49-F238E27FC236}">
                <a16:creationId xmlns:a16="http://schemas.microsoft.com/office/drawing/2014/main" id="{949FD222-F2C8-4A99-8676-46A18956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6672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8" name="cell-4-1-180">
            <a:extLst xmlns:a="http://schemas.openxmlformats.org/drawingml/2006/main">
              <a:ext uri="{FF2B5EF4-FFF2-40B4-BE49-F238E27FC236}">
                <a16:creationId xmlns:a16="http://schemas.microsoft.com/office/drawing/2014/main" id="{100DB1AF-52AD-4585-BD29-A5325C47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75297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后台人工调整库存缺少权限与审计校验</a:t>
            </a:r>
          </a:p>
        </p:txBody>
      </p:sp>
      <p:sp>
        <p:nvSpPr>
          <p:cNvPr id="59" name="cell-bg-4-2-180">
            <a:extLst xmlns:a="http://schemas.openxmlformats.org/drawingml/2006/main">
              <a:ext uri="{FF2B5EF4-FFF2-40B4-BE49-F238E27FC236}">
                <a16:creationId xmlns:a16="http://schemas.microsoft.com/office/drawing/2014/main" id="{8093B444-8B5E-419F-A904-2130CE1A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6725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60" name="cell-4-2-180">
            <a:extLst xmlns:a="http://schemas.openxmlformats.org/drawingml/2006/main">
              <a:ext uri="{FF2B5EF4-FFF2-40B4-BE49-F238E27FC236}">
                <a16:creationId xmlns:a16="http://schemas.microsoft.com/office/drawing/2014/main" id="{655E15DE-1478-413D-B2B0-E53D6513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75297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待开始</a:t>
            </a:r>
          </a:p>
        </p:txBody>
      </p:sp>
      <p:sp>
        <p:nvSpPr>
          <p:cNvPr id="61" name="cell-bg-4-3-180">
            <a:extLst xmlns:a="http://schemas.openxmlformats.org/drawingml/2006/main">
              <a:ext uri="{FF2B5EF4-FFF2-40B4-BE49-F238E27FC236}">
                <a16:creationId xmlns:a16="http://schemas.microsoft.com/office/drawing/2014/main" id="{049C1647-E096-4EBD-9A75-7E164129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672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62" name="cell-4-3-180">
            <a:extLst xmlns:a="http://schemas.openxmlformats.org/drawingml/2006/main">
              <a:ext uri="{FF2B5EF4-FFF2-40B4-BE49-F238E27FC236}">
                <a16:creationId xmlns:a16="http://schemas.microsoft.com/office/drawing/2014/main" id="{C20BEDC8-8EDF-45E2-B777-4D237040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75297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0%</a:t>
            </a:r>
          </a:p>
        </p:txBody>
      </p:sp>
      <p:sp>
        <p:nvSpPr>
          <p:cNvPr id="63" name="cell-bg-4-4-180">
            <a:extLst xmlns:a="http://schemas.openxmlformats.org/drawingml/2006/main">
              <a:ext uri="{FF2B5EF4-FFF2-40B4-BE49-F238E27FC236}">
                <a16:creationId xmlns:a16="http://schemas.microsoft.com/office/drawing/2014/main" id="{493686B1-C565-4DF3-9187-E30D9741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66725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64" name="cell-4-4-180">
            <a:extLst xmlns:a="http://schemas.openxmlformats.org/drawingml/2006/main">
              <a:ext uri="{FF2B5EF4-FFF2-40B4-BE49-F238E27FC236}">
                <a16:creationId xmlns:a16="http://schemas.microsoft.com/office/drawing/2014/main" id="{B0C15E9F-6F1F-4164-B8AD-3F1FF12B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475297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P1</a:t>
            </a:r>
          </a:p>
        </p:txBody>
      </p:sp>
    </p:spTree>
    <p:extLst>
      <p:ext uri="{BB962C8B-B14F-4D97-AF65-F5344CB8AC3E}">
        <p14:creationId xmlns:p14="http://schemas.microsoft.com/office/powerpoint/2010/main" val="21289976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4">
            <a:extLst xmlns:a="http://schemas.openxmlformats.org/drawingml/2006/main">
              <a:ext uri="{FF2B5EF4-FFF2-40B4-BE49-F238E27FC236}">
                <a16:creationId xmlns:a16="http://schemas.microsoft.com/office/drawing/2014/main" id="{7754C07B-ECC6-412E-A837-59502A4C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首次修复只锁写入，仍未关闭并发竞态</a:t>
            </a:r>
          </a:p>
        </p:txBody>
      </p:sp>
      <p:sp>
        <p:nvSpPr>
          <p:cNvPr id="2" name="subtitle-4">
            <a:extLst xmlns:a="http://schemas.openxmlformats.org/drawingml/2006/main">
              <a:ext uri="{FF2B5EF4-FFF2-40B4-BE49-F238E27FC236}">
                <a16:creationId xmlns:a16="http://schemas.microsoft.com/office/drawing/2014/main" id="{D3B39A52-DF44-401C-A417-D50D983E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BUG-102 / PR #202 / changes requested</a:t>
            </a:r>
          </a:p>
        </p:txBody>
      </p:sp>
      <p:sp>
        <p:nvSpPr>
          <p:cNvPr id="3" name="footer-4">
            <a:extLst xmlns:a="http://schemas.openxmlformats.org/drawingml/2006/main">
              <a:ext uri="{FF2B5EF4-FFF2-40B4-BE49-F238E27FC236}">
                <a16:creationId xmlns:a16="http://schemas.microsoft.com/office/drawing/2014/main" id="{74AC895B-0396-4F5B-A9BD-0F208B0F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shopflow-5bfd99fc6000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842B40C7-4C2E-4512-B58B-FAB7AAF2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" name="bug-left">
            <a:extLst xmlns:a="http://schemas.openxmlformats.org/drawingml/2006/main">
              <a:ext uri="{FF2B5EF4-FFF2-40B4-BE49-F238E27FC236}">
                <a16:creationId xmlns:a16="http://schemas.microsoft.com/office/drawing/2014/main" id="{60F171AD-442B-4135-84D8-6AF20E3C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67246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ug-code-title">
            <a:extLst xmlns:a="http://schemas.openxmlformats.org/drawingml/2006/main">
              <a:ext uri="{FF2B5EF4-FFF2-40B4-BE49-F238E27FC236}">
                <a16:creationId xmlns:a16="http://schemas.microsoft.com/office/drawing/2014/main" id="{47C1378D-377E-4D11-9498-4096679B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失败证据</a:t>
            </a:r>
          </a:p>
        </p:txBody>
      </p:sp>
      <p:sp>
        <p:nvSpPr>
          <p:cNvPr id="7" name="bug-code">
            <a:extLst xmlns:a="http://schemas.openxmlformats.org/drawingml/2006/main">
              <a:ext uri="{FF2B5EF4-FFF2-40B4-BE49-F238E27FC236}">
                <a16:creationId xmlns:a16="http://schemas.microsoft.com/office/drawing/2014/main" id="{352D6332-D1DD-4F30-AF10-AF846706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096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分支    fix/bug-102-oversell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SHA     80fcfb3035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模块    inventory-reservation / quality-gates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Diff    +34 / -7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检查    bug-102-regression: failure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断言    expected available=0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      actual available=-1</a:t>
            </a:r>
          </a:p>
        </p:txBody>
      </p:sp>
      <p:sp>
        <p:nvSpPr>
          <p:cNvPr id="8" name="bug-risk">
            <a:extLst xmlns:a="http://schemas.openxmlformats.org/drawingml/2006/main">
              <a:ext uri="{FF2B5EF4-FFF2-40B4-BE49-F238E27FC236}">
                <a16:creationId xmlns:a16="http://schemas.microsoft.com/office/drawing/2014/main" id="{80067787-8120-4441-B178-1BFE3352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714500"/>
            <a:ext cx="42862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bug-risk-title">
            <a:extLst xmlns:a="http://schemas.openxmlformats.org/drawingml/2006/main">
              <a:ext uri="{FF2B5EF4-FFF2-40B4-BE49-F238E27FC236}">
                <a16:creationId xmlns:a16="http://schemas.microsoft.com/office/drawing/2014/main" id="{2C1A327E-B292-49BB-BB72-3894AE36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00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风险判断</a:t>
            </a:r>
          </a:p>
        </p:txBody>
      </p:sp>
      <p:sp>
        <p:nvSpPr>
          <p:cNvPr id="10" name="bug-risk-body">
            <a:extLst xmlns:a="http://schemas.openxmlformats.org/drawingml/2006/main">
              <a:ext uri="{FF2B5EF4-FFF2-40B4-BE49-F238E27FC236}">
                <a16:creationId xmlns:a16="http://schemas.microsoft.com/office/drawing/2014/main" id="{92867282-4136-4305-A36D-79EC348C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336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余量校验仍在锁外，两个请求可以读取同一份库存。当前修改不能通过发布门禁。</a:t>
            </a:r>
          </a:p>
        </p:txBody>
      </p:sp>
      <p:sp>
        <p:nvSpPr>
          <p:cNvPr id="11" name="bug-action-title">
            <a:extLst xmlns:a="http://schemas.openxmlformats.org/drawingml/2006/main">
              <a:ext uri="{FF2B5EF4-FFF2-40B4-BE49-F238E27FC236}">
                <a16:creationId xmlns:a16="http://schemas.microsoft.com/office/drawing/2014/main" id="{4917733C-1248-4070-9B8E-8BDF792A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8481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下一步</a:t>
            </a:r>
          </a:p>
        </p:txBody>
      </p:sp>
      <p:sp>
        <p:nvSpPr>
          <p:cNvPr id="12" name="bug-action-body">
            <a:extLst xmlns:a="http://schemas.openxmlformats.org/drawingml/2006/main">
              <a:ext uri="{FF2B5EF4-FFF2-40B4-BE49-F238E27FC236}">
                <a16:creationId xmlns:a16="http://schemas.microsoft.com/office/drawing/2014/main" id="{BBE911F1-EF79-45AA-B94F-FBAEED8E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381500"/>
            <a:ext cx="4286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1. 将校验与写入纳入同一原子边界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2. 保留订单 ID 幂等约束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3. 让并发回归进入发布门禁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4. 由库存一致性专家复核方案</a:t>
            </a:r>
          </a:p>
        </p:txBody>
      </p:sp>
    </p:spTree>
    <p:extLst>
      <p:ext uri="{BB962C8B-B14F-4D97-AF65-F5344CB8AC3E}">
        <p14:creationId xmlns:p14="http://schemas.microsoft.com/office/powerpoint/2010/main" val="126483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title-5">
            <a:extLst xmlns:a="http://schemas.openxmlformats.org/drawingml/2006/main">
              <a:ext uri="{FF2B5EF4-FFF2-40B4-BE49-F238E27FC236}">
                <a16:creationId xmlns:a16="http://schemas.microsoft.com/office/drawing/2014/main" id="{1B946B46-CCCF-48EF-8417-A05FCABC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三条开发线影响库存核心链路，一条改动脱离计划</a:t>
            </a:r>
          </a:p>
        </p:txBody>
      </p:sp>
      <p:sp>
        <p:nvSpPr>
          <p:cNvPr id="2" name="subtitle-5">
            <a:extLst xmlns:a="http://schemas.openxmlformats.org/drawingml/2006/main">
              <a:ext uri="{FF2B5EF4-FFF2-40B4-BE49-F238E27FC236}">
                <a16:creationId xmlns:a16="http://schemas.microsoft.com/office/drawing/2014/main" id="{64849FDE-61EF-4CDC-A7F6-F72EEBA5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代码变化按 PR 与 Git ref 归因。</a:t>
            </a:r>
          </a:p>
        </p:txBody>
      </p:sp>
      <p:sp>
        <p:nvSpPr>
          <p:cNvPr id="3" name="footer-5">
            <a:extLst xmlns:a="http://schemas.openxmlformats.org/drawingml/2006/main">
              <a:ext uri="{FF2B5EF4-FFF2-40B4-BE49-F238E27FC236}">
                <a16:creationId xmlns:a16="http://schemas.microsoft.com/office/drawing/2014/main" id="{E90E2DFE-F6B1-4157-AF71-FFB059C7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shopflow-5bfd99fc6000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D95F133C-BE77-4B67-BA05-7FFE4E68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5" name="impact-head-bg-0">
            <a:extLst xmlns:a="http://schemas.openxmlformats.org/drawingml/2006/main">
              <a:ext uri="{FF2B5EF4-FFF2-40B4-BE49-F238E27FC236}">
                <a16:creationId xmlns:a16="http://schemas.microsoft.com/office/drawing/2014/main" id="{D3D332A2-DB0D-4A99-92B1-34C3B58E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impact-head-0">
            <a:extLst xmlns:a="http://schemas.openxmlformats.org/drawingml/2006/main">
              <a:ext uri="{FF2B5EF4-FFF2-40B4-BE49-F238E27FC236}">
                <a16:creationId xmlns:a16="http://schemas.microsoft.com/office/drawing/2014/main" id="{8ADB0978-C182-4F58-BCF0-B2C3374B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28800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变更</a:t>
            </a:r>
          </a:p>
        </p:txBody>
      </p:sp>
      <p:sp>
        <p:nvSpPr>
          <p:cNvPr id="7" name="impact-head-bg-1">
            <a:extLst xmlns:a="http://schemas.openxmlformats.org/drawingml/2006/main">
              <a:ext uri="{FF2B5EF4-FFF2-40B4-BE49-F238E27FC236}">
                <a16:creationId xmlns:a16="http://schemas.microsoft.com/office/drawing/2014/main" id="{9A3CCA03-8471-4AEA-A3D6-AEF115E2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7145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impact-head-1">
            <a:extLst xmlns:a="http://schemas.openxmlformats.org/drawingml/2006/main">
              <a:ext uri="{FF2B5EF4-FFF2-40B4-BE49-F238E27FC236}">
                <a16:creationId xmlns:a16="http://schemas.microsoft.com/office/drawing/2014/main" id="{1E55A36C-BA37-4A62-B5CA-C50D4705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28800"/>
            <a:ext cx="4248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目的</a:t>
            </a:r>
          </a:p>
        </p:txBody>
      </p:sp>
      <p:sp>
        <p:nvSpPr>
          <p:cNvPr id="9" name="impact-head-bg-2">
            <a:extLst xmlns:a="http://schemas.openxmlformats.org/drawingml/2006/main">
              <a:ext uri="{FF2B5EF4-FFF2-40B4-BE49-F238E27FC236}">
                <a16:creationId xmlns:a16="http://schemas.microsoft.com/office/drawing/2014/main" id="{9EA38CCC-7511-4082-9C3D-41789C9D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14500"/>
            <a:ext cx="342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mpact-head-2">
            <a:extLst xmlns:a="http://schemas.openxmlformats.org/drawingml/2006/main">
              <a:ext uri="{FF2B5EF4-FFF2-40B4-BE49-F238E27FC236}">
                <a16:creationId xmlns:a16="http://schemas.microsoft.com/office/drawing/2014/main" id="{7E175706-0D7E-4707-9726-E7B6DB28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28800"/>
            <a:ext cx="320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影响模块</a:t>
            </a:r>
          </a:p>
        </p:txBody>
      </p:sp>
      <p:sp>
        <p:nvSpPr>
          <p:cNvPr id="11" name="impact-head-bg-3">
            <a:extLst xmlns:a="http://schemas.openxmlformats.org/drawingml/2006/main">
              <a:ext uri="{FF2B5EF4-FFF2-40B4-BE49-F238E27FC236}">
                <a16:creationId xmlns:a16="http://schemas.microsoft.com/office/drawing/2014/main" id="{CBFBE9D7-9FF3-4068-9C06-D411B988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714500"/>
            <a:ext cx="1866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pact-head-3">
            <a:extLst xmlns:a="http://schemas.openxmlformats.org/drawingml/2006/main">
              <a:ext uri="{FF2B5EF4-FFF2-40B4-BE49-F238E27FC236}">
                <a16:creationId xmlns:a16="http://schemas.microsoft.com/office/drawing/2014/main" id="{85AF7A73-C805-4E78-AD28-83F3750B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828800"/>
            <a:ext cx="163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13" name="impact-bg-0-0">
            <a:extLst xmlns:a="http://schemas.openxmlformats.org/drawingml/2006/main">
              <a:ext uri="{FF2B5EF4-FFF2-40B4-BE49-F238E27FC236}">
                <a16:creationId xmlns:a16="http://schemas.microsoft.com/office/drawing/2014/main" id="{BC5ADA12-6913-423B-96C0-ED3A043D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4" name="impact-0-0">
            <a:extLst xmlns:a="http://schemas.openxmlformats.org/drawingml/2006/main">
              <a:ext uri="{FF2B5EF4-FFF2-40B4-BE49-F238E27FC236}">
                <a16:creationId xmlns:a16="http://schemas.microsoft.com/office/drawing/2014/main" id="{9BDC10ED-86E0-4DE8-ACD3-BB7F47BA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PR #202</a:t>
            </a:r>
          </a:p>
        </p:txBody>
      </p:sp>
      <p:sp>
        <p:nvSpPr>
          <p:cNvPr id="15" name="impact-bg-0-1">
            <a:extLst xmlns:a="http://schemas.openxmlformats.org/drawingml/2006/main">
              <a:ext uri="{FF2B5EF4-FFF2-40B4-BE49-F238E27FC236}">
                <a16:creationId xmlns:a16="http://schemas.microsoft.com/office/drawing/2014/main" id="{7D3077EE-1FAD-4404-BB46-EF06BBAE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66950"/>
            <a:ext cx="4476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6" name="impact-0-1">
            <a:extLst xmlns:a="http://schemas.openxmlformats.org/drawingml/2006/main">
              <a:ext uri="{FF2B5EF4-FFF2-40B4-BE49-F238E27FC236}">
                <a16:creationId xmlns:a16="http://schemas.microsoft.com/office/drawing/2014/main" id="{9C855E76-1D84-429C-ABDC-CBAE5BBC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81250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fix: serialize reservation writes for BUG-102</a:t>
            </a:r>
          </a:p>
        </p:txBody>
      </p:sp>
      <p:sp>
        <p:nvSpPr>
          <p:cNvPr id="17" name="impact-bg-0-2">
            <a:extLst xmlns:a="http://schemas.openxmlformats.org/drawingml/2006/main">
              <a:ext uri="{FF2B5EF4-FFF2-40B4-BE49-F238E27FC236}">
                <a16:creationId xmlns:a16="http://schemas.microsoft.com/office/drawing/2014/main" id="{FA83DBFA-6D29-486D-AE38-01636CFD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66950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8" name="impact-0-2">
            <a:extLst xmlns:a="http://schemas.openxmlformats.org/drawingml/2006/main">
              <a:ext uri="{FF2B5EF4-FFF2-40B4-BE49-F238E27FC236}">
                <a16:creationId xmlns:a16="http://schemas.microsoft.com/office/drawing/2014/main" id="{26B78C43-BF97-4EB1-BCD2-6BC51763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81250"/>
            <a:ext cx="320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inventory-reservation / quality-gates</a:t>
            </a:r>
          </a:p>
        </p:txBody>
      </p:sp>
      <p:sp>
        <p:nvSpPr>
          <p:cNvPr id="19" name="impact-bg-0-3">
            <a:extLst xmlns:a="http://schemas.openxmlformats.org/drawingml/2006/main">
              <a:ext uri="{FF2B5EF4-FFF2-40B4-BE49-F238E27FC236}">
                <a16:creationId xmlns:a16="http://schemas.microsoft.com/office/drawing/2014/main" id="{4C9F0D52-9A2A-4D52-BEDD-E48F915C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266950"/>
            <a:ext cx="1866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0" name="impact-0-3">
            <a:extLst xmlns:a="http://schemas.openxmlformats.org/drawingml/2006/main">
              <a:ext uri="{FF2B5EF4-FFF2-40B4-BE49-F238E27FC236}">
                <a16:creationId xmlns:a16="http://schemas.microsoft.com/office/drawing/2014/main" id="{82F32FAD-D0AB-4D14-8F95-D04E0A1A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8125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检查失败</a:t>
            </a:r>
          </a:p>
        </p:txBody>
      </p:sp>
      <p:sp>
        <p:nvSpPr>
          <p:cNvPr id="21" name="impact-bg-1-0">
            <a:extLst xmlns:a="http://schemas.openxmlformats.org/drawingml/2006/main">
              <a:ext uri="{FF2B5EF4-FFF2-40B4-BE49-F238E27FC236}">
                <a16:creationId xmlns:a16="http://schemas.microsoft.com/office/drawing/2014/main" id="{31C1B21C-AC1D-4466-B05E-DE0A7439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2" name="impact-1-0">
            <a:extLst xmlns:a="http://schemas.openxmlformats.org/drawingml/2006/main">
              <a:ext uri="{FF2B5EF4-FFF2-40B4-BE49-F238E27FC236}">
                <a16:creationId xmlns:a16="http://schemas.microsoft.com/office/drawing/2014/main" id="{1A371DA1-EAE0-4C7E-8736-AC0D9DE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PR #203</a:t>
            </a:r>
          </a:p>
        </p:txBody>
      </p:sp>
      <p:sp>
        <p:nvSpPr>
          <p:cNvPr id="23" name="impact-bg-1-1">
            <a:extLst xmlns:a="http://schemas.openxmlformats.org/drawingml/2006/main">
              <a:ext uri="{FF2B5EF4-FFF2-40B4-BE49-F238E27FC236}">
                <a16:creationId xmlns:a16="http://schemas.microsoft.com/office/drawing/2014/main" id="{FE3E9E9E-D096-451C-8E05-D1E1C8E7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48000"/>
            <a:ext cx="4476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4" name="impact-1-1">
            <a:extLst xmlns:a="http://schemas.openxmlformats.org/drawingml/2006/main">
              <a:ext uri="{FF2B5EF4-FFF2-40B4-BE49-F238E27FC236}">
                <a16:creationId xmlns:a16="http://schemas.microsoft.com/office/drawing/2014/main" id="{247E7939-9521-4FC7-8CAC-98915C28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162300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fix: release cancelled order inventory correctly</a:t>
            </a:r>
          </a:p>
        </p:txBody>
      </p:sp>
      <p:sp>
        <p:nvSpPr>
          <p:cNvPr id="25" name="impact-bg-1-2">
            <a:extLst xmlns:a="http://schemas.openxmlformats.org/drawingml/2006/main">
              <a:ext uri="{FF2B5EF4-FFF2-40B4-BE49-F238E27FC236}">
                <a16:creationId xmlns:a16="http://schemas.microsoft.com/office/drawing/2014/main" id="{4DE9CBCF-12D5-41F4-820E-5197415D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48000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6" name="impact-1-2">
            <a:extLst xmlns:a="http://schemas.openxmlformats.org/drawingml/2006/main">
              <a:ext uri="{FF2B5EF4-FFF2-40B4-BE49-F238E27FC236}">
                <a16:creationId xmlns:a16="http://schemas.microsoft.com/office/drawing/2014/main" id="{574D481C-7576-45AD-BE13-CEF1A72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320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inventory-reservation / quality-gates</a:t>
            </a:r>
          </a:p>
        </p:txBody>
      </p:sp>
      <p:sp>
        <p:nvSpPr>
          <p:cNvPr id="27" name="impact-bg-1-3">
            <a:extLst xmlns:a="http://schemas.openxmlformats.org/drawingml/2006/main">
              <a:ext uri="{FF2B5EF4-FFF2-40B4-BE49-F238E27FC236}">
                <a16:creationId xmlns:a16="http://schemas.microsoft.com/office/drawing/2014/main" id="{9DDF0B82-96D2-4D6B-BBE1-CAD10120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48000"/>
            <a:ext cx="1866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8" name="impact-1-3">
            <a:extLst xmlns:a="http://schemas.openxmlformats.org/drawingml/2006/main">
              <a:ext uri="{FF2B5EF4-FFF2-40B4-BE49-F238E27FC236}">
                <a16:creationId xmlns:a16="http://schemas.microsoft.com/office/drawing/2014/main" id="{135DE86E-012F-44E3-83B3-D5C3902E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16230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已合并</a:t>
            </a:r>
          </a:p>
        </p:txBody>
      </p:sp>
      <p:sp>
        <p:nvSpPr>
          <p:cNvPr id="29" name="impact-bg-2-0">
            <a:extLst xmlns:a="http://schemas.openxmlformats.org/drawingml/2006/main">
              <a:ext uri="{FF2B5EF4-FFF2-40B4-BE49-F238E27FC236}">
                <a16:creationId xmlns:a16="http://schemas.microsoft.com/office/drawing/2014/main" id="{5B3B2064-EEEE-4B8E-A251-E7E940B5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290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0" name="impact-2-0">
            <a:extLst xmlns:a="http://schemas.openxmlformats.org/drawingml/2006/main">
              <a:ext uri="{FF2B5EF4-FFF2-40B4-BE49-F238E27FC236}">
                <a16:creationId xmlns:a16="http://schemas.microsoft.com/office/drawing/2014/main" id="{D3D55391-A713-4EEF-9F52-00C63A58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PR #204</a:t>
            </a:r>
          </a:p>
        </p:txBody>
      </p:sp>
      <p:sp>
        <p:nvSpPr>
          <p:cNvPr id="31" name="impact-bg-2-1">
            <a:extLst xmlns:a="http://schemas.openxmlformats.org/drawingml/2006/main">
              <a:ext uri="{FF2B5EF4-FFF2-40B4-BE49-F238E27FC236}">
                <a16:creationId xmlns:a16="http://schemas.microsoft.com/office/drawing/2014/main" id="{19048480-9988-47B2-8C69-00D2CE23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829050"/>
            <a:ext cx="4476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2" name="impact-2-1">
            <a:extLst xmlns:a="http://schemas.openxmlformats.org/drawingml/2006/main">
              <a:ext uri="{FF2B5EF4-FFF2-40B4-BE49-F238E27FC236}">
                <a16:creationId xmlns:a16="http://schemas.microsoft.com/office/drawing/2014/main" id="{EF2A51F4-5AB4-4101-BCF7-EAAD558FC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943350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perf: batch cart inventory availability checks</a:t>
            </a:r>
          </a:p>
        </p:txBody>
      </p:sp>
      <p:sp>
        <p:nvSpPr>
          <p:cNvPr id="33" name="impact-bg-2-2">
            <a:extLst xmlns:a="http://schemas.openxmlformats.org/drawingml/2006/main">
              <a:ext uri="{FF2B5EF4-FFF2-40B4-BE49-F238E27FC236}">
                <a16:creationId xmlns:a16="http://schemas.microsoft.com/office/drawing/2014/main" id="{4028F8F9-3CEA-42F9-AD44-C942E95F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4" name="impact-2-2">
            <a:extLst xmlns:a="http://schemas.openxmlformats.org/drawingml/2006/main">
              <a:ext uri="{FF2B5EF4-FFF2-40B4-BE49-F238E27FC236}">
                <a16:creationId xmlns:a16="http://schemas.microsoft.com/office/drawing/2014/main" id="{A370E755-80CC-445A-B4B3-09E73EB8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43350"/>
            <a:ext cx="320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cart-service / inventory-reservation / quality-gates</a:t>
            </a:r>
          </a:p>
        </p:txBody>
      </p:sp>
      <p:sp>
        <p:nvSpPr>
          <p:cNvPr id="35" name="impact-bg-2-3">
            <a:extLst xmlns:a="http://schemas.openxmlformats.org/drawingml/2006/main">
              <a:ext uri="{FF2B5EF4-FFF2-40B4-BE49-F238E27FC236}">
                <a16:creationId xmlns:a16="http://schemas.microsoft.com/office/drawing/2014/main" id="{70F19CA4-3695-4B14-9EF7-4238D896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829050"/>
            <a:ext cx="1866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6" name="impact-2-3">
            <a:extLst xmlns:a="http://schemas.openxmlformats.org/drawingml/2006/main">
              <a:ext uri="{FF2B5EF4-FFF2-40B4-BE49-F238E27FC236}">
                <a16:creationId xmlns:a16="http://schemas.microsoft.com/office/drawing/2014/main" id="{0388D732-3867-41AA-9D9E-34282EDC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94335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审查中</a:t>
            </a:r>
          </a:p>
        </p:txBody>
      </p:sp>
      <p:sp>
        <p:nvSpPr>
          <p:cNvPr id="37" name="impact-bg-3-0">
            <a:extLst xmlns:a="http://schemas.openxmlformats.org/drawingml/2006/main">
              <a:ext uri="{FF2B5EF4-FFF2-40B4-BE49-F238E27FC236}">
                <a16:creationId xmlns:a16="http://schemas.microsoft.com/office/drawing/2014/main" id="{54193179-0CB1-4BB5-8829-270C79CB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8" name="impact-3-0">
            <a:extLst xmlns:a="http://schemas.openxmlformats.org/drawingml/2006/main">
              <a:ext uri="{FF2B5EF4-FFF2-40B4-BE49-F238E27FC236}">
                <a16:creationId xmlns:a16="http://schemas.microsoft.com/office/drawing/2014/main" id="{DC6B7258-127C-49A1-B799-EFEBF665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24400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CHORE-106</a:t>
            </a:r>
          </a:p>
        </p:txBody>
      </p:sp>
      <p:sp>
        <p:nvSpPr>
          <p:cNvPr id="39" name="impact-bg-3-1">
            <a:extLst xmlns:a="http://schemas.openxmlformats.org/drawingml/2006/main">
              <a:ext uri="{FF2B5EF4-FFF2-40B4-BE49-F238E27FC236}">
                <a16:creationId xmlns:a16="http://schemas.microsoft.com/office/drawing/2014/main" id="{FF0E7B12-DF76-4205-A68D-BC4B9BFB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610100"/>
            <a:ext cx="4476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0" name="impact-3-1">
            <a:extLst xmlns:a="http://schemas.openxmlformats.org/drawingml/2006/main">
              <a:ext uri="{FF2B5EF4-FFF2-40B4-BE49-F238E27FC236}">
                <a16:creationId xmlns:a16="http://schemas.microsoft.com/office/drawing/2014/main" id="{938B097B-EB65-4312-81D7-709A796E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724400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缓存配置变更未关联 Issue</a:t>
            </a:r>
          </a:p>
        </p:txBody>
      </p:sp>
      <p:sp>
        <p:nvSpPr>
          <p:cNvPr id="41" name="impact-bg-3-2">
            <a:extLst xmlns:a="http://schemas.openxmlformats.org/drawingml/2006/main">
              <a:ext uri="{FF2B5EF4-FFF2-40B4-BE49-F238E27FC236}">
                <a16:creationId xmlns:a16="http://schemas.microsoft.com/office/drawing/2014/main" id="{4F8D9166-696D-411F-A52B-17F90B8E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10100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2" name="impact-3-2">
            <a:extLst xmlns:a="http://schemas.openxmlformats.org/drawingml/2006/main">
              <a:ext uri="{FF2B5EF4-FFF2-40B4-BE49-F238E27FC236}">
                <a16:creationId xmlns:a16="http://schemas.microsoft.com/office/drawing/2014/main" id="{0C50148E-B4CF-4B98-9DC1-6F417E2A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24400"/>
            <a:ext cx="320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runtime-config</a:t>
            </a:r>
          </a:p>
        </p:txBody>
      </p:sp>
      <p:sp>
        <p:nvSpPr>
          <p:cNvPr id="43" name="impact-bg-3-3">
            <a:extLst xmlns:a="http://schemas.openxmlformats.org/drawingml/2006/main">
              <a:ext uri="{FF2B5EF4-FFF2-40B4-BE49-F238E27FC236}">
                <a16:creationId xmlns:a16="http://schemas.microsoft.com/office/drawing/2014/main" id="{4C67919C-D910-4E68-95AA-7C1CB493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610100"/>
            <a:ext cx="1866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4" name="impact-3-3">
            <a:extLst xmlns:a="http://schemas.openxmlformats.org/drawingml/2006/main">
              <a:ext uri="{FF2B5EF4-FFF2-40B4-BE49-F238E27FC236}">
                <a16:creationId xmlns:a16="http://schemas.microsoft.com/office/drawing/2014/main" id="{D83D2278-54C5-4E98-914E-AB4D48FB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72440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待确认</a:t>
            </a:r>
          </a:p>
        </p:txBody>
      </p:sp>
    </p:spTree>
    <p:extLst>
      <p:ext uri="{BB962C8B-B14F-4D97-AF65-F5344CB8AC3E}">
        <p14:creationId xmlns:p14="http://schemas.microsoft.com/office/powerpoint/2010/main" val="19701926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02AE03FB-A0A4-4B46-AD28-0AE5749F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规范解释为什么失败，专家负责当前例外处理</a:t>
            </a:r>
          </a:p>
        </p:txBody>
      </p:sp>
      <p:sp>
        <p:nvSpPr>
          <p:cNvPr id="2" name="subtitle-6">
            <a:extLst xmlns:a="http://schemas.openxmlformats.org/drawingml/2006/main">
              <a:ext uri="{FF2B5EF4-FFF2-40B4-BE49-F238E27FC236}">
                <a16:creationId xmlns:a16="http://schemas.microsoft.com/office/drawing/2014/main" id="{7D873E58-FC3A-4835-B520-B95E7DD1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知识与人员来自不同的受控数据源。</a:t>
            </a:r>
          </a:p>
        </p:txBody>
      </p:sp>
      <p:sp>
        <p:nvSpPr>
          <p:cNvPr id="3" name="footer-6">
            <a:extLst xmlns:a="http://schemas.openxmlformats.org/drawingml/2006/main">
              <a:ext uri="{FF2B5EF4-FFF2-40B4-BE49-F238E27FC236}">
                <a16:creationId xmlns:a16="http://schemas.microsoft.com/office/drawing/2014/main" id="{8305B902-FA26-4840-A59F-9CCC24A3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shopflow-5bfd99fc6000</a:t>
            </a:r>
          </a:p>
        </p:txBody>
      </p: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0675F43C-B0A6-4DFC-A32C-F880927D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5" name="knowledge-band">
            <a:extLst xmlns:a="http://schemas.openxmlformats.org/drawingml/2006/main">
              <a:ext uri="{FF2B5EF4-FFF2-40B4-BE49-F238E27FC236}">
                <a16:creationId xmlns:a16="http://schemas.microsoft.com/office/drawing/2014/main" id="{4EDB6D88-6135-48C0-9759-393899CA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353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nowledge-label">
            <a:extLst xmlns:a="http://schemas.openxmlformats.org/drawingml/2006/main">
              <a:ext uri="{FF2B5EF4-FFF2-40B4-BE49-F238E27FC236}">
                <a16:creationId xmlns:a16="http://schemas.microsoft.com/office/drawing/2014/main" id="{342FF92D-C33E-4C67-B862-C935DA47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知识证据</a:t>
            </a:r>
          </a:p>
        </p:txBody>
      </p:sp>
      <p:sp>
        <p:nvSpPr>
          <p:cNvPr id="7" name="knowledge-title">
            <a:extLst xmlns:a="http://schemas.openxmlformats.org/drawingml/2006/main">
              <a:ext uri="{FF2B5EF4-FFF2-40B4-BE49-F238E27FC236}">
                <a16:creationId xmlns:a16="http://schemas.microsoft.com/office/drawing/2014/main" id="{F432DA72-6CE1-4463-8567-FA4C3282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66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库存预占并发一致性规范</a:t>
            </a:r>
          </a:p>
        </p:txBody>
      </p:sp>
      <p:sp>
        <p:nvSpPr>
          <p:cNvPr id="8" name="knowledge-claim">
            <a:extLst xmlns:a="http://schemas.openxmlformats.org/drawingml/2006/main">
              <a:ext uri="{FF2B5EF4-FFF2-40B4-BE49-F238E27FC236}">
                <a16:creationId xmlns:a16="http://schemas.microsoft.com/office/drawing/2014/main" id="{2B4230FD-1D2F-4C95-8A24-3026809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4667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“余量校验与预占写入必须处于同一原子边界；只锁写入仍属于 check-then-act 竞态。”</a:t>
            </a:r>
          </a:p>
        </p:txBody>
      </p:sp>
      <p:sp>
        <p:nvSpPr>
          <p:cNvPr id="9" name="knowledge-source">
            <a:extLst xmlns:a="http://schemas.openxmlformats.org/drawingml/2006/main">
              <a:ext uri="{FF2B5EF4-FFF2-40B4-BE49-F238E27FC236}">
                <a16:creationId xmlns:a16="http://schemas.microsoft.com/office/drawing/2014/main" id="{0391AD4E-A9A9-4F9F-BD44-1D1F8C99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kb://shopflow/architecture/inventory-concurrency-v1</a:t>
            </a:r>
          </a:p>
        </p:txBody>
      </p:sp>
      <p:sp>
        <p:nvSpPr>
          <p:cNvPr id="10" name="expert-band">
            <a:extLst xmlns:a="http://schemas.openxmlformats.org/drawingml/2006/main">
              <a:ext uri="{FF2B5EF4-FFF2-40B4-BE49-F238E27FC236}">
                <a16:creationId xmlns:a16="http://schemas.microsoft.com/office/drawing/2014/main" id="{DF28931A-EEA2-4CE7-B584-F17B6B21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56007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pert-label">
            <a:extLst xmlns:a="http://schemas.openxmlformats.org/drawingml/2006/main">
              <a:ext uri="{FF2B5EF4-FFF2-40B4-BE49-F238E27FC236}">
                <a16:creationId xmlns:a16="http://schemas.microsoft.com/office/drawing/2014/main" id="{D641A808-6223-487A-B18C-6182C0B3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推荐专家</a:t>
            </a:r>
          </a:p>
        </p:txBody>
      </p:sp>
      <p:sp>
        <p:nvSpPr>
          <p:cNvPr id="12" name="expert-name">
            <a:extLst xmlns:a="http://schemas.openxmlformats.org/drawingml/2006/main">
              <a:ext uri="{FF2B5EF4-FFF2-40B4-BE49-F238E27FC236}">
                <a16:creationId xmlns:a16="http://schemas.microsoft.com/office/drawing/2014/main" id="{A19B0092-DCEB-4E72-8BBD-E9B09D2E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王海  /  库存一致性架构师</a:t>
            </a:r>
          </a:p>
        </p:txBody>
      </p:sp>
      <p:sp>
        <p:nvSpPr>
          <p:cNvPr id="13" name="expert-reason">
            <a:extLst xmlns:a="http://schemas.openxmlformats.org/drawingml/2006/main">
              <a:ext uri="{FF2B5EF4-FFF2-40B4-BE49-F238E27FC236}">
                <a16:creationId xmlns:a16="http://schemas.microsoft.com/office/drawing/2014/main" id="{4E2B5B94-0411-4D74-A78B-7B6C90D2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43300"/>
            <a:ext cx="4953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领域匹配 concurrency, inventory, oversell；模块匹配 inventory-reservation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状态：available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升级条件：出现负库存、原子性缺陷或 P0 库存阻塞</a:t>
            </a:r>
          </a:p>
        </p:txBody>
      </p:sp>
      <p:sp>
        <p:nvSpPr>
          <p:cNvPr id="14" name="expert-contact">
            <a:extLst xmlns:a="http://schemas.openxmlformats.org/drawingml/2006/main">
              <a:ext uri="{FF2B5EF4-FFF2-40B4-BE49-F238E27FC236}">
                <a16:creationId xmlns:a16="http://schemas.microsoft.com/office/drawing/2014/main" id="{960169C3-679D-43CB-B7A5-2B4D79B3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387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wang.hai@example.local</a:t>
            </a:r>
          </a:p>
        </p:txBody>
      </p:sp>
      <p:sp>
        <p:nvSpPr>
          <p:cNvPr id="15" name="knowledge-action">
            <a:extLst xmlns:a="http://schemas.openxmlformats.org/drawingml/2006/main">
              <a:ext uri="{FF2B5EF4-FFF2-40B4-BE49-F238E27FC236}">
                <a16:creationId xmlns:a16="http://schemas.microsoft.com/office/drawing/2014/main" id="{0B82DB54-C3D8-426C-BD78-ACD7EF71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建议动作：技术负责人在下一轮修复提交前完成方案评审，并将并发回归测试设为合并必需检查。</a:t>
            </a:r>
          </a:p>
        </p:txBody>
      </p:sp>
    </p:spTree>
    <p:extLst>
      <p:ext uri="{BB962C8B-B14F-4D97-AF65-F5344CB8AC3E}">
        <p14:creationId xmlns:p14="http://schemas.microsoft.com/office/powerpoint/2010/main" val="17201969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7">
            <a:extLst xmlns:a="http://schemas.openxmlformats.org/drawingml/2006/main">
              <a:ext uri="{FF2B5EF4-FFF2-40B4-BE49-F238E27FC236}">
                <a16:creationId xmlns:a16="http://schemas.microsoft.com/office/drawing/2014/main" id="{E859498B-CE0B-49C7-9478-A8C5D8B0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先解除 P0 阻塞，再收敛性能与权限风险</a:t>
            </a:r>
          </a:p>
        </p:txBody>
      </p:sp>
      <p:sp>
        <p:nvSpPr>
          <p:cNvPr id="2" name="subtitle-7">
            <a:extLst xmlns:a="http://schemas.openxmlformats.org/drawingml/2006/main">
              <a:ext uri="{FF2B5EF4-FFF2-40B4-BE49-F238E27FC236}">
                <a16:creationId xmlns:a16="http://schemas.microsoft.com/office/drawing/2014/main" id="{FF60636F-756C-4E3F-84B2-D5E7F4BC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本期快照后的建议动作，不改变已冻结证据。</a:t>
            </a:r>
          </a:p>
        </p:txBody>
      </p:sp>
      <p:sp>
        <p:nvSpPr>
          <p:cNvPr id="3" name="footer-7">
            <a:extLst xmlns:a="http://schemas.openxmlformats.org/drawingml/2006/main">
              <a:ext uri="{FF2B5EF4-FFF2-40B4-BE49-F238E27FC236}">
                <a16:creationId xmlns:a16="http://schemas.microsoft.com/office/drawing/2014/main" id="{AB2BA984-9F0F-470B-A3E4-44ADA489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shopflow-5bfd99fc6000</a:t>
            </a:r>
          </a:p>
        </p:txBody>
      </p: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680D36FF-E12F-4A1C-9D1C-CBCFC96A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F4D0CAE6-2E8C-4FA3-9251-556F4296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6198EE70-3451-46AF-BB1D-06086926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meline-time-0">
            <a:extLst xmlns:a="http://schemas.openxmlformats.org/drawingml/2006/main">
              <a:ext uri="{FF2B5EF4-FFF2-40B4-BE49-F238E27FC236}">
                <a16:creationId xmlns:a16="http://schemas.microsoft.com/office/drawing/2014/main" id="{E6579D05-7E42-49EA-A88D-AEE06950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今天 20:00</a:t>
            </a:r>
          </a:p>
        </p:txBody>
      </p:sp>
      <p:sp>
        <p:nvSpPr>
          <p:cNvPr id="8" name="timeline-title-0">
            <a:extLst xmlns:a="http://schemas.openxmlformats.org/drawingml/2006/main">
              <a:ext uri="{FF2B5EF4-FFF2-40B4-BE49-F238E27FC236}">
                <a16:creationId xmlns:a16="http://schemas.microsoft.com/office/drawing/2014/main" id="{962F3054-60D3-463C-A4CD-4D9DA344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原子性方案评审</a:t>
            </a:r>
          </a:p>
        </p:txBody>
      </p:sp>
      <p:sp>
        <p:nvSpPr>
          <p:cNvPr id="9" name="timeline-owner-0">
            <a:extLst xmlns:a="http://schemas.openxmlformats.org/drawingml/2006/main">
              <a:ext uri="{FF2B5EF4-FFF2-40B4-BE49-F238E27FC236}">
                <a16:creationId xmlns:a16="http://schemas.microsoft.com/office/drawing/2014/main" id="{2CA1D268-52A5-460B-8382-A6630F4F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陈晨 + 王海</a:t>
            </a:r>
          </a:p>
        </p:txBody>
      </p:sp>
      <p:sp>
        <p:nvSpPr>
          <p:cNvPr id="10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2C4D70E-F729-417D-8DCE-69688EE8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imeline-time-1">
            <a:extLst xmlns:a="http://schemas.openxmlformats.org/drawingml/2006/main">
              <a:ext uri="{FF2B5EF4-FFF2-40B4-BE49-F238E27FC236}">
                <a16:creationId xmlns:a16="http://schemas.microsoft.com/office/drawing/2014/main" id="{5DF69525-4B7F-423C-BE71-65B4CD92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明天 12:00</a:t>
            </a:r>
          </a:p>
        </p:txBody>
      </p:sp>
      <p:sp>
        <p:nvSpPr>
          <p:cNvPr id="12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047E907B-55E7-4F3A-A69B-ED3A9F4A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并发回归与 owner review</a:t>
            </a:r>
          </a:p>
        </p:txBody>
      </p:sp>
      <p:sp>
        <p:nvSpPr>
          <p:cNvPr id="13" name="timeline-owner-1">
            <a:extLst xmlns:a="http://schemas.openxmlformats.org/drawingml/2006/main">
              <a:ext uri="{FF2B5EF4-FFF2-40B4-BE49-F238E27FC236}">
                <a16:creationId xmlns:a16="http://schemas.microsoft.com/office/drawing/2014/main" id="{163A3AD7-2EE0-4ABB-99D6-6EBA05A1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QA + 模块负责人</a:t>
            </a:r>
          </a:p>
        </p:txBody>
      </p:sp>
      <p:sp>
        <p:nvSpPr>
          <p:cNvPr id="14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CD03655E-6679-44D1-8B6C-860B2303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imeline-time-2">
            <a:extLst xmlns:a="http://schemas.openxmlformats.org/drawingml/2006/main">
              <a:ext uri="{FF2B5EF4-FFF2-40B4-BE49-F238E27FC236}">
                <a16:creationId xmlns:a16="http://schemas.microsoft.com/office/drawing/2014/main" id="{CF520DD2-D202-455E-AEE2-FD12120D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明天 18:00</a:t>
            </a:r>
          </a:p>
        </p:txBody>
      </p:sp>
      <p:sp>
        <p:nvSpPr>
          <p:cNvPr id="16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D3151E88-8426-4A3D-B21C-761AD66A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发布门禁复核</a:t>
            </a:r>
          </a:p>
        </p:txBody>
      </p:sp>
      <p:sp>
        <p:nvSpPr>
          <p:cNvPr id="17" name="timeline-owner-2">
            <a:extLst xmlns:a="http://schemas.openxmlformats.org/drawingml/2006/main">
              <a:ext uri="{FF2B5EF4-FFF2-40B4-BE49-F238E27FC236}">
                <a16:creationId xmlns:a16="http://schemas.microsoft.com/office/drawing/2014/main" id="{C2A7FE49-06DD-4007-9517-E2097263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赵磊</a:t>
            </a:r>
          </a:p>
        </p:txBody>
      </p:sp>
      <p:sp>
        <p:nvSpPr>
          <p:cNvPr id="18" name="decision-band">
            <a:extLst xmlns:a="http://schemas.openxmlformats.org/drawingml/2006/main">
              <a:ext uri="{FF2B5EF4-FFF2-40B4-BE49-F238E27FC236}">
                <a16:creationId xmlns:a16="http://schemas.microsoft.com/office/drawing/2014/main" id="{695B4290-89F1-426B-8385-B92CF450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47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decision-text">
            <a:extLst xmlns:a="http://schemas.openxmlformats.org/drawingml/2006/main">
              <a:ext uri="{FF2B5EF4-FFF2-40B4-BE49-F238E27FC236}">
                <a16:creationId xmlns:a16="http://schemas.microsoft.com/office/drawing/2014/main" id="{C8D1B35B-E7D1-43C9-9ED2-6AF74DC3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29275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技术负责人决策：是否冻结非阻塞变更，并指定 BUG-102 第二次修复的合并门禁。</a:t>
            </a:r>
          </a:p>
        </p:txBody>
      </p:sp>
    </p:spTree>
    <p:extLst>
      <p:ext uri="{BB962C8B-B14F-4D97-AF65-F5344CB8AC3E}">
        <p14:creationId xmlns:p14="http://schemas.microsoft.com/office/powerpoint/2010/main" val="9242760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2026-08-06T05:41:43.9380000Z</dcterms:created>
  <dcterms:modified xsi:type="dcterms:W3CDTF">2026-08-06T05:41:43.9380000Z</dcterms:modified>
</coreProperties>
</file>