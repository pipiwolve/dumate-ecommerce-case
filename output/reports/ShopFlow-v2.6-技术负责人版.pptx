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9820cf506c34db0" /><Relationship Type="http://schemas.openxmlformats.org/officeDocument/2006/relationships/extended-properties" Target="/docProps/app.xml" Id="Rf319eb609e454e34" /><Relationship Type="http://schemas.openxmlformats.org/officeDocument/2006/relationships/officeDocument" Target="/ppt/presentation.xml" Id="R84568faec57a423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5c63b1203904bbc"/>
  </p:sldMasterIdLst>
  <p:notesMasterIdLst>
    <p:notesMasterId xmlns:r="http://schemas.openxmlformats.org/officeDocument/2006/relationships" r:id="Ref556f2189524d18"/>
  </p:notesMasterIdLst>
  <p:sldIdLst>
    <p:sldId xmlns:r="http://schemas.openxmlformats.org/officeDocument/2006/relationships" id="256" r:id="Rcdcbd1a5b4144ec9"/>
    <p:sldId xmlns:r="http://schemas.openxmlformats.org/officeDocument/2006/relationships" id="257" r:id="R8a3738a0eb8c4002"/>
    <p:sldId xmlns:r="http://schemas.openxmlformats.org/officeDocument/2006/relationships" id="258" r:id="R3befde0007854629"/>
    <p:sldId xmlns:r="http://schemas.openxmlformats.org/officeDocument/2006/relationships" id="259" r:id="R17f59da6d83d4824"/>
    <p:sldId xmlns:r="http://schemas.openxmlformats.org/officeDocument/2006/relationships" id="260" r:id="Re42a494e84a24c86"/>
    <p:sldId xmlns:r="http://schemas.openxmlformats.org/officeDocument/2006/relationships" id="261" r:id="R54bc9162bf134284"/>
    <p:sldId xmlns:r="http://schemas.openxmlformats.org/officeDocument/2006/relationships" id="262" r:id="R64e30b831606441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590f3a52f41444d" /><Relationship Type="http://schemas.openxmlformats.org/officeDocument/2006/relationships/slideMaster" Target="/ppt/slideMasters/slideMaster1.xml" Id="R35c63b1203904bbc" /><Relationship Type="http://schemas.openxmlformats.org/officeDocument/2006/relationships/notesMaster" Target="/ppt/notesMasters/notesMaster1.xml" Id="Ref556f2189524d18" /><Relationship Type="http://schemas.openxmlformats.org/officeDocument/2006/relationships/presProps" Target="/ppt/presProps.xml" Id="R4df07c0d4bdd4822" /><Relationship Type="http://schemas.openxmlformats.org/officeDocument/2006/relationships/tableStyles" Target="/ppt/tableStyles.xml" Id="Rd78d715ce7be485e" /><Relationship Type="http://schemas.openxmlformats.org/officeDocument/2006/relationships/slide" Target="/ppt/slides/slide1.xml" Id="Rcdcbd1a5b4144ec9" /><Relationship Type="http://schemas.openxmlformats.org/officeDocument/2006/relationships/slide" Target="/ppt/slides/slide2.xml" Id="R8a3738a0eb8c4002" /><Relationship Type="http://schemas.openxmlformats.org/officeDocument/2006/relationships/slide" Target="/ppt/slides/slide3.xml" Id="R3befde0007854629" /><Relationship Type="http://schemas.openxmlformats.org/officeDocument/2006/relationships/slide" Target="/ppt/slides/slide4.xml" Id="R17f59da6d83d4824" /><Relationship Type="http://schemas.openxmlformats.org/officeDocument/2006/relationships/slide" Target="/ppt/slides/slide5.xml" Id="Re42a494e84a24c86" /><Relationship Type="http://schemas.openxmlformats.org/officeDocument/2006/relationships/slide" Target="/ppt/slides/slide6.xml" Id="R54bc9162bf134284" /><Relationship Type="http://schemas.openxmlformats.org/officeDocument/2006/relationships/slide" Target="/ppt/slides/slide7.xml" Id="R64e30b831606441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c91b7df00ff432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05ed3611e4748d0" /><Relationship Type="http://schemas.openxmlformats.org/officeDocument/2006/relationships/notesMaster" Target="/ppt/notesMasters/notesMaster1.xml" Id="R9ce91371aad24c5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20d7dce9d064c11" /><Relationship Type="http://schemas.openxmlformats.org/officeDocument/2006/relationships/notesMaster" Target="/ppt/notesMasters/notesMaster1.xml" Id="Rcb792c13df84465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12b98e84b704ba5" /><Relationship Type="http://schemas.openxmlformats.org/officeDocument/2006/relationships/notesMaster" Target="/ppt/notesMasters/notesMaster1.xml" Id="R41284209b4db40c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6be6480ff2f404f" /><Relationship Type="http://schemas.openxmlformats.org/officeDocument/2006/relationships/notesMaster" Target="/ppt/notesMasters/notesMaster1.xml" Id="R7a233837eaab481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cffbb19e9fe48b3" /><Relationship Type="http://schemas.openxmlformats.org/officeDocument/2006/relationships/notesMaster" Target="/ppt/notesMasters/notesMaster1.xml" Id="R50ba235e2ae843c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622b0391ebb4244" /><Relationship Type="http://schemas.openxmlformats.org/officeDocument/2006/relationships/notesMaster" Target="/ppt/notesMasters/notesMaster1.xml" Id="Rba5f2ec080dc44c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4da9ffffc834c85" /><Relationship Type="http://schemas.openxmlformats.org/officeDocument/2006/relationships/notesMaster" Target="/ppt/notesMasters/notesMaster1.xml" Id="R7ba17601b73f4b9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github://pipiwolve/dumate-ecommerce-case/milestone/v2.6</a:t>
            </a:r>
          </a:p>
          <a:p xmlns:a="http://schemas.openxmlformats.org/drawingml/2006/main">
            <a:r>
              <a:t>- git://shopflow/product-main@8b67e3d750386b4c993fed848298fa54ff6e2bea</a:t>
            </a:r>
          </a:p>
          <a:p xmlns:a="http://schemas.openxmlformats.org/drawingml/2006/main">
            <a:r>
              <a:t>- kb://shopflow/architecture/inventory-concurrency-v1</a:t>
            </a:r>
          </a:p>
          <a:p xmlns:a="http://schemas.openxmlformats.org/drawingml/2006/main">
            <a:r>
              <a:t>- kb://shopflow/incidents/oversell-2025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github://pipiwolve/dumate-ecommerce-case/milestone/v2.6</a:t>
            </a:r>
          </a:p>
          <a:p xmlns:a="http://schemas.openxmlformats.org/drawingml/2006/main">
            <a:r>
              <a:t>- git://shopflow/product-main@8b67e3d750386b4c993fed848298fa54ff6e2bea</a:t>
            </a:r>
          </a:p>
          <a:p xmlns:a="http://schemas.openxmlformats.org/drawingml/2006/main">
            <a:r>
              <a:t>- kb://shopflow/architecture/inventory-concurrency-v1</a:t>
            </a:r>
          </a:p>
          <a:p xmlns:a="http://schemas.openxmlformats.org/drawingml/2006/main">
            <a:r>
              <a:t>- kb://shopflow/incidents/oversell-2025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github://pipiwolve/dumate-ecommerce-case/milestone/v2.6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github://pipiwolve/dumate-ecommerce-case/milestone/v2.6</a:t>
            </a:r>
          </a:p>
          <a:p xmlns:a="http://schemas.openxmlformats.org/drawingml/2006/main">
            <a:r>
              <a:t>- git://shopflow/product-main@8b67e3d750386b4c993fed848298fa54ff6e2bea</a:t>
            </a:r>
          </a:p>
          <a:p xmlns:a="http://schemas.openxmlformats.org/drawingml/2006/main">
            <a:r>
              <a:t>- kb://shopflow/architecture/inventory-concurrency-v1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github://pipiwolve/dumate-ecommerce-case/milestone/v2.6</a:t>
            </a:r>
          </a:p>
          <a:p xmlns:a="http://schemas.openxmlformats.org/drawingml/2006/main">
            <a:r>
              <a:t>- git://shopflow/product-main@8b67e3d750386b4c993fed848298fa54ff6e2bea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kb://shopflow/architecture/inventory-concurrency-v1</a:t>
            </a:r>
          </a:p>
          <a:p xmlns:a="http://schemas.openxmlformats.org/drawingml/2006/main">
            <a:r>
              <a:t>- kb://shopflow/incidents/oversell-2025</a:t>
            </a:r>
          </a:p>
          <a:p xmlns:a="http://schemas.openxmlformats.org/drawingml/2006/main">
            <a:r>
              <a:t>- directory://shopflow/experts/expert-wang-hai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github://pipiwolve/dumate-ecommerce-case/milestone/v2.6</a:t>
            </a:r>
          </a:p>
          <a:p xmlns:a="http://schemas.openxmlformats.org/drawingml/2006/main">
            <a:r>
              <a:t>- kb://shopflow/sop/promotion-release-gate-v1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158018895e48a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304d12767054ac2" /><Relationship Type="http://schemas.openxmlformats.org/officeDocument/2006/relationships/slideLayout" Target="/ppt/slideLayouts/slideLayout1.xml" Id="Rb5923128eb3a4f4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5923128eb3a4f4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58f0d04a3a4c6b" /><Relationship Type="http://schemas.openxmlformats.org/officeDocument/2006/relationships/notesSlide" Target="/ppt/notesSlides/notesSlide1.xml" Id="R3146c63c60e645b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2503cfd39e499f" /><Relationship Type="http://schemas.openxmlformats.org/officeDocument/2006/relationships/notesSlide" Target="/ppt/notesSlides/notesSlide2.xml" Id="R4840e65ea9af4e9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e5e3083f054fcd" /><Relationship Type="http://schemas.openxmlformats.org/officeDocument/2006/relationships/notesSlide" Target="/ppt/notesSlides/notesSlide3.xml" Id="Rc31e87d6bb0a4a6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2c06e333844a99" /><Relationship Type="http://schemas.openxmlformats.org/officeDocument/2006/relationships/notesSlide" Target="/ppt/notesSlides/notesSlide4.xml" Id="R62f7d09be47343d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ec00b92dec4121" /><Relationship Type="http://schemas.openxmlformats.org/officeDocument/2006/relationships/notesSlide" Target="/ppt/notesSlides/notesSlide5.xml" Id="Rca81f0c8c49e4df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c93b54bc314b6f" /><Relationship Type="http://schemas.openxmlformats.org/officeDocument/2006/relationships/notesSlide" Target="/ppt/notesSlides/notesSlide6.xml" Id="R2c67cc297b784d6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d9cce29fa14214" /><Relationship Type="http://schemas.openxmlformats.org/officeDocument/2006/relationships/notesSlide" Target="/ppt/notesSlides/notesSlide7.xml" Id="R57f6f4a48745402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A209BFFC-768B-4B99-9AB5-01881AAFA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E7CF6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2E7CF6"/>
                </a:solidFill>
                <a:latin typeface="PingFang SC"/>
                <a:ea typeface="PingFang SC"/>
                <a:cs typeface="PingFang SC"/>
              </a:rPr>
              <a:t>SHOPFLOW  /  DELIVERY REVIEW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92629BB2-3F71-45D2-B724-014BE7146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9906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43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限时促销版本</a:t>
            </a:r>
          </a:p>
          <a:p xmlns:a="http://schemas.openxmlformats.org/drawingml/2006/main">
            <a:pPr algn="l">
              <a:defRPr sz="43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43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交付风险审查</a:t>
            </a:r>
          </a:p>
        </p:txBody>
      </p:sp>
      <p:sp>
        <p:nvSpPr>
          <p:cNvPr id="3" name="cover-rule">
            <a:extLst xmlns:a="http://schemas.openxmlformats.org/drawingml/2006/main">
              <a:ext uri="{FF2B5EF4-FFF2-40B4-BE49-F238E27FC236}">
                <a16:creationId xmlns:a16="http://schemas.microsoft.com/office/drawing/2014/main" id="{7C215B30-F64A-464B-8249-4E678A612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4332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ver-audience">
            <a:extLst xmlns:a="http://schemas.openxmlformats.org/drawingml/2006/main">
              <a:ext uri="{FF2B5EF4-FFF2-40B4-BE49-F238E27FC236}">
                <a16:creationId xmlns:a16="http://schemas.microsoft.com/office/drawing/2014/main" id="{D27F9018-A7E0-4CA1-9DE7-D5DD979B4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技术负责人版</a:t>
            </a:r>
          </a:p>
        </p:txBody>
      </p:sp>
      <p:sp>
        <p:nvSpPr>
          <p:cNvPr id="5" name="cover-meta">
            <a:extLst xmlns:a="http://schemas.openxmlformats.org/drawingml/2006/main">
              <a:ext uri="{FF2B5EF4-FFF2-40B4-BE49-F238E27FC236}">
                <a16:creationId xmlns:a16="http://schemas.microsoft.com/office/drawing/2014/main" id="{97300B8B-5A50-45BD-BA72-C3AFDBAFA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8096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4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D6470"/>
                </a:solidFill>
                <a:latin typeface="PingFang SC"/>
                <a:ea typeface="PingFang SC"/>
                <a:cs typeface="PingFang SC"/>
              </a:rPr>
              <a:t>快照时间  2026-08-06T18:00:00+08:00</a:t>
            </a:r>
          </a:p>
          <a:p xmlns:a="http://schemas.openxmlformats.org/drawingml/2006/main">
            <a:pPr algn="l">
              <a:defRPr sz="1425" b="0">
                <a:solidFill>
                  <a:srgbClr val="5D64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D6470"/>
                </a:solidFill>
                <a:latin typeface="PingFang SC"/>
                <a:ea typeface="PingFang SC"/>
                <a:cs typeface="PingFang SC"/>
              </a:rPr>
              <a:t>里程碑  v2.6 限时促销稳定性</a:t>
            </a:r>
          </a:p>
          <a:p xmlns:a="http://schemas.openxmlformats.org/drawingml/2006/main">
            <a:pPr algn="l">
              <a:defRPr sz="1425" b="0">
                <a:solidFill>
                  <a:srgbClr val="5D64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D6470"/>
                </a:solidFill>
                <a:latin typeface="PingFang SC"/>
                <a:ea typeface="PingFang SC"/>
                <a:cs typeface="PingFang SC"/>
              </a:rPr>
              <a:t>证据快照  shopflow-fcbc6c1cd435</a:t>
            </a:r>
          </a:p>
        </p:txBody>
      </p:sp>
      <p:sp>
        <p:nvSpPr>
          <p:cNvPr id="6" name="cover-health">
            <a:extLst xmlns:a="http://schemas.openxmlformats.org/drawingml/2006/main">
              <a:ext uri="{FF2B5EF4-FFF2-40B4-BE49-F238E27FC236}">
                <a16:creationId xmlns:a16="http://schemas.microsoft.com/office/drawing/2014/main" id="{73B432C6-C73D-43E6-9A33-F6DB9FAFC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762500"/>
            <a:ext cx="2266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550" b="1">
                <a:solidFill>
                  <a:srgbClr val="D23B3B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D23B3B"/>
                </a:solidFill>
                <a:latin typeface="PingFang SC"/>
                <a:ea typeface="PingFang SC"/>
                <a:cs typeface="PingFang SC"/>
              </a:rPr>
              <a:t>有风险</a:t>
            </a:r>
          </a:p>
        </p:txBody>
      </p:sp>
    </p:spTree>
    <p:extLst>
      <p:ext uri="{BB962C8B-B14F-4D97-AF65-F5344CB8AC3E}">
        <p14:creationId xmlns:p14="http://schemas.microsoft.com/office/powerpoint/2010/main" val="207157761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itle-2">
            <a:extLst xmlns:a="http://schemas.openxmlformats.org/drawingml/2006/main">
              <a:ext uri="{FF2B5EF4-FFF2-40B4-BE49-F238E27FC236}">
                <a16:creationId xmlns:a16="http://schemas.microsoft.com/office/drawing/2014/main" id="{2F69F5FE-6E5B-4BFA-9EBB-C244ECAEE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版本完成 65%，但超卖缺陷仍阻塞发布</a:t>
            </a:r>
          </a:p>
        </p:txBody>
      </p:sp>
      <p:sp>
        <p:nvSpPr>
          <p:cNvPr id="2" name="subtitle-2">
            <a:extLst xmlns:a="http://schemas.openxmlformats.org/drawingml/2006/main">
              <a:ext uri="{FF2B5EF4-FFF2-40B4-BE49-F238E27FC236}">
                <a16:creationId xmlns:a16="http://schemas.microsoft.com/office/drawing/2014/main" id="{3A1993E3-ACD3-4C2A-83FA-2DA78A600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71550"/>
            <a:ext cx="11391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4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D6470"/>
                </a:solidFill>
                <a:latin typeface="PingFang SC"/>
                <a:ea typeface="PingFang SC"/>
                <a:cs typeface="PingFang SC"/>
              </a:rPr>
              <a:t>Issue 进度是计划基线；PR、Diff 与检查结果用于验证完成度和风险。</a:t>
            </a:r>
          </a:p>
        </p:txBody>
      </p:sp>
      <p:sp>
        <p:nvSpPr>
          <p:cNvPr id="3" name="footer-2">
            <a:extLst xmlns:a="http://schemas.openxmlformats.org/drawingml/2006/main">
              <a:ext uri="{FF2B5EF4-FFF2-40B4-BE49-F238E27FC236}">
                <a16:creationId xmlns:a16="http://schemas.microsoft.com/office/drawing/2014/main" id="{4FA7FA43-3615-4D01-B0A1-580143295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47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D6470"/>
                </a:solidFill>
                <a:latin typeface="PingFang SC"/>
                <a:ea typeface="PingFang SC"/>
                <a:cs typeface="PingFang SC"/>
              </a:rPr>
              <a:t>ShopFlow v2.6  |  shopflow-fcbc6c1cd435</a:t>
            </a:r>
          </a:p>
        </p:txBody>
      </p: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B3656EFC-0A1A-4572-B5D9-28F17DD11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47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D6470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5" name="progress-number">
            <a:extLst xmlns:a="http://schemas.openxmlformats.org/drawingml/2006/main">
              <a:ext uri="{FF2B5EF4-FFF2-40B4-BE49-F238E27FC236}">
                <a16:creationId xmlns:a16="http://schemas.microsoft.com/office/drawing/2014/main" id="{93A77C57-A1B0-41AD-9F9B-085A96553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14550"/>
            <a:ext cx="3143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150" b="1">
                <a:solidFill>
                  <a:srgbClr val="2E7CF6"/>
                </a:solidFill>
                <a:latin typeface="PingFang SC"/>
                <a:ea typeface="PingFang SC"/>
                <a:cs typeface="PingFang SC"/>
              </a:defRPr>
            </a:pPr>
            <a:r>
              <a:rPr sz="6150" b="1">
                <a:solidFill>
                  <a:srgbClr val="2E7CF6"/>
                </a:solidFill>
                <a:latin typeface="PingFang SC"/>
                <a:ea typeface="PingFang SC"/>
                <a:cs typeface="PingFang SC"/>
              </a:rPr>
              <a:t>65%</a:t>
            </a:r>
          </a:p>
        </p:txBody>
      </p:sp>
      <p:sp>
        <p:nvSpPr>
          <p:cNvPr id="6" name="progress-base">
            <a:extLst xmlns:a="http://schemas.openxmlformats.org/drawingml/2006/main">
              <a:ext uri="{FF2B5EF4-FFF2-40B4-BE49-F238E27FC236}">
                <a16:creationId xmlns:a16="http://schemas.microsoft.com/office/drawing/2014/main" id="{DB64C690-2BE6-4112-8112-F4864115D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rogress-fill">
            <a:extLst xmlns:a="http://schemas.openxmlformats.org/drawingml/2006/main">
              <a:ext uri="{FF2B5EF4-FFF2-40B4-BE49-F238E27FC236}">
                <a16:creationId xmlns:a16="http://schemas.microsoft.com/office/drawing/2014/main" id="{AAAC925E-3B4A-4AB6-BAE9-9939A4A9F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2043113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C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rogress-label">
            <a:extLst xmlns:a="http://schemas.openxmlformats.org/drawingml/2006/main">
              <a:ext uri="{FF2B5EF4-FFF2-40B4-BE49-F238E27FC236}">
                <a16:creationId xmlns:a16="http://schemas.microsoft.com/office/drawing/2014/main" id="{9919BBF5-AE43-496E-BB83-8123F861D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576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4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D6470"/>
                </a:solidFill>
                <a:latin typeface="PingFang SC"/>
                <a:ea typeface="PingFang SC"/>
                <a:cs typeface="PingFang SC"/>
              </a:rPr>
              <a:t>加权里程碑进度</a:t>
            </a:r>
          </a:p>
        </p:txBody>
      </p:sp>
      <p:sp>
        <p:nvSpPr>
          <p:cNvPr id="9" name="stat-bg-0">
            <a:extLst xmlns:a="http://schemas.openxmlformats.org/drawingml/2006/main">
              <a:ext uri="{FF2B5EF4-FFF2-40B4-BE49-F238E27FC236}">
                <a16:creationId xmlns:a16="http://schemas.microsoft.com/office/drawing/2014/main" id="{36F475E1-5F5D-4B81-8312-4133813B6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247900"/>
            <a:ext cx="21907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7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tat-value-0">
            <a:extLst xmlns:a="http://schemas.openxmlformats.org/drawingml/2006/main">
              <a:ext uri="{FF2B5EF4-FFF2-40B4-BE49-F238E27FC236}">
                <a16:creationId xmlns:a16="http://schemas.microsoft.com/office/drawing/2014/main" id="{C2D00B7C-BEE3-433D-B44D-B45B17328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71750"/>
            <a:ext cx="1733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D23B3B"/>
                </a:solidFill>
                <a:latin typeface="PingFang SC"/>
                <a:ea typeface="PingFang SC"/>
                <a:cs typeface="PingFang SC"/>
              </a:defRPr>
            </a:pPr>
            <a:r>
              <a:rPr sz="4650" b="1">
                <a:solidFill>
                  <a:srgbClr val="D23B3B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11" name="stat-label-0">
            <a:extLst xmlns:a="http://schemas.openxmlformats.org/drawingml/2006/main">
              <a:ext uri="{FF2B5EF4-FFF2-40B4-BE49-F238E27FC236}">
                <a16:creationId xmlns:a16="http://schemas.microsoft.com/office/drawing/2014/main" id="{0F573E8A-FD26-4F0C-9A64-9D87A5619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43300"/>
            <a:ext cx="173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发布阻塞项</a:t>
            </a:r>
          </a:p>
        </p:txBody>
      </p:sp>
      <p:sp>
        <p:nvSpPr>
          <p:cNvPr id="12" name="stat-bg-1">
            <a:extLst xmlns:a="http://schemas.openxmlformats.org/drawingml/2006/main">
              <a:ext uri="{FF2B5EF4-FFF2-40B4-BE49-F238E27FC236}">
                <a16:creationId xmlns:a16="http://schemas.microsoft.com/office/drawing/2014/main" id="{2D365A0D-60A7-4DD6-90ED-6F47C2DD1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21907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tat-value-1">
            <a:extLst xmlns:a="http://schemas.openxmlformats.org/drawingml/2006/main">
              <a:ext uri="{FF2B5EF4-FFF2-40B4-BE49-F238E27FC236}">
                <a16:creationId xmlns:a16="http://schemas.microsoft.com/office/drawing/2014/main" id="{EA636FB7-37C0-427C-8630-57FEEE98B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571750"/>
            <a:ext cx="1733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B46A00"/>
                </a:solidFill>
                <a:latin typeface="PingFang SC"/>
                <a:ea typeface="PingFang SC"/>
                <a:cs typeface="PingFang SC"/>
              </a:defRPr>
            </a:pPr>
            <a:r>
              <a:rPr sz="4650" b="1">
                <a:solidFill>
                  <a:srgbClr val="B46A00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14" name="stat-label-1">
            <a:extLst xmlns:a="http://schemas.openxmlformats.org/drawingml/2006/main">
              <a:ext uri="{FF2B5EF4-FFF2-40B4-BE49-F238E27FC236}">
                <a16:creationId xmlns:a16="http://schemas.microsoft.com/office/drawing/2014/main" id="{7182CAA6-694C-4C3C-A51F-66155831A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543300"/>
            <a:ext cx="173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失败检查</a:t>
            </a:r>
          </a:p>
        </p:txBody>
      </p:sp>
      <p:sp>
        <p:nvSpPr>
          <p:cNvPr id="15" name="stat-bg-2">
            <a:extLst xmlns:a="http://schemas.openxmlformats.org/drawingml/2006/main">
              <a:ext uri="{FF2B5EF4-FFF2-40B4-BE49-F238E27FC236}">
                <a16:creationId xmlns:a16="http://schemas.microsoft.com/office/drawing/2014/main" id="{C2E8F398-E2BE-4DE0-9E66-355BF9CE8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247900"/>
            <a:ext cx="21907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tat-value-2">
            <a:extLst xmlns:a="http://schemas.openxmlformats.org/drawingml/2006/main">
              <a:ext uri="{FF2B5EF4-FFF2-40B4-BE49-F238E27FC236}">
                <a16:creationId xmlns:a16="http://schemas.microsoft.com/office/drawing/2014/main" id="{BB4EB30D-CBD1-4B14-837C-CFAF8D9C8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571750"/>
            <a:ext cx="1733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46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17" name="stat-label-2">
            <a:extLst xmlns:a="http://schemas.openxmlformats.org/drawingml/2006/main">
              <a:ext uri="{FF2B5EF4-FFF2-40B4-BE49-F238E27FC236}">
                <a16:creationId xmlns:a16="http://schemas.microsoft.com/office/drawing/2014/main" id="{B46EF5AD-676F-4A90-A341-5505EB385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543300"/>
            <a:ext cx="173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计划外改动</a:t>
            </a:r>
          </a:p>
        </p:txBody>
      </p:sp>
      <p:sp>
        <p:nvSpPr>
          <p:cNvPr id="18" name="health-conclusion">
            <a:extLst xmlns:a="http://schemas.openxmlformats.org/drawingml/2006/main">
              <a:ext uri="{FF2B5EF4-FFF2-40B4-BE49-F238E27FC236}">
                <a16:creationId xmlns:a16="http://schemas.microsoft.com/office/drawing/2014/main" id="{3FF0047E-1337-4C91-A26A-1CFA0F359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800600"/>
            <a:ext cx="7543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发布门禁：BUG-102 的并发回归测试仍失败；SEC-105 未启动；PERF-104 等待 owner review。</a:t>
            </a:r>
          </a:p>
        </p:txBody>
      </p:sp>
    </p:spTree>
    <p:extLst>
      <p:ext uri="{BB962C8B-B14F-4D97-AF65-F5344CB8AC3E}">
        <p14:creationId xmlns:p14="http://schemas.microsoft.com/office/powerpoint/2010/main" val="20065525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5" name="title-3">
            <a:extLst xmlns:a="http://schemas.openxmlformats.org/drawingml/2006/main">
              <a:ext uri="{FF2B5EF4-FFF2-40B4-BE49-F238E27FC236}">
                <a16:creationId xmlns:a16="http://schemas.microsoft.com/office/drawing/2014/main" id="{AF6B43D3-4E94-4E40-90C8-6756946BD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六项计划中，两项完成、一项阻塞</a:t>
            </a:r>
          </a:p>
        </p:txBody>
      </p:sp>
      <p:sp>
        <p:nvSpPr>
          <p:cNvPr id="2" name="subtitle-3">
            <a:extLst xmlns:a="http://schemas.openxmlformats.org/drawingml/2006/main">
              <a:ext uri="{FF2B5EF4-FFF2-40B4-BE49-F238E27FC236}">
                <a16:creationId xmlns:a16="http://schemas.microsoft.com/office/drawing/2014/main" id="{6EF40C50-E5D7-41E7-9ED5-53017423E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71550"/>
            <a:ext cx="11391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4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D6470"/>
                </a:solidFill>
                <a:latin typeface="PingFang SC"/>
                <a:ea typeface="PingFang SC"/>
                <a:cs typeface="PingFang SC"/>
              </a:rPr>
              <a:t>状态来自同一 GitHub Milestone 快照。</a:t>
            </a:r>
          </a:p>
        </p:txBody>
      </p:sp>
      <p:sp>
        <p:nvSpPr>
          <p:cNvPr id="3" name="footer-3">
            <a:extLst xmlns:a="http://schemas.openxmlformats.org/drawingml/2006/main">
              <a:ext uri="{FF2B5EF4-FFF2-40B4-BE49-F238E27FC236}">
                <a16:creationId xmlns:a16="http://schemas.microsoft.com/office/drawing/2014/main" id="{46A1C050-FEAE-4CD9-A31E-77C6DD0D3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47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D6470"/>
                </a:solidFill>
                <a:latin typeface="PingFang SC"/>
                <a:ea typeface="PingFang SC"/>
                <a:cs typeface="PingFang SC"/>
              </a:rPr>
              <a:t>ShopFlow v2.6  |  shopflow-fcbc6c1cd435</a:t>
            </a:r>
          </a:p>
        </p:txBody>
      </p: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73477E09-F7C7-4AE7-9D67-F4F46D982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47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D6470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5" name="header-bg-0-180">
            <a:extLst xmlns:a="http://schemas.openxmlformats.org/drawingml/2006/main">
              <a:ext uri="{FF2B5EF4-FFF2-40B4-BE49-F238E27FC236}">
                <a16:creationId xmlns:a16="http://schemas.microsoft.com/office/drawing/2014/main" id="{C086F0DB-81DD-431A-AE5F-F1F1912EF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14763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header-0-180">
            <a:extLst xmlns:a="http://schemas.openxmlformats.org/drawingml/2006/main">
              <a:ext uri="{FF2B5EF4-FFF2-40B4-BE49-F238E27FC236}">
                <a16:creationId xmlns:a16="http://schemas.microsoft.com/office/drawing/2014/main" id="{7C546174-1751-4D4A-8E86-9A6B4C873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12477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Issue</a:t>
            </a:r>
          </a:p>
        </p:txBody>
      </p:sp>
      <p:sp>
        <p:nvSpPr>
          <p:cNvPr id="7" name="header-bg-1-180">
            <a:extLst xmlns:a="http://schemas.openxmlformats.org/drawingml/2006/main">
              <a:ext uri="{FF2B5EF4-FFF2-40B4-BE49-F238E27FC236}">
                <a16:creationId xmlns:a16="http://schemas.microsoft.com/office/drawing/2014/main" id="{87A68EA9-0088-4AEC-921B-A795766E0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1714500"/>
            <a:ext cx="4476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header-1-180">
            <a:extLst xmlns:a="http://schemas.openxmlformats.org/drawingml/2006/main">
              <a:ext uri="{FF2B5EF4-FFF2-40B4-BE49-F238E27FC236}">
                <a16:creationId xmlns:a16="http://schemas.microsoft.com/office/drawing/2014/main" id="{DBF001BA-3C8B-4DF8-9C4B-A7A4CB430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1809750"/>
            <a:ext cx="424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事项</a:t>
            </a:r>
          </a:p>
        </p:txBody>
      </p:sp>
      <p:sp>
        <p:nvSpPr>
          <p:cNvPr id="9" name="header-bg-2-180">
            <a:extLst xmlns:a="http://schemas.openxmlformats.org/drawingml/2006/main">
              <a:ext uri="{FF2B5EF4-FFF2-40B4-BE49-F238E27FC236}">
                <a16:creationId xmlns:a16="http://schemas.microsoft.com/office/drawing/2014/main" id="{965200D8-8D8E-454A-B410-7114E5847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1714500"/>
            <a:ext cx="1571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header-2-180">
            <a:extLst xmlns:a="http://schemas.openxmlformats.org/drawingml/2006/main">
              <a:ext uri="{FF2B5EF4-FFF2-40B4-BE49-F238E27FC236}">
                <a16:creationId xmlns:a16="http://schemas.microsoft.com/office/drawing/2014/main" id="{82FC9035-A8E8-4FC5-915D-D7783BD11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1809750"/>
            <a:ext cx="13430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状态</a:t>
            </a:r>
          </a:p>
        </p:txBody>
      </p:sp>
      <p:sp>
        <p:nvSpPr>
          <p:cNvPr id="11" name="header-bg-3-180">
            <a:extLst xmlns:a="http://schemas.openxmlformats.org/drawingml/2006/main">
              <a:ext uri="{FF2B5EF4-FFF2-40B4-BE49-F238E27FC236}">
                <a16:creationId xmlns:a16="http://schemas.microsoft.com/office/drawing/2014/main" id="{18B09147-4F1B-4E75-8982-07295D3B0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714500"/>
            <a:ext cx="16668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header-3-180">
            <a:extLst xmlns:a="http://schemas.openxmlformats.org/drawingml/2006/main">
              <a:ext uri="{FF2B5EF4-FFF2-40B4-BE49-F238E27FC236}">
                <a16:creationId xmlns:a16="http://schemas.microsoft.com/office/drawing/2014/main" id="{DE51DB7B-DACF-411B-9D83-AC50C43FF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09750"/>
            <a:ext cx="14382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进度</a:t>
            </a:r>
          </a:p>
        </p:txBody>
      </p:sp>
      <p:sp>
        <p:nvSpPr>
          <p:cNvPr id="13" name="header-bg-4-180">
            <a:extLst xmlns:a="http://schemas.openxmlformats.org/drawingml/2006/main">
              <a:ext uri="{FF2B5EF4-FFF2-40B4-BE49-F238E27FC236}">
                <a16:creationId xmlns:a16="http://schemas.microsoft.com/office/drawing/2014/main" id="{7BD574B5-C0A0-4215-BF7E-9394ADA56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1714500"/>
            <a:ext cx="12858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header-4-180">
            <a:extLst xmlns:a="http://schemas.openxmlformats.org/drawingml/2006/main">
              <a:ext uri="{FF2B5EF4-FFF2-40B4-BE49-F238E27FC236}">
                <a16:creationId xmlns:a16="http://schemas.microsoft.com/office/drawing/2014/main" id="{B92B20A3-9D00-47C5-A89D-920EE2CC5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1809750"/>
            <a:ext cx="10572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优先级</a:t>
            </a:r>
          </a:p>
        </p:txBody>
      </p:sp>
      <p:sp>
        <p:nvSpPr>
          <p:cNvPr id="15" name="cell-bg-0-0-180">
            <a:extLst xmlns:a="http://schemas.openxmlformats.org/drawingml/2006/main">
              <a:ext uri="{FF2B5EF4-FFF2-40B4-BE49-F238E27FC236}">
                <a16:creationId xmlns:a16="http://schemas.microsoft.com/office/drawing/2014/main" id="{108272BF-389F-420F-AC5E-69F5AEE97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05050"/>
            <a:ext cx="14763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16" name="cell-0-0-180">
            <a:extLst xmlns:a="http://schemas.openxmlformats.org/drawingml/2006/main">
              <a:ext uri="{FF2B5EF4-FFF2-40B4-BE49-F238E27FC236}">
                <a16:creationId xmlns:a16="http://schemas.microsoft.com/office/drawing/2014/main" id="{1967AC11-6B86-4113-B666-F4EFD6671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90775"/>
            <a:ext cx="12477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FEAT-101</a:t>
            </a:r>
          </a:p>
        </p:txBody>
      </p:sp>
      <p:sp>
        <p:nvSpPr>
          <p:cNvPr id="17" name="cell-bg-0-1-180">
            <a:extLst xmlns:a="http://schemas.openxmlformats.org/drawingml/2006/main">
              <a:ext uri="{FF2B5EF4-FFF2-40B4-BE49-F238E27FC236}">
                <a16:creationId xmlns:a16="http://schemas.microsoft.com/office/drawing/2014/main" id="{537F0B12-219D-4C66-A059-316939741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2305050"/>
            <a:ext cx="4476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18" name="cell-0-1-180">
            <a:extLst xmlns:a="http://schemas.openxmlformats.org/drawingml/2006/main">
              <a:ext uri="{FF2B5EF4-FFF2-40B4-BE49-F238E27FC236}">
                <a16:creationId xmlns:a16="http://schemas.microsoft.com/office/drawing/2014/main" id="{B7B643E7-9997-41DB-91B4-762CBB996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2390775"/>
            <a:ext cx="4248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新增库存预占与超时释放模块</a:t>
            </a:r>
          </a:p>
        </p:txBody>
      </p:sp>
      <p:sp>
        <p:nvSpPr>
          <p:cNvPr id="19" name="cell-bg-0-2-180">
            <a:extLst xmlns:a="http://schemas.openxmlformats.org/drawingml/2006/main">
              <a:ext uri="{FF2B5EF4-FFF2-40B4-BE49-F238E27FC236}">
                <a16:creationId xmlns:a16="http://schemas.microsoft.com/office/drawing/2014/main" id="{C14CED2A-DAFE-469E-BA3B-B86F2977E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305050"/>
            <a:ext cx="1571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20" name="cell-0-2-180">
            <a:extLst xmlns:a="http://schemas.openxmlformats.org/drawingml/2006/main">
              <a:ext uri="{FF2B5EF4-FFF2-40B4-BE49-F238E27FC236}">
                <a16:creationId xmlns:a16="http://schemas.microsoft.com/office/drawing/2014/main" id="{372C8326-CE49-4862-B462-13857CA3F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390775"/>
            <a:ext cx="13430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已完成</a:t>
            </a:r>
          </a:p>
        </p:txBody>
      </p:sp>
      <p:sp>
        <p:nvSpPr>
          <p:cNvPr id="21" name="cell-bg-0-3-180">
            <a:extLst xmlns:a="http://schemas.openxmlformats.org/drawingml/2006/main">
              <a:ext uri="{FF2B5EF4-FFF2-40B4-BE49-F238E27FC236}">
                <a16:creationId xmlns:a16="http://schemas.microsoft.com/office/drawing/2014/main" id="{ECD42E1A-02AC-4635-A985-07AF28C9A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05050"/>
            <a:ext cx="16668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22" name="cell-0-3-180">
            <a:extLst xmlns:a="http://schemas.openxmlformats.org/drawingml/2006/main">
              <a:ext uri="{FF2B5EF4-FFF2-40B4-BE49-F238E27FC236}">
                <a16:creationId xmlns:a16="http://schemas.microsoft.com/office/drawing/2014/main" id="{72FF0729-6889-4A6B-8B66-FC6F78B64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90775"/>
            <a:ext cx="14382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100%</a:t>
            </a:r>
          </a:p>
        </p:txBody>
      </p:sp>
      <p:sp>
        <p:nvSpPr>
          <p:cNvPr id="23" name="cell-bg-0-4-180">
            <a:extLst xmlns:a="http://schemas.openxmlformats.org/drawingml/2006/main">
              <a:ext uri="{FF2B5EF4-FFF2-40B4-BE49-F238E27FC236}">
                <a16:creationId xmlns:a16="http://schemas.microsoft.com/office/drawing/2014/main" id="{E39836C2-3903-4B93-9D8D-20EB41E41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2305050"/>
            <a:ext cx="12858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24" name="cell-0-4-180">
            <a:extLst xmlns:a="http://schemas.openxmlformats.org/drawingml/2006/main">
              <a:ext uri="{FF2B5EF4-FFF2-40B4-BE49-F238E27FC236}">
                <a16:creationId xmlns:a16="http://schemas.microsoft.com/office/drawing/2014/main" id="{6F6836B3-79EA-4C5E-838A-EE1096D4F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2390775"/>
            <a:ext cx="10572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P0</a:t>
            </a:r>
          </a:p>
        </p:txBody>
      </p:sp>
      <p:sp>
        <p:nvSpPr>
          <p:cNvPr id="25" name="cell-bg-1-0-180">
            <a:extLst xmlns:a="http://schemas.openxmlformats.org/drawingml/2006/main">
              <a:ext uri="{FF2B5EF4-FFF2-40B4-BE49-F238E27FC236}">
                <a16:creationId xmlns:a16="http://schemas.microsoft.com/office/drawing/2014/main" id="{45961D60-5DDB-4CE1-84DB-CE044A329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95600"/>
            <a:ext cx="14763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7E7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26" name="cell-1-0-180">
            <a:extLst xmlns:a="http://schemas.openxmlformats.org/drawingml/2006/main">
              <a:ext uri="{FF2B5EF4-FFF2-40B4-BE49-F238E27FC236}">
                <a16:creationId xmlns:a16="http://schemas.microsoft.com/office/drawing/2014/main" id="{0A8DE7F3-7914-466B-8A05-E61298FC6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81325"/>
            <a:ext cx="12477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BUG-102</a:t>
            </a:r>
          </a:p>
        </p:txBody>
      </p:sp>
      <p:sp>
        <p:nvSpPr>
          <p:cNvPr id="27" name="cell-bg-1-1-180">
            <a:extLst xmlns:a="http://schemas.openxmlformats.org/drawingml/2006/main">
              <a:ext uri="{FF2B5EF4-FFF2-40B4-BE49-F238E27FC236}">
                <a16:creationId xmlns:a16="http://schemas.microsoft.com/office/drawing/2014/main" id="{22A4D2FF-D5FE-4B10-8460-8C50C423B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2895600"/>
            <a:ext cx="4476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7E7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28" name="cell-1-1-180">
            <a:extLst xmlns:a="http://schemas.openxmlformats.org/drawingml/2006/main">
              <a:ext uri="{FF2B5EF4-FFF2-40B4-BE49-F238E27FC236}">
                <a16:creationId xmlns:a16="http://schemas.microsoft.com/office/drawing/2014/main" id="{E55D55C7-5DF8-4BC1-9373-6945FF1DB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2981325"/>
            <a:ext cx="4248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高并发库存预占出现超卖</a:t>
            </a:r>
          </a:p>
        </p:txBody>
      </p:sp>
      <p:sp>
        <p:nvSpPr>
          <p:cNvPr id="29" name="cell-bg-1-2-180">
            <a:extLst xmlns:a="http://schemas.openxmlformats.org/drawingml/2006/main">
              <a:ext uri="{FF2B5EF4-FFF2-40B4-BE49-F238E27FC236}">
                <a16:creationId xmlns:a16="http://schemas.microsoft.com/office/drawing/2014/main" id="{5C018E5B-0E4E-4FEE-B62F-A66138281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895600"/>
            <a:ext cx="1571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7E7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30" name="cell-1-2-180">
            <a:extLst xmlns:a="http://schemas.openxmlformats.org/drawingml/2006/main">
              <a:ext uri="{FF2B5EF4-FFF2-40B4-BE49-F238E27FC236}">
                <a16:creationId xmlns:a16="http://schemas.microsoft.com/office/drawing/2014/main" id="{40376F27-5CC0-4B17-B7FA-D07C3FCEE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981325"/>
            <a:ext cx="13430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23B3B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D23B3B"/>
                </a:solidFill>
                <a:latin typeface="PingFang SC"/>
                <a:ea typeface="PingFang SC"/>
                <a:cs typeface="PingFang SC"/>
              </a:rPr>
              <a:t>阻塞</a:t>
            </a:r>
          </a:p>
        </p:txBody>
      </p:sp>
      <p:sp>
        <p:nvSpPr>
          <p:cNvPr id="31" name="cell-bg-1-3-180">
            <a:extLst xmlns:a="http://schemas.openxmlformats.org/drawingml/2006/main">
              <a:ext uri="{FF2B5EF4-FFF2-40B4-BE49-F238E27FC236}">
                <a16:creationId xmlns:a16="http://schemas.microsoft.com/office/drawing/2014/main" id="{33BA6C36-0CB8-4ABC-9544-28C1B88F9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895600"/>
            <a:ext cx="16668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7E7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32" name="cell-1-3-180">
            <a:extLst xmlns:a="http://schemas.openxmlformats.org/drawingml/2006/main">
              <a:ext uri="{FF2B5EF4-FFF2-40B4-BE49-F238E27FC236}">
                <a16:creationId xmlns:a16="http://schemas.microsoft.com/office/drawing/2014/main" id="{D787B474-F889-4D90-A233-2BE2C3426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81325"/>
            <a:ext cx="14382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45%</a:t>
            </a:r>
          </a:p>
        </p:txBody>
      </p:sp>
      <p:sp>
        <p:nvSpPr>
          <p:cNvPr id="33" name="cell-bg-1-4-180">
            <a:extLst xmlns:a="http://schemas.openxmlformats.org/drawingml/2006/main">
              <a:ext uri="{FF2B5EF4-FFF2-40B4-BE49-F238E27FC236}">
                <a16:creationId xmlns:a16="http://schemas.microsoft.com/office/drawing/2014/main" id="{A1DF011F-33EB-4FB7-BC72-F8A19F4D9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2895600"/>
            <a:ext cx="12858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7E7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34" name="cell-1-4-180">
            <a:extLst xmlns:a="http://schemas.openxmlformats.org/drawingml/2006/main">
              <a:ext uri="{FF2B5EF4-FFF2-40B4-BE49-F238E27FC236}">
                <a16:creationId xmlns:a16="http://schemas.microsoft.com/office/drawing/2014/main" id="{77F58FDD-5846-435F-9736-1595C6F07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2981325"/>
            <a:ext cx="10572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P0</a:t>
            </a:r>
          </a:p>
        </p:txBody>
      </p:sp>
      <p:sp>
        <p:nvSpPr>
          <p:cNvPr id="35" name="cell-bg-2-0-180">
            <a:extLst xmlns:a="http://schemas.openxmlformats.org/drawingml/2006/main">
              <a:ext uri="{FF2B5EF4-FFF2-40B4-BE49-F238E27FC236}">
                <a16:creationId xmlns:a16="http://schemas.microsoft.com/office/drawing/2014/main" id="{5C7686D6-ED2C-439A-87DC-8768036FE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86150"/>
            <a:ext cx="14763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36" name="cell-2-0-180">
            <a:extLst xmlns:a="http://schemas.openxmlformats.org/drawingml/2006/main">
              <a:ext uri="{FF2B5EF4-FFF2-40B4-BE49-F238E27FC236}">
                <a16:creationId xmlns:a16="http://schemas.microsoft.com/office/drawing/2014/main" id="{36E4381A-28AF-4C69-A33F-1BCCF3BE9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71875"/>
            <a:ext cx="12477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BUG-103</a:t>
            </a:r>
          </a:p>
        </p:txBody>
      </p:sp>
      <p:sp>
        <p:nvSpPr>
          <p:cNvPr id="37" name="cell-bg-2-1-180">
            <a:extLst xmlns:a="http://schemas.openxmlformats.org/drawingml/2006/main">
              <a:ext uri="{FF2B5EF4-FFF2-40B4-BE49-F238E27FC236}">
                <a16:creationId xmlns:a16="http://schemas.microsoft.com/office/drawing/2014/main" id="{CF6B6456-B774-4C67-ADBC-C048D51D2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3486150"/>
            <a:ext cx="4476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38" name="cell-2-1-180">
            <a:extLst xmlns:a="http://schemas.openxmlformats.org/drawingml/2006/main">
              <a:ext uri="{FF2B5EF4-FFF2-40B4-BE49-F238E27FC236}">
                <a16:creationId xmlns:a16="http://schemas.microsoft.com/office/drawing/2014/main" id="{1195F2A2-D5CA-4A8D-8286-F1F2B7578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3571875"/>
            <a:ext cx="4248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取消订单后库存未完全释放</a:t>
            </a:r>
          </a:p>
        </p:txBody>
      </p:sp>
      <p:sp>
        <p:nvSpPr>
          <p:cNvPr id="39" name="cell-bg-2-2-180">
            <a:extLst xmlns:a="http://schemas.openxmlformats.org/drawingml/2006/main">
              <a:ext uri="{FF2B5EF4-FFF2-40B4-BE49-F238E27FC236}">
                <a16:creationId xmlns:a16="http://schemas.microsoft.com/office/drawing/2014/main" id="{81D2C8FB-2FB7-462C-90DE-D63CC93F8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486150"/>
            <a:ext cx="1571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40" name="cell-2-2-180">
            <a:extLst xmlns:a="http://schemas.openxmlformats.org/drawingml/2006/main">
              <a:ext uri="{FF2B5EF4-FFF2-40B4-BE49-F238E27FC236}">
                <a16:creationId xmlns:a16="http://schemas.microsoft.com/office/drawing/2014/main" id="{2503C76A-B145-474F-AF61-E1827DAC9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3571875"/>
            <a:ext cx="13430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已完成</a:t>
            </a:r>
          </a:p>
        </p:txBody>
      </p:sp>
      <p:sp>
        <p:nvSpPr>
          <p:cNvPr id="41" name="cell-bg-2-3-180">
            <a:extLst xmlns:a="http://schemas.openxmlformats.org/drawingml/2006/main">
              <a:ext uri="{FF2B5EF4-FFF2-40B4-BE49-F238E27FC236}">
                <a16:creationId xmlns:a16="http://schemas.microsoft.com/office/drawing/2014/main" id="{D192B0D3-79D1-431A-8539-4487EA61A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486150"/>
            <a:ext cx="16668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42" name="cell-2-3-180">
            <a:extLst xmlns:a="http://schemas.openxmlformats.org/drawingml/2006/main">
              <a:ext uri="{FF2B5EF4-FFF2-40B4-BE49-F238E27FC236}">
                <a16:creationId xmlns:a16="http://schemas.microsoft.com/office/drawing/2014/main" id="{A3C453BF-ED75-4EEA-99A9-FC21DBE4F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571875"/>
            <a:ext cx="14382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100%</a:t>
            </a:r>
          </a:p>
        </p:txBody>
      </p:sp>
      <p:sp>
        <p:nvSpPr>
          <p:cNvPr id="43" name="cell-bg-2-4-180">
            <a:extLst xmlns:a="http://schemas.openxmlformats.org/drawingml/2006/main">
              <a:ext uri="{FF2B5EF4-FFF2-40B4-BE49-F238E27FC236}">
                <a16:creationId xmlns:a16="http://schemas.microsoft.com/office/drawing/2014/main" id="{F13F9C50-06EF-493E-9102-F0141BA32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3486150"/>
            <a:ext cx="12858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44" name="cell-2-4-180">
            <a:extLst xmlns:a="http://schemas.openxmlformats.org/drawingml/2006/main">
              <a:ext uri="{FF2B5EF4-FFF2-40B4-BE49-F238E27FC236}">
                <a16:creationId xmlns:a16="http://schemas.microsoft.com/office/drawing/2014/main" id="{640A0D10-57D0-4E4D-9FBD-69C55504B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3571875"/>
            <a:ext cx="10572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P1</a:t>
            </a:r>
          </a:p>
        </p:txBody>
      </p:sp>
      <p:sp>
        <p:nvSpPr>
          <p:cNvPr id="45" name="cell-bg-3-0-180">
            <a:extLst xmlns:a="http://schemas.openxmlformats.org/drawingml/2006/main">
              <a:ext uri="{FF2B5EF4-FFF2-40B4-BE49-F238E27FC236}">
                <a16:creationId xmlns:a16="http://schemas.microsoft.com/office/drawing/2014/main" id="{45B3BAA6-2A59-4E80-9A60-D27BADBBA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76700"/>
            <a:ext cx="14763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46" name="cell-3-0-180">
            <a:extLst xmlns:a="http://schemas.openxmlformats.org/drawingml/2006/main">
              <a:ext uri="{FF2B5EF4-FFF2-40B4-BE49-F238E27FC236}">
                <a16:creationId xmlns:a16="http://schemas.microsoft.com/office/drawing/2014/main" id="{AA0F9FC5-B9E6-419D-B4D9-A513C3D52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62425"/>
            <a:ext cx="12477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PERF-104</a:t>
            </a:r>
          </a:p>
        </p:txBody>
      </p:sp>
      <p:sp>
        <p:nvSpPr>
          <p:cNvPr id="47" name="cell-bg-3-1-180">
            <a:extLst xmlns:a="http://schemas.openxmlformats.org/drawingml/2006/main">
              <a:ext uri="{FF2B5EF4-FFF2-40B4-BE49-F238E27FC236}">
                <a16:creationId xmlns:a16="http://schemas.microsoft.com/office/drawing/2014/main" id="{6CB8CB52-7F05-4141-B814-470DF9C42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4076700"/>
            <a:ext cx="4476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48" name="cell-3-1-180">
            <a:extLst xmlns:a="http://schemas.openxmlformats.org/drawingml/2006/main">
              <a:ext uri="{FF2B5EF4-FFF2-40B4-BE49-F238E27FC236}">
                <a16:creationId xmlns:a16="http://schemas.microsoft.com/office/drawing/2014/main" id="{85E30C50-ADD8-45CD-B133-C3FD10405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4162425"/>
            <a:ext cx="4248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购物车批量库存校验存在 N+1 查询</a:t>
            </a:r>
          </a:p>
        </p:txBody>
      </p:sp>
      <p:sp>
        <p:nvSpPr>
          <p:cNvPr id="49" name="cell-bg-3-2-180">
            <a:extLst xmlns:a="http://schemas.openxmlformats.org/drawingml/2006/main">
              <a:ext uri="{FF2B5EF4-FFF2-40B4-BE49-F238E27FC236}">
                <a16:creationId xmlns:a16="http://schemas.microsoft.com/office/drawing/2014/main" id="{69510C78-108B-441B-B05D-6639F0725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076700"/>
            <a:ext cx="1571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50" name="cell-3-2-180">
            <a:extLst xmlns:a="http://schemas.openxmlformats.org/drawingml/2006/main">
              <a:ext uri="{FF2B5EF4-FFF2-40B4-BE49-F238E27FC236}">
                <a16:creationId xmlns:a16="http://schemas.microsoft.com/office/drawing/2014/main" id="{B522ACD6-2D7B-4137-83E4-A9B021136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4162425"/>
            <a:ext cx="13430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审查中</a:t>
            </a:r>
          </a:p>
        </p:txBody>
      </p:sp>
      <p:sp>
        <p:nvSpPr>
          <p:cNvPr id="51" name="cell-bg-3-3-180">
            <a:extLst xmlns:a="http://schemas.openxmlformats.org/drawingml/2006/main">
              <a:ext uri="{FF2B5EF4-FFF2-40B4-BE49-F238E27FC236}">
                <a16:creationId xmlns:a16="http://schemas.microsoft.com/office/drawing/2014/main" id="{D53AF6F3-6588-49B8-BDB7-1CFDD934B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076700"/>
            <a:ext cx="16668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52" name="cell-3-3-180">
            <a:extLst xmlns:a="http://schemas.openxmlformats.org/drawingml/2006/main">
              <a:ext uri="{FF2B5EF4-FFF2-40B4-BE49-F238E27FC236}">
                <a16:creationId xmlns:a16="http://schemas.microsoft.com/office/drawing/2014/main" id="{1EBAC893-E97E-4604-B8D9-D685CF0D1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162425"/>
            <a:ext cx="14382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90%</a:t>
            </a:r>
          </a:p>
        </p:txBody>
      </p:sp>
      <p:sp>
        <p:nvSpPr>
          <p:cNvPr id="53" name="cell-bg-3-4-180">
            <a:extLst xmlns:a="http://schemas.openxmlformats.org/drawingml/2006/main">
              <a:ext uri="{FF2B5EF4-FFF2-40B4-BE49-F238E27FC236}">
                <a16:creationId xmlns:a16="http://schemas.microsoft.com/office/drawing/2014/main" id="{043A9F3E-3A88-4624-8A1D-43ED3DA47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4076700"/>
            <a:ext cx="12858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54" name="cell-3-4-180">
            <a:extLst xmlns:a="http://schemas.openxmlformats.org/drawingml/2006/main">
              <a:ext uri="{FF2B5EF4-FFF2-40B4-BE49-F238E27FC236}">
                <a16:creationId xmlns:a16="http://schemas.microsoft.com/office/drawing/2014/main" id="{0E181EFF-02F4-4C70-8B0B-6F0758E47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4162425"/>
            <a:ext cx="10572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P1</a:t>
            </a:r>
          </a:p>
        </p:txBody>
      </p:sp>
      <p:sp>
        <p:nvSpPr>
          <p:cNvPr id="55" name="cell-bg-4-0-180">
            <a:extLst xmlns:a="http://schemas.openxmlformats.org/drawingml/2006/main">
              <a:ext uri="{FF2B5EF4-FFF2-40B4-BE49-F238E27FC236}">
                <a16:creationId xmlns:a16="http://schemas.microsoft.com/office/drawing/2014/main" id="{AA8F1F84-97F8-490D-99F9-AD52D7E03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67250"/>
            <a:ext cx="14763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56" name="cell-4-0-180">
            <a:extLst xmlns:a="http://schemas.openxmlformats.org/drawingml/2006/main">
              <a:ext uri="{FF2B5EF4-FFF2-40B4-BE49-F238E27FC236}">
                <a16:creationId xmlns:a16="http://schemas.microsoft.com/office/drawing/2014/main" id="{E12A131A-CCF3-40B4-BF80-EC5FAB725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52975"/>
            <a:ext cx="12477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SEC-105</a:t>
            </a:r>
          </a:p>
        </p:txBody>
      </p:sp>
      <p:sp>
        <p:nvSpPr>
          <p:cNvPr id="57" name="cell-bg-4-1-180">
            <a:extLst xmlns:a="http://schemas.openxmlformats.org/drawingml/2006/main">
              <a:ext uri="{FF2B5EF4-FFF2-40B4-BE49-F238E27FC236}">
                <a16:creationId xmlns:a16="http://schemas.microsoft.com/office/drawing/2014/main" id="{F2DE0FF0-3C71-499B-A828-C49770E26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4667250"/>
            <a:ext cx="4476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58" name="cell-4-1-180">
            <a:extLst xmlns:a="http://schemas.openxmlformats.org/drawingml/2006/main">
              <a:ext uri="{FF2B5EF4-FFF2-40B4-BE49-F238E27FC236}">
                <a16:creationId xmlns:a16="http://schemas.microsoft.com/office/drawing/2014/main" id="{6DAF32AA-65F7-4761-A2D3-79D64F283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4752975"/>
            <a:ext cx="4248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后台人工调整库存缺少权限与审计校验</a:t>
            </a:r>
          </a:p>
        </p:txBody>
      </p:sp>
      <p:sp>
        <p:nvSpPr>
          <p:cNvPr id="59" name="cell-bg-4-2-180">
            <a:extLst xmlns:a="http://schemas.openxmlformats.org/drawingml/2006/main">
              <a:ext uri="{FF2B5EF4-FFF2-40B4-BE49-F238E27FC236}">
                <a16:creationId xmlns:a16="http://schemas.microsoft.com/office/drawing/2014/main" id="{28751505-0ED1-4968-A999-6AD31A8B0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667250"/>
            <a:ext cx="1571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60" name="cell-4-2-180">
            <a:extLst xmlns:a="http://schemas.openxmlformats.org/drawingml/2006/main">
              <a:ext uri="{FF2B5EF4-FFF2-40B4-BE49-F238E27FC236}">
                <a16:creationId xmlns:a16="http://schemas.microsoft.com/office/drawing/2014/main" id="{26649780-4B9E-41B6-AA04-3EE6B1609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4752975"/>
            <a:ext cx="13430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待开始</a:t>
            </a:r>
          </a:p>
        </p:txBody>
      </p:sp>
      <p:sp>
        <p:nvSpPr>
          <p:cNvPr id="61" name="cell-bg-4-3-180">
            <a:extLst xmlns:a="http://schemas.openxmlformats.org/drawingml/2006/main">
              <a:ext uri="{FF2B5EF4-FFF2-40B4-BE49-F238E27FC236}">
                <a16:creationId xmlns:a16="http://schemas.microsoft.com/office/drawing/2014/main" id="{FCDF60A2-2FF0-4722-91A2-5968FEE5B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667250"/>
            <a:ext cx="16668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62" name="cell-4-3-180">
            <a:extLst xmlns:a="http://schemas.openxmlformats.org/drawingml/2006/main">
              <a:ext uri="{FF2B5EF4-FFF2-40B4-BE49-F238E27FC236}">
                <a16:creationId xmlns:a16="http://schemas.microsoft.com/office/drawing/2014/main" id="{BE774B7B-C333-4DCA-A481-04A7BA6C3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752975"/>
            <a:ext cx="14382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0%</a:t>
            </a:r>
          </a:p>
        </p:txBody>
      </p:sp>
      <p:sp>
        <p:nvSpPr>
          <p:cNvPr id="63" name="cell-bg-4-4-180">
            <a:extLst xmlns:a="http://schemas.openxmlformats.org/drawingml/2006/main">
              <a:ext uri="{FF2B5EF4-FFF2-40B4-BE49-F238E27FC236}">
                <a16:creationId xmlns:a16="http://schemas.microsoft.com/office/drawing/2014/main" id="{FA5509EE-09A4-42BE-8204-CB4E7B019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4667250"/>
            <a:ext cx="12858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64" name="cell-4-4-180">
            <a:extLst xmlns:a="http://schemas.openxmlformats.org/drawingml/2006/main">
              <a:ext uri="{FF2B5EF4-FFF2-40B4-BE49-F238E27FC236}">
                <a16:creationId xmlns:a16="http://schemas.microsoft.com/office/drawing/2014/main" id="{F065E117-FE45-4039-8A34-D60870B6C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4752975"/>
            <a:ext cx="10572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P1</a:t>
            </a:r>
          </a:p>
        </p:txBody>
      </p:sp>
    </p:spTree>
    <p:extLst>
      <p:ext uri="{BB962C8B-B14F-4D97-AF65-F5344CB8AC3E}">
        <p14:creationId xmlns:p14="http://schemas.microsoft.com/office/powerpoint/2010/main" val="6453824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le-4">
            <a:extLst xmlns:a="http://schemas.openxmlformats.org/drawingml/2006/main">
              <a:ext uri="{FF2B5EF4-FFF2-40B4-BE49-F238E27FC236}">
                <a16:creationId xmlns:a16="http://schemas.microsoft.com/office/drawing/2014/main" id="{836237A4-F51D-4F12-BB9C-71253759B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首次修复只锁写入，仍未关闭并发竞态</a:t>
            </a:r>
          </a:p>
        </p:txBody>
      </p:sp>
      <p:sp>
        <p:nvSpPr>
          <p:cNvPr id="2" name="subtitle-4">
            <a:extLst xmlns:a="http://schemas.openxmlformats.org/drawingml/2006/main">
              <a:ext uri="{FF2B5EF4-FFF2-40B4-BE49-F238E27FC236}">
                <a16:creationId xmlns:a16="http://schemas.microsoft.com/office/drawing/2014/main" id="{01D27699-414D-43B5-92F3-A26F71AEF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71550"/>
            <a:ext cx="11391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4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D6470"/>
                </a:solidFill>
                <a:latin typeface="PingFang SC"/>
                <a:ea typeface="PingFang SC"/>
                <a:cs typeface="PingFang SC"/>
              </a:rPr>
              <a:t>BUG-102 / PR #9 / changes requested</a:t>
            </a:r>
          </a:p>
        </p:txBody>
      </p:sp>
      <p:sp>
        <p:nvSpPr>
          <p:cNvPr id="3" name="footer-4">
            <a:extLst xmlns:a="http://schemas.openxmlformats.org/drawingml/2006/main">
              <a:ext uri="{FF2B5EF4-FFF2-40B4-BE49-F238E27FC236}">
                <a16:creationId xmlns:a16="http://schemas.microsoft.com/office/drawing/2014/main" id="{8BEEA030-6AD9-435F-983C-50DDEE757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47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D6470"/>
                </a:solidFill>
                <a:latin typeface="PingFang SC"/>
                <a:ea typeface="PingFang SC"/>
                <a:cs typeface="PingFang SC"/>
              </a:rPr>
              <a:t>ShopFlow v2.6  |  shopflow-fcbc6c1cd435</a:t>
            </a:r>
          </a:p>
        </p:txBody>
      </p:sp>
      <p:sp>
        <p:nvSpPr>
          <p:cNvPr id="4" name="page-4">
            <a:extLst xmlns:a="http://schemas.openxmlformats.org/drawingml/2006/main">
              <a:ext uri="{FF2B5EF4-FFF2-40B4-BE49-F238E27FC236}">
                <a16:creationId xmlns:a16="http://schemas.microsoft.com/office/drawing/2014/main" id="{76D12270-3DA3-4F9A-98DF-9A626A6F5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47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D6470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5" name="bug-left">
            <a:extLst xmlns:a="http://schemas.openxmlformats.org/drawingml/2006/main">
              <a:ext uri="{FF2B5EF4-FFF2-40B4-BE49-F238E27FC236}">
                <a16:creationId xmlns:a16="http://schemas.microsoft.com/office/drawing/2014/main" id="{B2A9286E-9DED-4314-BE6B-494DF9884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67246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bug-code-title">
            <a:extLst xmlns:a="http://schemas.openxmlformats.org/drawingml/2006/main">
              <a:ext uri="{FF2B5EF4-FFF2-40B4-BE49-F238E27FC236}">
                <a16:creationId xmlns:a16="http://schemas.microsoft.com/office/drawing/2014/main" id="{02E0006A-C681-4F0E-87F3-6EF2A3E49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失败证据</a:t>
            </a:r>
          </a:p>
        </p:txBody>
      </p:sp>
      <p:sp>
        <p:nvSpPr>
          <p:cNvPr id="7" name="bug-code">
            <a:extLst xmlns:a="http://schemas.openxmlformats.org/drawingml/2006/main">
              <a:ext uri="{FF2B5EF4-FFF2-40B4-BE49-F238E27FC236}">
                <a16:creationId xmlns:a16="http://schemas.microsoft.com/office/drawing/2014/main" id="{8D5D9FBF-F20D-49F2-BC6B-2FF129F8F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6096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分支    scenario/bug-102-first-attempt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SHA     c6db6785fe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模块    inventory-reservation / quality-gates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Diff    +34 / -7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检查    bug-102-regression: failure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断言    expected available=0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        actual available=-1</a:t>
            </a:r>
          </a:p>
        </p:txBody>
      </p:sp>
      <p:sp>
        <p:nvSpPr>
          <p:cNvPr id="8" name="bug-risk">
            <a:extLst xmlns:a="http://schemas.openxmlformats.org/drawingml/2006/main">
              <a:ext uri="{FF2B5EF4-FFF2-40B4-BE49-F238E27FC236}">
                <a16:creationId xmlns:a16="http://schemas.microsoft.com/office/drawing/2014/main" id="{8E26CE9B-F21F-4A20-8F51-6CEE407F1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1714500"/>
            <a:ext cx="428625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7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ug-risk-title">
            <a:extLst xmlns:a="http://schemas.openxmlformats.org/drawingml/2006/main">
              <a:ext uri="{FF2B5EF4-FFF2-40B4-BE49-F238E27FC236}">
                <a16:creationId xmlns:a16="http://schemas.microsoft.com/office/drawing/2014/main" id="{52045425-1531-4818-B9B8-D4878FC71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00025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23B3B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D23B3B"/>
                </a:solidFill>
                <a:latin typeface="PingFang SC"/>
                <a:ea typeface="PingFang SC"/>
                <a:cs typeface="PingFang SC"/>
              </a:rPr>
              <a:t>风险判断</a:t>
            </a:r>
          </a:p>
        </p:txBody>
      </p:sp>
      <p:sp>
        <p:nvSpPr>
          <p:cNvPr id="10" name="bug-risk-body">
            <a:extLst xmlns:a="http://schemas.openxmlformats.org/drawingml/2006/main">
              <a:ext uri="{FF2B5EF4-FFF2-40B4-BE49-F238E27FC236}">
                <a16:creationId xmlns:a16="http://schemas.microsoft.com/office/drawing/2014/main" id="{4FF2DDB4-BEBC-4150-95DC-051C4DCEF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533650"/>
            <a:ext cx="371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余量校验仍在锁外，两个请求可以读取同一份库存。当前修改不能通过发布门禁。</a:t>
            </a:r>
          </a:p>
        </p:txBody>
      </p:sp>
      <p:sp>
        <p:nvSpPr>
          <p:cNvPr id="11" name="bug-action-title">
            <a:extLst xmlns:a="http://schemas.openxmlformats.org/drawingml/2006/main">
              <a:ext uri="{FF2B5EF4-FFF2-40B4-BE49-F238E27FC236}">
                <a16:creationId xmlns:a16="http://schemas.microsoft.com/office/drawing/2014/main" id="{4DF404CA-41A4-46A9-9CC3-CA5754912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84810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下一步</a:t>
            </a:r>
          </a:p>
        </p:txBody>
      </p:sp>
      <p:sp>
        <p:nvSpPr>
          <p:cNvPr id="12" name="bug-action-body">
            <a:extLst xmlns:a="http://schemas.openxmlformats.org/drawingml/2006/main">
              <a:ext uri="{FF2B5EF4-FFF2-40B4-BE49-F238E27FC236}">
                <a16:creationId xmlns:a16="http://schemas.microsoft.com/office/drawing/2014/main" id="{2E395779-8029-4B1B-9450-A824B5A8D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381500"/>
            <a:ext cx="4286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1. 将校验与写入纳入同一原子边界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2. 保留订单 ID 幂等约束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3. 让并发回归进入发布门禁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4. 由库存一致性专家复核方案</a:t>
            </a:r>
          </a:p>
        </p:txBody>
      </p:sp>
    </p:spTree>
    <p:extLst>
      <p:ext uri="{BB962C8B-B14F-4D97-AF65-F5344CB8AC3E}">
        <p14:creationId xmlns:p14="http://schemas.microsoft.com/office/powerpoint/2010/main" val="81273184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title-5">
            <a:extLst xmlns:a="http://schemas.openxmlformats.org/drawingml/2006/main">
              <a:ext uri="{FF2B5EF4-FFF2-40B4-BE49-F238E27FC236}">
                <a16:creationId xmlns:a16="http://schemas.microsoft.com/office/drawing/2014/main" id="{B17FA513-02CA-48AF-B8CD-D00B917CF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三条开发线影响库存核心链路，一条改动脱离计划</a:t>
            </a:r>
          </a:p>
        </p:txBody>
      </p:sp>
      <p:sp>
        <p:nvSpPr>
          <p:cNvPr id="2" name="subtitle-5">
            <a:extLst xmlns:a="http://schemas.openxmlformats.org/drawingml/2006/main">
              <a:ext uri="{FF2B5EF4-FFF2-40B4-BE49-F238E27FC236}">
                <a16:creationId xmlns:a16="http://schemas.microsoft.com/office/drawing/2014/main" id="{D185E6BC-A014-481C-8047-6F645A038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71550"/>
            <a:ext cx="11391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4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D6470"/>
                </a:solidFill>
                <a:latin typeface="PingFang SC"/>
                <a:ea typeface="PingFang SC"/>
                <a:cs typeface="PingFang SC"/>
              </a:rPr>
              <a:t>代码变化按 PR 与 Git ref 归因。</a:t>
            </a:r>
          </a:p>
        </p:txBody>
      </p:sp>
      <p:sp>
        <p:nvSpPr>
          <p:cNvPr id="3" name="footer-5">
            <a:extLst xmlns:a="http://schemas.openxmlformats.org/drawingml/2006/main">
              <a:ext uri="{FF2B5EF4-FFF2-40B4-BE49-F238E27FC236}">
                <a16:creationId xmlns:a16="http://schemas.microsoft.com/office/drawing/2014/main" id="{7B8CC345-1E96-46FA-8149-D9AE13EBE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47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D6470"/>
                </a:solidFill>
                <a:latin typeface="PingFang SC"/>
                <a:ea typeface="PingFang SC"/>
                <a:cs typeface="PingFang SC"/>
              </a:rPr>
              <a:t>ShopFlow v2.6  |  shopflow-fcbc6c1cd435</a:t>
            </a:r>
          </a:p>
        </p:txBody>
      </p:sp>
      <p:sp>
        <p:nvSpPr>
          <p:cNvPr id="4" name="page-5">
            <a:extLst xmlns:a="http://schemas.openxmlformats.org/drawingml/2006/main">
              <a:ext uri="{FF2B5EF4-FFF2-40B4-BE49-F238E27FC236}">
                <a16:creationId xmlns:a16="http://schemas.microsoft.com/office/drawing/2014/main" id="{D5C480D0-CDCE-42E5-8CD1-EB715AFF6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47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D6470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5" name="impact-head-bg-0">
            <a:extLst xmlns:a="http://schemas.openxmlformats.org/drawingml/2006/main">
              <a:ext uri="{FF2B5EF4-FFF2-40B4-BE49-F238E27FC236}">
                <a16:creationId xmlns:a16="http://schemas.microsoft.com/office/drawing/2014/main" id="{4A4E4C31-DBC7-4D28-BC8B-345E71296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impact-head-0">
            <a:extLst xmlns:a="http://schemas.openxmlformats.org/drawingml/2006/main">
              <a:ext uri="{FF2B5EF4-FFF2-40B4-BE49-F238E27FC236}">
                <a16:creationId xmlns:a16="http://schemas.microsoft.com/office/drawing/2014/main" id="{04B00B00-0155-461B-AB21-06ADBAE9C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28800"/>
            <a:ext cx="1390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变更</a:t>
            </a:r>
          </a:p>
        </p:txBody>
      </p:sp>
      <p:sp>
        <p:nvSpPr>
          <p:cNvPr id="7" name="impact-head-bg-1">
            <a:extLst xmlns:a="http://schemas.openxmlformats.org/drawingml/2006/main">
              <a:ext uri="{FF2B5EF4-FFF2-40B4-BE49-F238E27FC236}">
                <a16:creationId xmlns:a16="http://schemas.microsoft.com/office/drawing/2014/main" id="{3235C0D5-F4FA-431C-824F-D954A0649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1714500"/>
            <a:ext cx="4476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impact-head-1">
            <a:extLst xmlns:a="http://schemas.openxmlformats.org/drawingml/2006/main">
              <a:ext uri="{FF2B5EF4-FFF2-40B4-BE49-F238E27FC236}">
                <a16:creationId xmlns:a16="http://schemas.microsoft.com/office/drawing/2014/main" id="{F1788944-C8A6-495A-AA3F-A2D4A5E41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828800"/>
            <a:ext cx="424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目的</a:t>
            </a:r>
          </a:p>
        </p:txBody>
      </p:sp>
      <p:sp>
        <p:nvSpPr>
          <p:cNvPr id="9" name="impact-head-bg-2">
            <a:extLst xmlns:a="http://schemas.openxmlformats.org/drawingml/2006/main">
              <a:ext uri="{FF2B5EF4-FFF2-40B4-BE49-F238E27FC236}">
                <a16:creationId xmlns:a16="http://schemas.microsoft.com/office/drawing/2014/main" id="{3A9016BE-FEE6-499C-9F95-1CAF4D83F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14500"/>
            <a:ext cx="342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impact-head-2">
            <a:extLst xmlns:a="http://schemas.openxmlformats.org/drawingml/2006/main">
              <a:ext uri="{FF2B5EF4-FFF2-40B4-BE49-F238E27FC236}">
                <a16:creationId xmlns:a16="http://schemas.microsoft.com/office/drawing/2014/main" id="{8F5019D8-EBED-4FD0-A2FA-6A95323D7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828800"/>
            <a:ext cx="320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影响模块</a:t>
            </a:r>
          </a:p>
        </p:txBody>
      </p:sp>
      <p:sp>
        <p:nvSpPr>
          <p:cNvPr id="11" name="impact-head-bg-3">
            <a:extLst xmlns:a="http://schemas.openxmlformats.org/drawingml/2006/main">
              <a:ext uri="{FF2B5EF4-FFF2-40B4-BE49-F238E27FC236}">
                <a16:creationId xmlns:a16="http://schemas.microsoft.com/office/drawing/2014/main" id="{16FF2EA1-9A35-49B9-B1B2-329EAD4F8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714500"/>
            <a:ext cx="1866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impact-head-3">
            <a:extLst xmlns:a="http://schemas.openxmlformats.org/drawingml/2006/main">
              <a:ext uri="{FF2B5EF4-FFF2-40B4-BE49-F238E27FC236}">
                <a16:creationId xmlns:a16="http://schemas.microsoft.com/office/drawing/2014/main" id="{BD5771BF-6300-4E15-A93E-2A01C69CF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1828800"/>
            <a:ext cx="163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结论</a:t>
            </a:r>
          </a:p>
        </p:txBody>
      </p:sp>
      <p:sp>
        <p:nvSpPr>
          <p:cNvPr id="13" name="impact-bg-0-0">
            <a:extLst xmlns:a="http://schemas.openxmlformats.org/drawingml/2006/main">
              <a:ext uri="{FF2B5EF4-FFF2-40B4-BE49-F238E27FC236}">
                <a16:creationId xmlns:a16="http://schemas.microsoft.com/office/drawing/2014/main" id="{58A9663D-CE3B-4F10-B3DA-E26B771A4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66950"/>
            <a:ext cx="1619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C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14" name="impact-0-0">
            <a:extLst xmlns:a="http://schemas.openxmlformats.org/drawingml/2006/main">
              <a:ext uri="{FF2B5EF4-FFF2-40B4-BE49-F238E27FC236}">
                <a16:creationId xmlns:a16="http://schemas.microsoft.com/office/drawing/2014/main" id="{5709CD5D-44A7-4E15-B48C-0E998825F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0"/>
            <a:ext cx="1390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PR #9</a:t>
            </a:r>
          </a:p>
        </p:txBody>
      </p:sp>
      <p:sp>
        <p:nvSpPr>
          <p:cNvPr id="15" name="impact-bg-0-1">
            <a:extLst xmlns:a="http://schemas.openxmlformats.org/drawingml/2006/main">
              <a:ext uri="{FF2B5EF4-FFF2-40B4-BE49-F238E27FC236}">
                <a16:creationId xmlns:a16="http://schemas.microsoft.com/office/drawing/2014/main" id="{B93398B8-DE71-41B4-AE99-CC8080770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266950"/>
            <a:ext cx="4476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C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16" name="impact-0-1">
            <a:extLst xmlns:a="http://schemas.openxmlformats.org/drawingml/2006/main">
              <a:ext uri="{FF2B5EF4-FFF2-40B4-BE49-F238E27FC236}">
                <a16:creationId xmlns:a16="http://schemas.microsoft.com/office/drawing/2014/main" id="{2DA54FF6-25CA-413A-B067-8B2A7CE8B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381250"/>
            <a:ext cx="4248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fix: serialize reservation writes for BUG-102</a:t>
            </a:r>
          </a:p>
        </p:txBody>
      </p:sp>
      <p:sp>
        <p:nvSpPr>
          <p:cNvPr id="17" name="impact-bg-0-2">
            <a:extLst xmlns:a="http://schemas.openxmlformats.org/drawingml/2006/main">
              <a:ext uri="{FF2B5EF4-FFF2-40B4-BE49-F238E27FC236}">
                <a16:creationId xmlns:a16="http://schemas.microsoft.com/office/drawing/2014/main" id="{018E3229-07D8-4C8C-B729-1C30FDDA6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266950"/>
            <a:ext cx="3429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C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18" name="impact-0-2">
            <a:extLst xmlns:a="http://schemas.openxmlformats.org/drawingml/2006/main">
              <a:ext uri="{FF2B5EF4-FFF2-40B4-BE49-F238E27FC236}">
                <a16:creationId xmlns:a16="http://schemas.microsoft.com/office/drawing/2014/main" id="{8B6E5C68-5F7C-41BF-A17C-610F20639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381250"/>
            <a:ext cx="320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inventory-reservation / quality-gates</a:t>
            </a:r>
          </a:p>
        </p:txBody>
      </p:sp>
      <p:sp>
        <p:nvSpPr>
          <p:cNvPr id="19" name="impact-bg-0-3">
            <a:extLst xmlns:a="http://schemas.openxmlformats.org/drawingml/2006/main">
              <a:ext uri="{FF2B5EF4-FFF2-40B4-BE49-F238E27FC236}">
                <a16:creationId xmlns:a16="http://schemas.microsoft.com/office/drawing/2014/main" id="{B6607C82-BC8C-4654-8D17-994CD57BA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266950"/>
            <a:ext cx="18669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C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20" name="impact-0-3">
            <a:extLst xmlns:a="http://schemas.openxmlformats.org/drawingml/2006/main">
              <a:ext uri="{FF2B5EF4-FFF2-40B4-BE49-F238E27FC236}">
                <a16:creationId xmlns:a16="http://schemas.microsoft.com/office/drawing/2014/main" id="{5A4926CA-7E38-43A5-9AD6-D9452BB8C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381250"/>
            <a:ext cx="1638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23B3B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D23B3B"/>
                </a:solidFill>
                <a:latin typeface="PingFang SC"/>
                <a:ea typeface="PingFang SC"/>
                <a:cs typeface="PingFang SC"/>
              </a:rPr>
              <a:t>检查失败</a:t>
            </a:r>
          </a:p>
        </p:txBody>
      </p:sp>
      <p:sp>
        <p:nvSpPr>
          <p:cNvPr id="21" name="impact-bg-1-0">
            <a:extLst xmlns:a="http://schemas.openxmlformats.org/drawingml/2006/main">
              <a:ext uri="{FF2B5EF4-FFF2-40B4-BE49-F238E27FC236}">
                <a16:creationId xmlns:a16="http://schemas.microsoft.com/office/drawing/2014/main" id="{3B3E17F3-A4F1-4459-92D1-0CBE61026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0"/>
            <a:ext cx="1619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22" name="impact-1-0">
            <a:extLst xmlns:a="http://schemas.openxmlformats.org/drawingml/2006/main">
              <a:ext uri="{FF2B5EF4-FFF2-40B4-BE49-F238E27FC236}">
                <a16:creationId xmlns:a16="http://schemas.microsoft.com/office/drawing/2014/main" id="{35138F72-86B6-466E-A2E3-E215F7D7B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62300"/>
            <a:ext cx="1390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Commit 8b67e3d</a:t>
            </a:r>
          </a:p>
        </p:txBody>
      </p:sp>
      <p:sp>
        <p:nvSpPr>
          <p:cNvPr id="23" name="impact-bg-1-1">
            <a:extLst xmlns:a="http://schemas.openxmlformats.org/drawingml/2006/main">
              <a:ext uri="{FF2B5EF4-FFF2-40B4-BE49-F238E27FC236}">
                <a16:creationId xmlns:a16="http://schemas.microsoft.com/office/drawing/2014/main" id="{9A96448B-A766-41A9-B328-3DEB5AE63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048000"/>
            <a:ext cx="4476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24" name="impact-1-1">
            <a:extLst xmlns:a="http://schemas.openxmlformats.org/drawingml/2006/main">
              <a:ext uri="{FF2B5EF4-FFF2-40B4-BE49-F238E27FC236}">
                <a16:creationId xmlns:a16="http://schemas.microsoft.com/office/drawing/2014/main" id="{347D0449-D845-4B78-A539-257106BDF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162300"/>
            <a:ext cx="4248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fix: release cancelled order inventory correctly</a:t>
            </a:r>
          </a:p>
        </p:txBody>
      </p:sp>
      <p:sp>
        <p:nvSpPr>
          <p:cNvPr id="25" name="impact-bg-1-2">
            <a:extLst xmlns:a="http://schemas.openxmlformats.org/drawingml/2006/main">
              <a:ext uri="{FF2B5EF4-FFF2-40B4-BE49-F238E27FC236}">
                <a16:creationId xmlns:a16="http://schemas.microsoft.com/office/drawing/2014/main" id="{4D149F85-72DF-46F4-B456-3AC1C7352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48000"/>
            <a:ext cx="3429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26" name="impact-1-2">
            <a:extLst xmlns:a="http://schemas.openxmlformats.org/drawingml/2006/main">
              <a:ext uri="{FF2B5EF4-FFF2-40B4-BE49-F238E27FC236}">
                <a16:creationId xmlns:a16="http://schemas.microsoft.com/office/drawing/2014/main" id="{327E7B98-B42C-43D8-9636-E04A2C66D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162300"/>
            <a:ext cx="320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inventory-reservation / quality-gates</a:t>
            </a:r>
          </a:p>
        </p:txBody>
      </p:sp>
      <p:sp>
        <p:nvSpPr>
          <p:cNvPr id="27" name="impact-bg-1-3">
            <a:extLst xmlns:a="http://schemas.openxmlformats.org/drawingml/2006/main">
              <a:ext uri="{FF2B5EF4-FFF2-40B4-BE49-F238E27FC236}">
                <a16:creationId xmlns:a16="http://schemas.microsoft.com/office/drawing/2014/main" id="{A18704FF-E40D-417D-BA1B-59F818122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048000"/>
            <a:ext cx="18669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28" name="impact-1-3">
            <a:extLst xmlns:a="http://schemas.openxmlformats.org/drawingml/2006/main">
              <a:ext uri="{FF2B5EF4-FFF2-40B4-BE49-F238E27FC236}">
                <a16:creationId xmlns:a16="http://schemas.microsoft.com/office/drawing/2014/main" id="{36D2089B-B33F-4AC4-8F77-C2F5FA237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162300"/>
            <a:ext cx="1638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已合并</a:t>
            </a:r>
          </a:p>
        </p:txBody>
      </p:sp>
      <p:sp>
        <p:nvSpPr>
          <p:cNvPr id="29" name="impact-bg-2-0">
            <a:extLst xmlns:a="http://schemas.openxmlformats.org/drawingml/2006/main">
              <a:ext uri="{FF2B5EF4-FFF2-40B4-BE49-F238E27FC236}">
                <a16:creationId xmlns:a16="http://schemas.microsoft.com/office/drawing/2014/main" id="{B4C65439-F91A-4E5C-8699-38CFCF037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29050"/>
            <a:ext cx="1619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30" name="impact-2-0">
            <a:extLst xmlns:a="http://schemas.openxmlformats.org/drawingml/2006/main">
              <a:ext uri="{FF2B5EF4-FFF2-40B4-BE49-F238E27FC236}">
                <a16:creationId xmlns:a16="http://schemas.microsoft.com/office/drawing/2014/main" id="{3A8CF7FC-842A-4395-BA2F-8617F3549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43350"/>
            <a:ext cx="1390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PR #10</a:t>
            </a:r>
          </a:p>
        </p:txBody>
      </p:sp>
      <p:sp>
        <p:nvSpPr>
          <p:cNvPr id="31" name="impact-bg-2-1">
            <a:extLst xmlns:a="http://schemas.openxmlformats.org/drawingml/2006/main">
              <a:ext uri="{FF2B5EF4-FFF2-40B4-BE49-F238E27FC236}">
                <a16:creationId xmlns:a16="http://schemas.microsoft.com/office/drawing/2014/main" id="{B4139510-7DD1-456C-82AD-00BC51292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829050"/>
            <a:ext cx="4476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32" name="impact-2-1">
            <a:extLst xmlns:a="http://schemas.openxmlformats.org/drawingml/2006/main">
              <a:ext uri="{FF2B5EF4-FFF2-40B4-BE49-F238E27FC236}">
                <a16:creationId xmlns:a16="http://schemas.microsoft.com/office/drawing/2014/main" id="{B9236C94-098A-4B19-9F9E-FAC722F9A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943350"/>
            <a:ext cx="4248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perf: batch cart inventory availability checks</a:t>
            </a:r>
          </a:p>
        </p:txBody>
      </p:sp>
      <p:sp>
        <p:nvSpPr>
          <p:cNvPr id="33" name="impact-bg-2-2">
            <a:extLst xmlns:a="http://schemas.openxmlformats.org/drawingml/2006/main">
              <a:ext uri="{FF2B5EF4-FFF2-40B4-BE49-F238E27FC236}">
                <a16:creationId xmlns:a16="http://schemas.microsoft.com/office/drawing/2014/main" id="{1EB0D00D-E506-4FE6-A78A-2FBADCCCB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829050"/>
            <a:ext cx="3429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34" name="impact-2-2">
            <a:extLst xmlns:a="http://schemas.openxmlformats.org/drawingml/2006/main">
              <a:ext uri="{FF2B5EF4-FFF2-40B4-BE49-F238E27FC236}">
                <a16:creationId xmlns:a16="http://schemas.microsoft.com/office/drawing/2014/main" id="{1E0B2175-188B-41BF-8222-19B90D80D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943350"/>
            <a:ext cx="320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cart-service / inventory-reservation / quality-gates</a:t>
            </a:r>
          </a:p>
        </p:txBody>
      </p:sp>
      <p:sp>
        <p:nvSpPr>
          <p:cNvPr id="35" name="impact-bg-2-3">
            <a:extLst xmlns:a="http://schemas.openxmlformats.org/drawingml/2006/main">
              <a:ext uri="{FF2B5EF4-FFF2-40B4-BE49-F238E27FC236}">
                <a16:creationId xmlns:a16="http://schemas.microsoft.com/office/drawing/2014/main" id="{1864522D-EDE3-4AFB-BF7A-DA316A93C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829050"/>
            <a:ext cx="18669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36" name="impact-2-3">
            <a:extLst xmlns:a="http://schemas.openxmlformats.org/drawingml/2006/main">
              <a:ext uri="{FF2B5EF4-FFF2-40B4-BE49-F238E27FC236}">
                <a16:creationId xmlns:a16="http://schemas.microsoft.com/office/drawing/2014/main" id="{E5CA38BF-FC07-43BC-9CB7-BB71EA4B6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943350"/>
            <a:ext cx="1638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审查中</a:t>
            </a:r>
          </a:p>
        </p:txBody>
      </p:sp>
      <p:sp>
        <p:nvSpPr>
          <p:cNvPr id="37" name="impact-bg-3-0">
            <a:extLst xmlns:a="http://schemas.openxmlformats.org/drawingml/2006/main">
              <a:ext uri="{FF2B5EF4-FFF2-40B4-BE49-F238E27FC236}">
                <a16:creationId xmlns:a16="http://schemas.microsoft.com/office/drawing/2014/main" id="{97196F54-1A88-4EF9-8786-AE55F74E7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10100"/>
            <a:ext cx="1619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C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38" name="impact-3-0">
            <a:extLst xmlns:a="http://schemas.openxmlformats.org/drawingml/2006/main">
              <a:ext uri="{FF2B5EF4-FFF2-40B4-BE49-F238E27FC236}">
                <a16:creationId xmlns:a16="http://schemas.microsoft.com/office/drawing/2014/main" id="{69815EB8-A4B7-46A9-AA79-2E263EDEE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24400"/>
            <a:ext cx="1390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CHORE-106</a:t>
            </a:r>
          </a:p>
        </p:txBody>
      </p:sp>
      <p:sp>
        <p:nvSpPr>
          <p:cNvPr id="39" name="impact-bg-3-1">
            <a:extLst xmlns:a="http://schemas.openxmlformats.org/drawingml/2006/main">
              <a:ext uri="{FF2B5EF4-FFF2-40B4-BE49-F238E27FC236}">
                <a16:creationId xmlns:a16="http://schemas.microsoft.com/office/drawing/2014/main" id="{1B843674-6217-40F2-961F-262A667E3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610100"/>
            <a:ext cx="4476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C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40" name="impact-3-1">
            <a:extLst xmlns:a="http://schemas.openxmlformats.org/drawingml/2006/main">
              <a:ext uri="{FF2B5EF4-FFF2-40B4-BE49-F238E27FC236}">
                <a16:creationId xmlns:a16="http://schemas.microsoft.com/office/drawing/2014/main" id="{AE6E643E-F6BE-4BB5-85B0-92FBEAA07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724400"/>
            <a:ext cx="4248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缓存配置变更未关联 Issue</a:t>
            </a:r>
          </a:p>
        </p:txBody>
      </p:sp>
      <p:sp>
        <p:nvSpPr>
          <p:cNvPr id="41" name="impact-bg-3-2">
            <a:extLst xmlns:a="http://schemas.openxmlformats.org/drawingml/2006/main">
              <a:ext uri="{FF2B5EF4-FFF2-40B4-BE49-F238E27FC236}">
                <a16:creationId xmlns:a16="http://schemas.microsoft.com/office/drawing/2014/main" id="{446AD3D0-BDE8-464B-8198-9AD245175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610100"/>
            <a:ext cx="3429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C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42" name="impact-3-2">
            <a:extLst xmlns:a="http://schemas.openxmlformats.org/drawingml/2006/main">
              <a:ext uri="{FF2B5EF4-FFF2-40B4-BE49-F238E27FC236}">
                <a16:creationId xmlns:a16="http://schemas.microsoft.com/office/drawing/2014/main" id="{AEF488AA-0846-4F85-BFBA-7741CC7BA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724400"/>
            <a:ext cx="320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runtime-config</a:t>
            </a:r>
          </a:p>
        </p:txBody>
      </p:sp>
      <p:sp>
        <p:nvSpPr>
          <p:cNvPr id="43" name="impact-bg-3-3">
            <a:extLst xmlns:a="http://schemas.openxmlformats.org/drawingml/2006/main">
              <a:ext uri="{FF2B5EF4-FFF2-40B4-BE49-F238E27FC236}">
                <a16:creationId xmlns:a16="http://schemas.microsoft.com/office/drawing/2014/main" id="{49357826-21A2-41E3-89B9-21DC1677A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610100"/>
            <a:ext cx="18669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C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44" name="impact-3-3">
            <a:extLst xmlns:a="http://schemas.openxmlformats.org/drawingml/2006/main">
              <a:ext uri="{FF2B5EF4-FFF2-40B4-BE49-F238E27FC236}">
                <a16:creationId xmlns:a16="http://schemas.microsoft.com/office/drawing/2014/main" id="{8FB4A1DD-F5C9-4472-8F0F-3F8F4AD61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4724400"/>
            <a:ext cx="1638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待确认</a:t>
            </a:r>
          </a:p>
        </p:txBody>
      </p:sp>
    </p:spTree>
    <p:extLst>
      <p:ext uri="{BB962C8B-B14F-4D97-AF65-F5344CB8AC3E}">
        <p14:creationId xmlns:p14="http://schemas.microsoft.com/office/powerpoint/2010/main" val="24786923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-6">
            <a:extLst xmlns:a="http://schemas.openxmlformats.org/drawingml/2006/main">
              <a:ext uri="{FF2B5EF4-FFF2-40B4-BE49-F238E27FC236}">
                <a16:creationId xmlns:a16="http://schemas.microsoft.com/office/drawing/2014/main" id="{CD03C63B-A021-4E72-987B-CE73A3D4F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规范解释为什么失败，专家负责当前例外处理</a:t>
            </a:r>
          </a:p>
        </p:txBody>
      </p:sp>
      <p:sp>
        <p:nvSpPr>
          <p:cNvPr id="2" name="subtitle-6">
            <a:extLst xmlns:a="http://schemas.openxmlformats.org/drawingml/2006/main">
              <a:ext uri="{FF2B5EF4-FFF2-40B4-BE49-F238E27FC236}">
                <a16:creationId xmlns:a16="http://schemas.microsoft.com/office/drawing/2014/main" id="{9851C329-C4E9-4D48-8F69-51E24CF27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71550"/>
            <a:ext cx="11391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4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D6470"/>
                </a:solidFill>
                <a:latin typeface="PingFang SC"/>
                <a:ea typeface="PingFang SC"/>
                <a:cs typeface="PingFang SC"/>
              </a:rPr>
              <a:t>知识与人员来自不同的受控数据源。</a:t>
            </a:r>
          </a:p>
        </p:txBody>
      </p:sp>
      <p:sp>
        <p:nvSpPr>
          <p:cNvPr id="3" name="footer-6">
            <a:extLst xmlns:a="http://schemas.openxmlformats.org/drawingml/2006/main">
              <a:ext uri="{FF2B5EF4-FFF2-40B4-BE49-F238E27FC236}">
                <a16:creationId xmlns:a16="http://schemas.microsoft.com/office/drawing/2014/main" id="{8BE68EA2-8CED-4077-9100-A6CD65DE8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47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D6470"/>
                </a:solidFill>
                <a:latin typeface="PingFang SC"/>
                <a:ea typeface="PingFang SC"/>
                <a:cs typeface="PingFang SC"/>
              </a:rPr>
              <a:t>ShopFlow v2.6  |  shopflow-fcbc6c1cd435</a:t>
            </a:r>
          </a:p>
        </p:txBody>
      </p:sp>
      <p:sp>
        <p:nvSpPr>
          <p:cNvPr id="4" name="page-6">
            <a:extLst xmlns:a="http://schemas.openxmlformats.org/drawingml/2006/main">
              <a:ext uri="{FF2B5EF4-FFF2-40B4-BE49-F238E27FC236}">
                <a16:creationId xmlns:a16="http://schemas.microsoft.com/office/drawing/2014/main" id="{638A9A60-0FA1-43CE-81B7-57D2697C4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47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D6470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5" name="knowledge-band">
            <a:extLst xmlns:a="http://schemas.openxmlformats.org/drawingml/2006/main">
              <a:ext uri="{FF2B5EF4-FFF2-40B4-BE49-F238E27FC236}">
                <a16:creationId xmlns:a16="http://schemas.microsoft.com/office/drawing/2014/main" id="{60E61207-0549-4C2E-9366-43BD6A99F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53530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nowledge-label">
            <a:extLst xmlns:a="http://schemas.openxmlformats.org/drawingml/2006/main">
              <a:ext uri="{FF2B5EF4-FFF2-40B4-BE49-F238E27FC236}">
                <a16:creationId xmlns:a16="http://schemas.microsoft.com/office/drawing/2014/main" id="{480D40F7-6E9B-48DA-83C6-85851AF41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E7CF6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E7CF6"/>
                </a:solidFill>
                <a:latin typeface="PingFang SC"/>
                <a:ea typeface="PingFang SC"/>
                <a:cs typeface="PingFang SC"/>
              </a:rPr>
              <a:t>知识证据</a:t>
            </a:r>
          </a:p>
        </p:txBody>
      </p:sp>
      <p:sp>
        <p:nvSpPr>
          <p:cNvPr id="7" name="knowledge-title">
            <a:extLst xmlns:a="http://schemas.openxmlformats.org/drawingml/2006/main">
              <a:ext uri="{FF2B5EF4-FFF2-40B4-BE49-F238E27FC236}">
                <a16:creationId xmlns:a16="http://schemas.microsoft.com/office/drawing/2014/main" id="{082B8AD6-1C44-4672-A852-A7EFAD40C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66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库存预占并发一致性规范</a:t>
            </a:r>
          </a:p>
        </p:txBody>
      </p:sp>
      <p:sp>
        <p:nvSpPr>
          <p:cNvPr id="8" name="knowledge-claim">
            <a:extLst xmlns:a="http://schemas.openxmlformats.org/drawingml/2006/main">
              <a:ext uri="{FF2B5EF4-FFF2-40B4-BE49-F238E27FC236}">
                <a16:creationId xmlns:a16="http://schemas.microsoft.com/office/drawing/2014/main" id="{2EC85CD9-29F0-424F-AFFF-28A9D28DF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4667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“余量校验与预占写入必须处于同一原子边界；只锁写入仍属于 check-then-act 竞态。”</a:t>
            </a:r>
          </a:p>
        </p:txBody>
      </p:sp>
      <p:sp>
        <p:nvSpPr>
          <p:cNvPr id="9" name="knowledge-source">
            <a:extLst xmlns:a="http://schemas.openxmlformats.org/drawingml/2006/main">
              <a:ext uri="{FF2B5EF4-FFF2-40B4-BE49-F238E27FC236}">
                <a16:creationId xmlns:a16="http://schemas.microsoft.com/office/drawing/2014/main" id="{3B7A4BAE-13CF-417C-8E42-2F648E235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38700"/>
            <a:ext cx="466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47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D6470"/>
                </a:solidFill>
                <a:latin typeface="PingFang SC"/>
                <a:ea typeface="PingFang SC"/>
                <a:cs typeface="PingFang SC"/>
              </a:rPr>
              <a:t>kb://shopflow/architecture/inventory-concurrency-v1</a:t>
            </a:r>
          </a:p>
        </p:txBody>
      </p:sp>
      <p:sp>
        <p:nvSpPr>
          <p:cNvPr id="10" name="expert-band">
            <a:extLst xmlns:a="http://schemas.openxmlformats.org/drawingml/2006/main">
              <a:ext uri="{FF2B5EF4-FFF2-40B4-BE49-F238E27FC236}">
                <a16:creationId xmlns:a16="http://schemas.microsoft.com/office/drawing/2014/main" id="{45DCEC48-7A5F-43DB-9BD8-BD39C6BD4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56007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expert-label">
            <a:extLst xmlns:a="http://schemas.openxmlformats.org/drawingml/2006/main">
              <a:ext uri="{FF2B5EF4-FFF2-40B4-BE49-F238E27FC236}">
                <a16:creationId xmlns:a16="http://schemas.microsoft.com/office/drawing/2014/main" id="{4E43BAF0-9710-4AFF-9E73-22F16E9B9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764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推荐专家</a:t>
            </a:r>
          </a:p>
        </p:txBody>
      </p:sp>
      <p:sp>
        <p:nvSpPr>
          <p:cNvPr id="12" name="expert-name">
            <a:extLst xmlns:a="http://schemas.openxmlformats.org/drawingml/2006/main">
              <a:ext uri="{FF2B5EF4-FFF2-40B4-BE49-F238E27FC236}">
                <a16:creationId xmlns:a16="http://schemas.microsoft.com/office/drawing/2014/main" id="{377EF33A-77E6-4E5B-8C57-17F8F299F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6700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王海  /  库存一致性架构师</a:t>
            </a:r>
          </a:p>
        </p:txBody>
      </p:sp>
      <p:sp>
        <p:nvSpPr>
          <p:cNvPr id="13" name="expert-reason">
            <a:extLst xmlns:a="http://schemas.openxmlformats.org/drawingml/2006/main">
              <a:ext uri="{FF2B5EF4-FFF2-40B4-BE49-F238E27FC236}">
                <a16:creationId xmlns:a16="http://schemas.microsoft.com/office/drawing/2014/main" id="{C745E27C-E092-422A-BDF8-645C999B6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43300"/>
            <a:ext cx="4953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领域匹配 concurrency, inventory, oversell；模块匹配 inventory-reservation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状态：available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升级条件：出现负库存、原子性缺陷或 P0 库存阻塞</a:t>
            </a:r>
          </a:p>
        </p:txBody>
      </p:sp>
      <p:sp>
        <p:nvSpPr>
          <p:cNvPr id="14" name="expert-contact">
            <a:extLst xmlns:a="http://schemas.openxmlformats.org/drawingml/2006/main">
              <a:ext uri="{FF2B5EF4-FFF2-40B4-BE49-F238E27FC236}">
                <a16:creationId xmlns:a16="http://schemas.microsoft.com/office/drawing/2014/main" id="{2139761E-0ED0-4C62-A43E-AA092BA42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838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47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D6470"/>
                </a:solidFill>
                <a:latin typeface="PingFang SC"/>
                <a:ea typeface="PingFang SC"/>
                <a:cs typeface="PingFang SC"/>
              </a:rPr>
              <a:t>wang.hai@example.local</a:t>
            </a:r>
          </a:p>
        </p:txBody>
      </p:sp>
      <p:sp>
        <p:nvSpPr>
          <p:cNvPr id="15" name="knowledge-action">
            <a:extLst xmlns:a="http://schemas.openxmlformats.org/drawingml/2006/main">
              <a:ext uri="{FF2B5EF4-FFF2-40B4-BE49-F238E27FC236}">
                <a16:creationId xmlns:a16="http://schemas.microsoft.com/office/drawing/2014/main" id="{8B88F402-80A7-4BFE-B809-26A7E07CA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62600"/>
            <a:ext cx="11391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建议动作：技术负责人在下一轮修复提交前完成方案评审，并将并发回归测试设为合并必需检查。</a:t>
            </a:r>
          </a:p>
        </p:txBody>
      </p:sp>
    </p:spTree>
    <p:extLst>
      <p:ext uri="{BB962C8B-B14F-4D97-AF65-F5344CB8AC3E}">
        <p14:creationId xmlns:p14="http://schemas.microsoft.com/office/powerpoint/2010/main" val="19748909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itle-7">
            <a:extLst xmlns:a="http://schemas.openxmlformats.org/drawingml/2006/main">
              <a:ext uri="{FF2B5EF4-FFF2-40B4-BE49-F238E27FC236}">
                <a16:creationId xmlns:a16="http://schemas.microsoft.com/office/drawing/2014/main" id="{CA3B1D23-1085-4C82-8F1F-94863CFAB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先解除 P0 阻塞，再收敛性能与权限风险</a:t>
            </a:r>
          </a:p>
        </p:txBody>
      </p:sp>
      <p:sp>
        <p:nvSpPr>
          <p:cNvPr id="2" name="subtitle-7">
            <a:extLst xmlns:a="http://schemas.openxmlformats.org/drawingml/2006/main">
              <a:ext uri="{FF2B5EF4-FFF2-40B4-BE49-F238E27FC236}">
                <a16:creationId xmlns:a16="http://schemas.microsoft.com/office/drawing/2014/main" id="{77712FD2-71A9-4EAB-A09B-4AC231104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71550"/>
            <a:ext cx="11391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4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D6470"/>
                </a:solidFill>
                <a:latin typeface="PingFang SC"/>
                <a:ea typeface="PingFang SC"/>
                <a:cs typeface="PingFang SC"/>
              </a:rPr>
              <a:t>本期快照后的建议动作，不改变已冻结证据。</a:t>
            </a:r>
          </a:p>
        </p:txBody>
      </p:sp>
      <p:sp>
        <p:nvSpPr>
          <p:cNvPr id="3" name="footer-7">
            <a:extLst xmlns:a="http://schemas.openxmlformats.org/drawingml/2006/main">
              <a:ext uri="{FF2B5EF4-FFF2-40B4-BE49-F238E27FC236}">
                <a16:creationId xmlns:a16="http://schemas.microsoft.com/office/drawing/2014/main" id="{A9542393-CD07-4E4E-9250-F2C86367C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47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D6470"/>
                </a:solidFill>
                <a:latin typeface="PingFang SC"/>
                <a:ea typeface="PingFang SC"/>
                <a:cs typeface="PingFang SC"/>
              </a:rPr>
              <a:t>ShopFlow v2.6  |  shopflow-fcbc6c1cd435</a:t>
            </a:r>
          </a:p>
        </p:txBody>
      </p:sp>
      <p:sp>
        <p:nvSpPr>
          <p:cNvPr id="4" name="page-7">
            <a:extLst xmlns:a="http://schemas.openxmlformats.org/drawingml/2006/main">
              <a:ext uri="{FF2B5EF4-FFF2-40B4-BE49-F238E27FC236}">
                <a16:creationId xmlns:a16="http://schemas.microsoft.com/office/drawing/2014/main" id="{AFDC8F49-C85A-48C9-886F-C8C04D78C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47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D6470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5" name="timeline">
            <a:extLst xmlns:a="http://schemas.openxmlformats.org/drawingml/2006/main">
              <a:ext uri="{FF2B5EF4-FFF2-40B4-BE49-F238E27FC236}">
                <a16:creationId xmlns:a16="http://schemas.microsoft.com/office/drawing/2014/main" id="{551B0390-BDD0-4655-BE21-1CF0837FF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1047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imeline-dot-0">
            <a:extLst xmlns:a="http://schemas.openxmlformats.org/drawingml/2006/main">
              <a:ext uri="{FF2B5EF4-FFF2-40B4-BE49-F238E27FC236}">
                <a16:creationId xmlns:a16="http://schemas.microsoft.com/office/drawing/2014/main" id="{9585BA94-4AF7-4CAA-B852-EF33A78CA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61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3B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imeline-time-0">
            <a:extLst xmlns:a="http://schemas.openxmlformats.org/drawingml/2006/main">
              <a:ext uri="{FF2B5EF4-FFF2-40B4-BE49-F238E27FC236}">
                <a16:creationId xmlns:a16="http://schemas.microsoft.com/office/drawing/2014/main" id="{F724F5C2-E960-4E10-8F69-C1A24EADC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D64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D6470"/>
                </a:solidFill>
                <a:latin typeface="PingFang SC"/>
                <a:ea typeface="PingFang SC"/>
                <a:cs typeface="PingFang SC"/>
              </a:rPr>
              <a:t>今天 20:00</a:t>
            </a:r>
          </a:p>
        </p:txBody>
      </p:sp>
      <p:sp>
        <p:nvSpPr>
          <p:cNvPr id="8" name="timeline-title-0">
            <a:extLst xmlns:a="http://schemas.openxmlformats.org/drawingml/2006/main">
              <a:ext uri="{FF2B5EF4-FFF2-40B4-BE49-F238E27FC236}">
                <a16:creationId xmlns:a16="http://schemas.microsoft.com/office/drawing/2014/main" id="{E9EC0A33-A537-4E9B-916F-8A3DCE12D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314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原子性方案评审</a:t>
            </a:r>
          </a:p>
        </p:txBody>
      </p:sp>
      <p:sp>
        <p:nvSpPr>
          <p:cNvPr id="9" name="timeline-owner-0">
            <a:extLst xmlns:a="http://schemas.openxmlformats.org/drawingml/2006/main">
              <a:ext uri="{FF2B5EF4-FFF2-40B4-BE49-F238E27FC236}">
                <a16:creationId xmlns:a16="http://schemas.microsoft.com/office/drawing/2014/main" id="{2F329C2C-84AC-4397-B56C-30BCC3E68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4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D6470"/>
                </a:solidFill>
                <a:latin typeface="PingFang SC"/>
                <a:ea typeface="PingFang SC"/>
                <a:cs typeface="PingFang SC"/>
              </a:rPr>
              <a:t>陈晨 + 王海</a:t>
            </a:r>
          </a:p>
        </p:txBody>
      </p:sp>
      <p:sp>
        <p:nvSpPr>
          <p:cNvPr id="10" name="timeline-dot-1">
            <a:extLst xmlns:a="http://schemas.openxmlformats.org/drawingml/2006/main">
              <a:ext uri="{FF2B5EF4-FFF2-40B4-BE49-F238E27FC236}">
                <a16:creationId xmlns:a16="http://schemas.microsoft.com/office/drawing/2014/main" id="{09A63432-D7E3-44DC-8797-1A9C81BBB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2861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C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imeline-time-1">
            <a:extLst xmlns:a="http://schemas.openxmlformats.org/drawingml/2006/main">
              <a:ext uri="{FF2B5EF4-FFF2-40B4-BE49-F238E27FC236}">
                <a16:creationId xmlns:a16="http://schemas.microsoft.com/office/drawing/2014/main" id="{54C41421-6243-4F1A-90ED-289C0358E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6098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D64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D6470"/>
                </a:solidFill>
                <a:latin typeface="PingFang SC"/>
                <a:ea typeface="PingFang SC"/>
                <a:cs typeface="PingFang SC"/>
              </a:rPr>
              <a:t>明天 12:00</a:t>
            </a:r>
          </a:p>
        </p:txBody>
      </p:sp>
      <p:sp>
        <p:nvSpPr>
          <p:cNvPr id="12" name="timeline-title-1">
            <a:extLst xmlns:a="http://schemas.openxmlformats.org/drawingml/2006/main">
              <a:ext uri="{FF2B5EF4-FFF2-40B4-BE49-F238E27FC236}">
                <a16:creationId xmlns:a16="http://schemas.microsoft.com/office/drawing/2014/main" id="{A9C07556-78E1-4226-9FC4-5A30E6F49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48100"/>
            <a:ext cx="314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并发回归与 owner review</a:t>
            </a:r>
          </a:p>
        </p:txBody>
      </p:sp>
      <p:sp>
        <p:nvSpPr>
          <p:cNvPr id="13" name="timeline-owner-1">
            <a:extLst xmlns:a="http://schemas.openxmlformats.org/drawingml/2006/main">
              <a:ext uri="{FF2B5EF4-FFF2-40B4-BE49-F238E27FC236}">
                <a16:creationId xmlns:a16="http://schemas.microsoft.com/office/drawing/2014/main" id="{04924819-F8BC-4E27-B813-A8C4208C9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7244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4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D6470"/>
                </a:solidFill>
                <a:latin typeface="PingFang SC"/>
                <a:ea typeface="PingFang SC"/>
                <a:cs typeface="PingFang SC"/>
              </a:rPr>
              <a:t>QA + 模块负责人</a:t>
            </a:r>
          </a:p>
        </p:txBody>
      </p:sp>
      <p:sp>
        <p:nvSpPr>
          <p:cNvPr id="14" name="timeline-dot-2">
            <a:extLst xmlns:a="http://schemas.openxmlformats.org/drawingml/2006/main">
              <a:ext uri="{FF2B5EF4-FFF2-40B4-BE49-F238E27FC236}">
                <a16:creationId xmlns:a16="http://schemas.microsoft.com/office/drawing/2014/main" id="{C9106D6C-52B3-4A2A-A416-1D1E7638D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2861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C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imeline-time-2">
            <a:extLst xmlns:a="http://schemas.openxmlformats.org/drawingml/2006/main">
              <a:ext uri="{FF2B5EF4-FFF2-40B4-BE49-F238E27FC236}">
                <a16:creationId xmlns:a16="http://schemas.microsoft.com/office/drawing/2014/main" id="{C3A69A5F-1DF5-4694-AB62-BAF1A63E1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6098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D64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D6470"/>
                </a:solidFill>
                <a:latin typeface="PingFang SC"/>
                <a:ea typeface="PingFang SC"/>
                <a:cs typeface="PingFang SC"/>
              </a:rPr>
              <a:t>明天 18:00</a:t>
            </a:r>
          </a:p>
        </p:txBody>
      </p:sp>
      <p:sp>
        <p:nvSpPr>
          <p:cNvPr id="16" name="timeline-title-2">
            <a:extLst xmlns:a="http://schemas.openxmlformats.org/drawingml/2006/main">
              <a:ext uri="{FF2B5EF4-FFF2-40B4-BE49-F238E27FC236}">
                <a16:creationId xmlns:a16="http://schemas.microsoft.com/office/drawing/2014/main" id="{CA6E7B8E-1DAA-491B-A1A0-EE22BA933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848100"/>
            <a:ext cx="314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发布门禁复核</a:t>
            </a:r>
          </a:p>
        </p:txBody>
      </p:sp>
      <p:sp>
        <p:nvSpPr>
          <p:cNvPr id="17" name="timeline-owner-2">
            <a:extLst xmlns:a="http://schemas.openxmlformats.org/drawingml/2006/main">
              <a:ext uri="{FF2B5EF4-FFF2-40B4-BE49-F238E27FC236}">
                <a16:creationId xmlns:a16="http://schemas.microsoft.com/office/drawing/2014/main" id="{20724D2D-C0B1-4752-B9EF-E5CD59C5C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7244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4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D6470"/>
                </a:solidFill>
                <a:latin typeface="PingFang SC"/>
                <a:ea typeface="PingFang SC"/>
                <a:cs typeface="PingFang SC"/>
              </a:rPr>
              <a:t>赵磊</a:t>
            </a:r>
          </a:p>
        </p:txBody>
      </p:sp>
      <p:sp>
        <p:nvSpPr>
          <p:cNvPr id="18" name="decision-band">
            <a:extLst xmlns:a="http://schemas.openxmlformats.org/drawingml/2006/main">
              <a:ext uri="{FF2B5EF4-FFF2-40B4-BE49-F238E27FC236}">
                <a16:creationId xmlns:a16="http://schemas.microsoft.com/office/drawing/2014/main" id="{14D5CAD4-F49A-4FFC-9DE4-36C86E6A8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86400"/>
            <a:ext cx="1047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decision-text">
            <a:extLst xmlns:a="http://schemas.openxmlformats.org/drawingml/2006/main">
              <a:ext uri="{FF2B5EF4-FFF2-40B4-BE49-F238E27FC236}">
                <a16:creationId xmlns:a16="http://schemas.microsoft.com/office/drawing/2014/main" id="{B7471581-A9CD-4D07-A64B-07A01D02F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629275"/>
            <a:ext cx="1005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技术负责人决策：是否冻结非阻塞变更，并指定 BUG-102 第二次修复的合并门禁。</a:t>
            </a:r>
          </a:p>
        </p:txBody>
      </p:sp>
    </p:spTree>
    <p:extLst>
      <p:ext uri="{BB962C8B-B14F-4D97-AF65-F5344CB8AC3E}">
        <p14:creationId xmlns:p14="http://schemas.microsoft.com/office/powerpoint/2010/main" val="19238443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2026-08-06T06:58:11.5570000Z</dcterms:created>
  <dcterms:modified xsi:type="dcterms:W3CDTF">2026-08-06T06:58:11.5570000Z</dcterms:modified>
</coreProperties>
</file>