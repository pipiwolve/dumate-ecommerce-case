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837eab9b164652" /><Relationship Type="http://schemas.openxmlformats.org/officeDocument/2006/relationships/extended-properties" Target="/docProps/app.xml" Id="Rd3b1a114ed994b2c" /><Relationship Type="http://schemas.openxmlformats.org/officeDocument/2006/relationships/officeDocument" Target="/ppt/presentation.xml" Id="R85cf00735c7640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78dc28bd324250"/>
  </p:sldMasterIdLst>
  <p:notesMasterIdLst>
    <p:notesMasterId xmlns:r="http://schemas.openxmlformats.org/officeDocument/2006/relationships" r:id="R6e4f40d358074da9"/>
  </p:notesMasterIdLst>
  <p:sldIdLst>
    <p:sldId xmlns:r="http://schemas.openxmlformats.org/officeDocument/2006/relationships" id="256" r:id="Reb943e6aab4e4af2"/>
    <p:sldId xmlns:r="http://schemas.openxmlformats.org/officeDocument/2006/relationships" id="257" r:id="R0c49d8dff3624a22"/>
    <p:sldId xmlns:r="http://schemas.openxmlformats.org/officeDocument/2006/relationships" id="258" r:id="R153e9d60c57b4d0f"/>
    <p:sldId xmlns:r="http://schemas.openxmlformats.org/officeDocument/2006/relationships" id="259" r:id="R127c4c29e16941a9"/>
    <p:sldId xmlns:r="http://schemas.openxmlformats.org/officeDocument/2006/relationships" id="260" r:id="R504dfdf8338f483b"/>
    <p:sldId xmlns:r="http://schemas.openxmlformats.org/officeDocument/2006/relationships" id="261" r:id="R1275a738c5b447b3"/>
    <p:sldId xmlns:r="http://schemas.openxmlformats.org/officeDocument/2006/relationships" id="262" r:id="Ra2365fece6a249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227fa49ad34a90" /><Relationship Type="http://schemas.openxmlformats.org/officeDocument/2006/relationships/slideMaster" Target="/ppt/slideMasters/slideMaster1.xml" Id="R5c78dc28bd324250" /><Relationship Type="http://schemas.openxmlformats.org/officeDocument/2006/relationships/notesMaster" Target="/ppt/notesMasters/notesMaster1.xml" Id="R6e4f40d358074da9" /><Relationship Type="http://schemas.openxmlformats.org/officeDocument/2006/relationships/presProps" Target="/ppt/presProps.xml" Id="Rc235372ffa044be8" /><Relationship Type="http://schemas.openxmlformats.org/officeDocument/2006/relationships/tableStyles" Target="/ppt/tableStyles.xml" Id="R99489f22c634473b" /><Relationship Type="http://schemas.openxmlformats.org/officeDocument/2006/relationships/slide" Target="/ppt/slides/slide1.xml" Id="Reb943e6aab4e4af2" /><Relationship Type="http://schemas.openxmlformats.org/officeDocument/2006/relationships/slide" Target="/ppt/slides/slide2.xml" Id="R0c49d8dff3624a22" /><Relationship Type="http://schemas.openxmlformats.org/officeDocument/2006/relationships/slide" Target="/ppt/slides/slide3.xml" Id="R153e9d60c57b4d0f" /><Relationship Type="http://schemas.openxmlformats.org/officeDocument/2006/relationships/slide" Target="/ppt/slides/slide4.xml" Id="R127c4c29e16941a9" /><Relationship Type="http://schemas.openxmlformats.org/officeDocument/2006/relationships/slide" Target="/ppt/slides/slide5.xml" Id="R504dfdf8338f483b" /><Relationship Type="http://schemas.openxmlformats.org/officeDocument/2006/relationships/slide" Target="/ppt/slides/slide6.xml" Id="R1275a738c5b447b3" /><Relationship Type="http://schemas.openxmlformats.org/officeDocument/2006/relationships/slide" Target="/ppt/slides/slide7.xml" Id="Ra2365fece6a249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20697e3b1b4b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bccbb13e2b4c34" /><Relationship Type="http://schemas.openxmlformats.org/officeDocument/2006/relationships/notesMaster" Target="/ppt/notesMasters/notesMaster1.xml" Id="Rbeb7f75a0dbc48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4e1f0e9ad740e5" /><Relationship Type="http://schemas.openxmlformats.org/officeDocument/2006/relationships/notesMaster" Target="/ppt/notesMasters/notesMaster1.xml" Id="Ra6df0f1788024c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6eb1e86da3485f" /><Relationship Type="http://schemas.openxmlformats.org/officeDocument/2006/relationships/notesMaster" Target="/ppt/notesMasters/notesMaster1.xml" Id="R6a524d5cbf6942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828fa5b9734b57" /><Relationship Type="http://schemas.openxmlformats.org/officeDocument/2006/relationships/notesMaster" Target="/ppt/notesMasters/notesMaster1.xml" Id="R581f6e6e2fa947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7ffc65aa88428d" /><Relationship Type="http://schemas.openxmlformats.org/officeDocument/2006/relationships/notesMaster" Target="/ppt/notesMasters/notesMaster1.xml" Id="R2be180ae2bba49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6e86adf077479d" /><Relationship Type="http://schemas.openxmlformats.org/officeDocument/2006/relationships/notesMaster" Target="/ppt/notesMasters/notesMaster1.xml" Id="R121036a0bb6d46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aeeb2152a04d29" /><Relationship Type="http://schemas.openxmlformats.org/officeDocument/2006/relationships/notesMaster" Target="/ppt/notesMasters/notesMaster1.xml" Id="R97361d44f4e34c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kb://shopflow/architecture/inventory-concurrency-v1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kb://shopflow/architecture/inventory-concurrency-v1</a:t>
            </a:r>
          </a:p>
          <a:p xmlns:a="http://schemas.openxmlformats.org/drawingml/2006/main">
            <a:r>
              <a:t>- kb://shopflow/incidents/oversell-2025</a:t>
            </a:r>
          </a:p>
          <a:p xmlns:a="http://schemas.openxmlformats.org/drawingml/2006/main">
            <a:r>
              <a:t>- directory://shopflow/experts/expert-wang-hai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f0bb2c06a4f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46d55e8ede4f5f" /><Relationship Type="http://schemas.openxmlformats.org/officeDocument/2006/relationships/slideLayout" Target="/ppt/slideLayouts/slideLayout1.xml" Id="R0f9f06b2fa6e4e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9f06b2fa6e4e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e78ad83804248" /><Relationship Type="http://schemas.openxmlformats.org/officeDocument/2006/relationships/notesSlide" Target="/ppt/notesSlides/notesSlide1.xml" Id="Rf9e02fad9d7d45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d4c460275405c" /><Relationship Type="http://schemas.openxmlformats.org/officeDocument/2006/relationships/notesSlide" Target="/ppt/notesSlides/notesSlide2.xml" Id="Rc46150f416fe45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69d4b94d544a4" /><Relationship Type="http://schemas.openxmlformats.org/officeDocument/2006/relationships/notesSlide" Target="/ppt/notesSlides/notesSlide3.xml" Id="R6dd7a0292f9145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90bf97afe4aa2" /><Relationship Type="http://schemas.openxmlformats.org/officeDocument/2006/relationships/notesSlide" Target="/ppt/notesSlides/notesSlide4.xml" Id="R45329d2ce5d442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f4313f74d4aeb" /><Relationship Type="http://schemas.openxmlformats.org/officeDocument/2006/relationships/notesSlide" Target="/ppt/notesSlides/notesSlide5.xml" Id="Rac9a4f5756f142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92c555a564504" /><Relationship Type="http://schemas.openxmlformats.org/officeDocument/2006/relationships/notesSlide" Target="/ppt/notesSlides/notesSlide6.xml" Id="R572522ea380c41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6779f65ce4b8b" /><Relationship Type="http://schemas.openxmlformats.org/officeDocument/2006/relationships/notesSlide" Target="/ppt/notesSlides/notesSlide7.xml" Id="R6a06ac2390e245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B861FB2-7F3F-43A3-ADA0-AAC1971E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SHOPFLOW  /  DELIVERY REVIEW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5DC44B0-AAB6-47CE-ADA6-1A95868B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限时促销版本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交付风险审查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EBCAB6B3-68B9-4005-8257-2F65C6CE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4332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audience">
            <a:extLst xmlns:a="http://schemas.openxmlformats.org/drawingml/2006/main">
              <a:ext uri="{FF2B5EF4-FFF2-40B4-BE49-F238E27FC236}">
                <a16:creationId xmlns:a16="http://schemas.microsoft.com/office/drawing/2014/main" id="{5C863E03-EEB8-44D0-94C3-32F30EF3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技术负责人版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A1FB9938-6605-4E42-89EF-39EFB8B3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快照时间  2026-08-06T18:00:00+08:00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里程碑  v2.6 限时促销稳定性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证据快照  shopflow-41d613d1137b</a:t>
            </a:r>
          </a:p>
        </p:txBody>
      </p:sp>
      <p:sp>
        <p:nvSpPr>
          <p:cNvPr id="6" name="cover-health">
            <a:extLst xmlns:a="http://schemas.openxmlformats.org/drawingml/2006/main">
              <a:ext uri="{FF2B5EF4-FFF2-40B4-BE49-F238E27FC236}">
                <a16:creationId xmlns:a16="http://schemas.microsoft.com/office/drawing/2014/main" id="{A23DCE96-9401-400B-B916-28372B0F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625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有风险</a:t>
            </a:r>
          </a:p>
        </p:txBody>
      </p:sp>
    </p:spTree>
    <p:extLst>
      <p:ext uri="{BB962C8B-B14F-4D97-AF65-F5344CB8AC3E}">
        <p14:creationId xmlns:p14="http://schemas.microsoft.com/office/powerpoint/2010/main" val="11732696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2">
            <a:extLst xmlns:a="http://schemas.openxmlformats.org/drawingml/2006/main">
              <a:ext uri="{FF2B5EF4-FFF2-40B4-BE49-F238E27FC236}">
                <a16:creationId xmlns:a16="http://schemas.microsoft.com/office/drawing/2014/main" id="{705E66F3-9BC8-43F3-93C2-737B23BA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版本完成 65%，但超卖缺陷仍阻塞发布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EDFCEB0F-35B8-4E86-BC72-9E763E16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Issue 进度是计划基线；PR、Diff 与检查结果用于验证完成度和风险。</a:t>
            </a:r>
          </a:p>
        </p:txBody>
      </p:sp>
      <p:sp>
        <p:nvSpPr>
          <p:cNvPr id="3" name="footer-2">
            <a:extLst xmlns:a="http://schemas.openxmlformats.org/drawingml/2006/main">
              <a:ext uri="{FF2B5EF4-FFF2-40B4-BE49-F238E27FC236}">
                <a16:creationId xmlns:a16="http://schemas.microsoft.com/office/drawing/2014/main" id="{AF236B72-D2D7-42B1-BF12-342E6AE1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7C4C1844-88F0-43D0-9820-912175A8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progress-number">
            <a:extLst xmlns:a="http://schemas.openxmlformats.org/drawingml/2006/main">
              <a:ext uri="{FF2B5EF4-FFF2-40B4-BE49-F238E27FC236}">
                <a16:creationId xmlns:a16="http://schemas.microsoft.com/office/drawing/2014/main" id="{60D85456-0C54-4643-8689-A46888BE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143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65%</a:t>
            </a:r>
          </a:p>
        </p:txBody>
      </p:sp>
      <p:sp>
        <p:nvSpPr>
          <p:cNvPr id="6" name="progress-base">
            <a:extLst xmlns:a="http://schemas.openxmlformats.org/drawingml/2006/main">
              <a:ext uri="{FF2B5EF4-FFF2-40B4-BE49-F238E27FC236}">
                <a16:creationId xmlns:a16="http://schemas.microsoft.com/office/drawing/2014/main" id="{6649ACE9-1CAE-4CD7-983E-F73BB32E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gress-fill">
            <a:extLst xmlns:a="http://schemas.openxmlformats.org/drawingml/2006/main">
              <a:ext uri="{FF2B5EF4-FFF2-40B4-BE49-F238E27FC236}">
                <a16:creationId xmlns:a16="http://schemas.microsoft.com/office/drawing/2014/main" id="{9AE2BD45-2957-4E48-9EF8-BE5DB7FB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204311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gress-label">
            <a:extLst xmlns:a="http://schemas.openxmlformats.org/drawingml/2006/main">
              <a:ext uri="{FF2B5EF4-FFF2-40B4-BE49-F238E27FC236}">
                <a16:creationId xmlns:a16="http://schemas.microsoft.com/office/drawing/2014/main" id="{4F24829B-2B20-423D-952F-83893D25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加权里程碑进度</a:t>
            </a:r>
          </a:p>
        </p:txBody>
      </p:sp>
      <p:sp>
        <p:nvSpPr>
          <p:cNvPr id="9" name="stat-bg-0">
            <a:extLst xmlns:a="http://schemas.openxmlformats.org/drawingml/2006/main">
              <a:ext uri="{FF2B5EF4-FFF2-40B4-BE49-F238E27FC236}">
                <a16:creationId xmlns:a16="http://schemas.microsoft.com/office/drawing/2014/main" id="{8E546A17-355F-43E1-BE88-16129D20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404AFB2B-AB90-4470-B133-7FB3DA6C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7A685DFA-DCDD-4EE5-9ED0-0898767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发布阻塞项</a:t>
            </a:r>
          </a:p>
        </p:txBody>
      </p:sp>
      <p:sp>
        <p:nvSpPr>
          <p:cNvPr id="12" name="stat-bg-1">
            <a:extLst xmlns:a="http://schemas.openxmlformats.org/drawingml/2006/main">
              <a:ext uri="{FF2B5EF4-FFF2-40B4-BE49-F238E27FC236}">
                <a16:creationId xmlns:a16="http://schemas.microsoft.com/office/drawing/2014/main" id="{07668D9F-8DCA-4F13-A942-872C2DEF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F730E821-2CBD-4C5A-ADF7-4E93D021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4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FBAE5D44-6847-467D-80E7-1CC6CFE3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失败检查</a:t>
            </a:r>
          </a:p>
        </p:txBody>
      </p:sp>
      <p:sp>
        <p:nvSpPr>
          <p:cNvPr id="15" name="stat-bg-2">
            <a:extLst xmlns:a="http://schemas.openxmlformats.org/drawingml/2006/main">
              <a:ext uri="{FF2B5EF4-FFF2-40B4-BE49-F238E27FC236}">
                <a16:creationId xmlns:a16="http://schemas.microsoft.com/office/drawing/2014/main" id="{394AD0C4-594A-4320-9F0A-D497DEED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229AB07F-7788-4A9C-B813-099EE12C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D28AD23D-3C83-4F30-B500-9BF26820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计划外改动</a:t>
            </a:r>
          </a:p>
        </p:txBody>
      </p:sp>
      <p:sp>
        <p:nvSpPr>
          <p:cNvPr id="18" name="health-conclusion">
            <a:extLst xmlns:a="http://schemas.openxmlformats.org/drawingml/2006/main">
              <a:ext uri="{FF2B5EF4-FFF2-40B4-BE49-F238E27FC236}">
                <a16:creationId xmlns:a16="http://schemas.microsoft.com/office/drawing/2014/main" id="{EAD6BBC3-8A5F-4A00-AA38-1EDA04E8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00600"/>
            <a:ext cx="7543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发布门禁：BUG-102 的并发回归测试仍失败；SEC-105 未启动；PERF-104 等待 owner review。</a:t>
            </a:r>
          </a:p>
        </p:txBody>
      </p:sp>
    </p:spTree>
    <p:extLst>
      <p:ext uri="{BB962C8B-B14F-4D97-AF65-F5344CB8AC3E}">
        <p14:creationId xmlns:p14="http://schemas.microsoft.com/office/powerpoint/2010/main" val="12450918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title-3">
            <a:extLst xmlns:a="http://schemas.openxmlformats.org/drawingml/2006/main">
              <a:ext uri="{FF2B5EF4-FFF2-40B4-BE49-F238E27FC236}">
                <a16:creationId xmlns:a16="http://schemas.microsoft.com/office/drawing/2014/main" id="{F3922E91-398F-4DCA-AC44-CEA78342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六项计划中，两项完成、一项阻塞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1FAA0CC0-9F0E-457E-B195-643D016B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状态来自同一 GitHub Milestone 快照。</a:t>
            </a:r>
          </a:p>
        </p:txBody>
      </p:sp>
      <p:sp>
        <p:nvSpPr>
          <p:cNvPr id="3" name="footer-3">
            <a:extLst xmlns:a="http://schemas.openxmlformats.org/drawingml/2006/main">
              <a:ext uri="{FF2B5EF4-FFF2-40B4-BE49-F238E27FC236}">
                <a16:creationId xmlns:a16="http://schemas.microsoft.com/office/drawing/2014/main" id="{D85D72D1-2931-489B-9BF4-DC23E693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412BC84E-EADD-4D42-8153-D687258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header-bg-0-180">
            <a:extLst xmlns:a="http://schemas.openxmlformats.org/drawingml/2006/main">
              <a:ext uri="{FF2B5EF4-FFF2-40B4-BE49-F238E27FC236}">
                <a16:creationId xmlns:a16="http://schemas.microsoft.com/office/drawing/2014/main" id="{B16D3297-92E1-4D72-BF46-834D1C09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eader-0-180">
            <a:extLst xmlns:a="http://schemas.openxmlformats.org/drawingml/2006/main">
              <a:ext uri="{FF2B5EF4-FFF2-40B4-BE49-F238E27FC236}">
                <a16:creationId xmlns:a16="http://schemas.microsoft.com/office/drawing/2014/main" id="{05FD97E8-52FA-4205-AAB4-9C13768A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1247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Issue</a:t>
            </a:r>
          </a:p>
        </p:txBody>
      </p:sp>
      <p:sp>
        <p:nvSpPr>
          <p:cNvPr id="7" name="header-bg-1-180">
            <a:extLst xmlns:a="http://schemas.openxmlformats.org/drawingml/2006/main">
              <a:ext uri="{FF2B5EF4-FFF2-40B4-BE49-F238E27FC236}">
                <a16:creationId xmlns:a16="http://schemas.microsoft.com/office/drawing/2014/main" id="{19CB7986-7221-44FD-B4CB-3A75BB6C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17145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eader-1-180">
            <a:extLst xmlns:a="http://schemas.openxmlformats.org/drawingml/2006/main">
              <a:ext uri="{FF2B5EF4-FFF2-40B4-BE49-F238E27FC236}">
                <a16:creationId xmlns:a16="http://schemas.microsoft.com/office/drawing/2014/main" id="{87657821-12E1-4775-B0D2-53CB2A2C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809750"/>
            <a:ext cx="424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事项</a:t>
            </a:r>
          </a:p>
        </p:txBody>
      </p:sp>
      <p:sp>
        <p:nvSpPr>
          <p:cNvPr id="9" name="header-bg-2-180">
            <a:extLst xmlns:a="http://schemas.openxmlformats.org/drawingml/2006/main">
              <a:ext uri="{FF2B5EF4-FFF2-40B4-BE49-F238E27FC236}">
                <a16:creationId xmlns:a16="http://schemas.microsoft.com/office/drawing/2014/main" id="{7E8F952B-5680-4023-AD79-1F92AA34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45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2-180">
            <a:extLst xmlns:a="http://schemas.openxmlformats.org/drawingml/2006/main">
              <a:ext uri="{FF2B5EF4-FFF2-40B4-BE49-F238E27FC236}">
                <a16:creationId xmlns:a16="http://schemas.microsoft.com/office/drawing/2014/main" id="{B0F729D5-B189-4880-8054-6B5D9608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809750"/>
            <a:ext cx="1343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1" name="header-bg-3-180">
            <a:extLst xmlns:a="http://schemas.openxmlformats.org/drawingml/2006/main">
              <a:ext uri="{FF2B5EF4-FFF2-40B4-BE49-F238E27FC236}">
                <a16:creationId xmlns:a16="http://schemas.microsoft.com/office/drawing/2014/main" id="{8EEA5A69-53AC-4DA6-9617-E9B53F83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eader-3-180">
            <a:extLst xmlns:a="http://schemas.openxmlformats.org/drawingml/2006/main">
              <a:ext uri="{FF2B5EF4-FFF2-40B4-BE49-F238E27FC236}">
                <a16:creationId xmlns:a16="http://schemas.microsoft.com/office/drawing/2014/main" id="{C8723A55-EFA5-446B-8822-679DCC9B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1438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进度</a:t>
            </a:r>
          </a:p>
        </p:txBody>
      </p:sp>
      <p:sp>
        <p:nvSpPr>
          <p:cNvPr id="13" name="header-bg-4-180">
            <a:extLst xmlns:a="http://schemas.openxmlformats.org/drawingml/2006/main">
              <a:ext uri="{FF2B5EF4-FFF2-40B4-BE49-F238E27FC236}">
                <a16:creationId xmlns:a16="http://schemas.microsoft.com/office/drawing/2014/main" id="{02A4FA6D-7922-4876-B3EF-5E8917AD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7145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header-4-180">
            <a:extLst xmlns:a="http://schemas.openxmlformats.org/drawingml/2006/main">
              <a:ext uri="{FF2B5EF4-FFF2-40B4-BE49-F238E27FC236}">
                <a16:creationId xmlns:a16="http://schemas.microsoft.com/office/drawing/2014/main" id="{8C0C7093-5422-40BB-A3E9-52FF61AE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1809750"/>
            <a:ext cx="10572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优先级</a:t>
            </a:r>
          </a:p>
        </p:txBody>
      </p:sp>
      <p:sp>
        <p:nvSpPr>
          <p:cNvPr id="15" name="cell-bg-0-0-180">
            <a:extLst xmlns:a="http://schemas.openxmlformats.org/drawingml/2006/main">
              <a:ext uri="{FF2B5EF4-FFF2-40B4-BE49-F238E27FC236}">
                <a16:creationId xmlns:a16="http://schemas.microsoft.com/office/drawing/2014/main" id="{8618E437-5789-46A1-9828-A90E0348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cell-0-0-180">
            <a:extLst xmlns:a="http://schemas.openxmlformats.org/drawingml/2006/main">
              <a:ext uri="{FF2B5EF4-FFF2-40B4-BE49-F238E27FC236}">
                <a16:creationId xmlns:a16="http://schemas.microsoft.com/office/drawing/2014/main" id="{5215514D-DC50-4E19-A5B3-103A747F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FEAT-101</a:t>
            </a:r>
          </a:p>
        </p:txBody>
      </p:sp>
      <p:sp>
        <p:nvSpPr>
          <p:cNvPr id="17" name="cell-bg-0-1-180">
            <a:extLst xmlns:a="http://schemas.openxmlformats.org/drawingml/2006/main">
              <a:ext uri="{FF2B5EF4-FFF2-40B4-BE49-F238E27FC236}">
                <a16:creationId xmlns:a16="http://schemas.microsoft.com/office/drawing/2014/main" id="{9AEDE656-30E4-49E7-B4BF-3277BB37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3050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cell-0-1-180">
            <a:extLst xmlns:a="http://schemas.openxmlformats.org/drawingml/2006/main">
              <a:ext uri="{FF2B5EF4-FFF2-40B4-BE49-F238E27FC236}">
                <a16:creationId xmlns:a16="http://schemas.microsoft.com/office/drawing/2014/main" id="{4D890539-52CC-40D4-994C-F7E5D547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3907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新增库存预占与超时释放模块</a:t>
            </a:r>
          </a:p>
        </p:txBody>
      </p:sp>
      <p:sp>
        <p:nvSpPr>
          <p:cNvPr id="19" name="cell-bg-0-2-180">
            <a:extLst xmlns:a="http://schemas.openxmlformats.org/drawingml/2006/main">
              <a:ext uri="{FF2B5EF4-FFF2-40B4-BE49-F238E27FC236}">
                <a16:creationId xmlns:a16="http://schemas.microsoft.com/office/drawing/2014/main" id="{AE4385F4-C905-40D4-BEB5-BD5993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050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cell-0-2-180">
            <a:extLst xmlns:a="http://schemas.openxmlformats.org/drawingml/2006/main">
              <a:ext uri="{FF2B5EF4-FFF2-40B4-BE49-F238E27FC236}">
                <a16:creationId xmlns:a16="http://schemas.microsoft.com/office/drawing/2014/main" id="{EFC95DA8-E066-41E8-B5BA-3672FBF3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21" name="cell-bg-0-3-180">
            <a:extLst xmlns:a="http://schemas.openxmlformats.org/drawingml/2006/main">
              <a:ext uri="{FF2B5EF4-FFF2-40B4-BE49-F238E27FC236}">
                <a16:creationId xmlns:a16="http://schemas.microsoft.com/office/drawing/2014/main" id="{0BE0D1A0-9A9F-4C10-B214-6CDA972C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050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cell-0-3-180">
            <a:extLst xmlns:a="http://schemas.openxmlformats.org/drawingml/2006/main">
              <a:ext uri="{FF2B5EF4-FFF2-40B4-BE49-F238E27FC236}">
                <a16:creationId xmlns:a16="http://schemas.microsoft.com/office/drawing/2014/main" id="{46DAFAC2-9928-448C-9AA3-9D8A2473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907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23" name="cell-bg-0-4-180">
            <a:extLst xmlns:a="http://schemas.openxmlformats.org/drawingml/2006/main">
              <a:ext uri="{FF2B5EF4-FFF2-40B4-BE49-F238E27FC236}">
                <a16:creationId xmlns:a16="http://schemas.microsoft.com/office/drawing/2014/main" id="{D60CE5F9-4292-4C32-B997-B32B7417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050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cell-0-4-180">
            <a:extLst xmlns:a="http://schemas.openxmlformats.org/drawingml/2006/main">
              <a:ext uri="{FF2B5EF4-FFF2-40B4-BE49-F238E27FC236}">
                <a16:creationId xmlns:a16="http://schemas.microsoft.com/office/drawing/2014/main" id="{F3660EF6-58DF-42B1-8098-B0770BD3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3907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P0</a:t>
            </a:r>
          </a:p>
        </p:txBody>
      </p:sp>
      <p:sp>
        <p:nvSpPr>
          <p:cNvPr id="25" name="cell-bg-1-0-180">
            <a:extLst xmlns:a="http://schemas.openxmlformats.org/drawingml/2006/main">
              <a:ext uri="{FF2B5EF4-FFF2-40B4-BE49-F238E27FC236}">
                <a16:creationId xmlns:a16="http://schemas.microsoft.com/office/drawing/2014/main" id="{6AC71F95-D6F0-4603-B8D1-9A49B757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cell-1-0-180">
            <a:extLst xmlns:a="http://schemas.openxmlformats.org/drawingml/2006/main">
              <a:ext uri="{FF2B5EF4-FFF2-40B4-BE49-F238E27FC236}">
                <a16:creationId xmlns:a16="http://schemas.microsoft.com/office/drawing/2014/main" id="{340E344A-34B5-4439-8E9B-0B268F3B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8132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BUG-102</a:t>
            </a:r>
          </a:p>
        </p:txBody>
      </p:sp>
      <p:sp>
        <p:nvSpPr>
          <p:cNvPr id="27" name="cell-bg-1-1-180">
            <a:extLst xmlns:a="http://schemas.openxmlformats.org/drawingml/2006/main">
              <a:ext uri="{FF2B5EF4-FFF2-40B4-BE49-F238E27FC236}">
                <a16:creationId xmlns:a16="http://schemas.microsoft.com/office/drawing/2014/main" id="{2AE90C1C-A377-416B-AE3A-4CDDCAB3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8956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cell-1-1-180">
            <a:extLst xmlns:a="http://schemas.openxmlformats.org/drawingml/2006/main">
              <a:ext uri="{FF2B5EF4-FFF2-40B4-BE49-F238E27FC236}">
                <a16:creationId xmlns:a16="http://schemas.microsoft.com/office/drawing/2014/main" id="{611365E7-ACB9-4FDC-B3C2-43AA9475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8132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高并发库存预占出现超卖</a:t>
            </a:r>
          </a:p>
        </p:txBody>
      </p:sp>
      <p:sp>
        <p:nvSpPr>
          <p:cNvPr id="29" name="cell-bg-1-2-180">
            <a:extLst xmlns:a="http://schemas.openxmlformats.org/drawingml/2006/main">
              <a:ext uri="{FF2B5EF4-FFF2-40B4-BE49-F238E27FC236}">
                <a16:creationId xmlns:a16="http://schemas.microsoft.com/office/drawing/2014/main" id="{1B5EE02A-BAA9-4DA1-906C-B19D79E1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8956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cell-1-2-180">
            <a:extLst xmlns:a="http://schemas.openxmlformats.org/drawingml/2006/main">
              <a:ext uri="{FF2B5EF4-FFF2-40B4-BE49-F238E27FC236}">
                <a16:creationId xmlns:a16="http://schemas.microsoft.com/office/drawing/2014/main" id="{6A591CD7-60EA-4772-B3F4-424F9A21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98132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阻塞</a:t>
            </a:r>
          </a:p>
        </p:txBody>
      </p:sp>
      <p:sp>
        <p:nvSpPr>
          <p:cNvPr id="31" name="cell-bg-1-3-180">
            <a:extLst xmlns:a="http://schemas.openxmlformats.org/drawingml/2006/main">
              <a:ext uri="{FF2B5EF4-FFF2-40B4-BE49-F238E27FC236}">
                <a16:creationId xmlns:a16="http://schemas.microsoft.com/office/drawing/2014/main" id="{0F539DAC-6498-4E9D-B48B-B1119AC1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956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cell-1-3-180">
            <a:extLst xmlns:a="http://schemas.openxmlformats.org/drawingml/2006/main">
              <a:ext uri="{FF2B5EF4-FFF2-40B4-BE49-F238E27FC236}">
                <a16:creationId xmlns:a16="http://schemas.microsoft.com/office/drawing/2014/main" id="{18185C58-9C77-4594-8B84-7DC15B05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8132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45%</a:t>
            </a:r>
          </a:p>
        </p:txBody>
      </p:sp>
      <p:sp>
        <p:nvSpPr>
          <p:cNvPr id="33" name="cell-bg-1-4-180">
            <a:extLst xmlns:a="http://schemas.openxmlformats.org/drawingml/2006/main">
              <a:ext uri="{FF2B5EF4-FFF2-40B4-BE49-F238E27FC236}">
                <a16:creationId xmlns:a16="http://schemas.microsoft.com/office/drawing/2014/main" id="{F81DD2AF-712F-4DB0-9875-3C5CD4B6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8956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cell-1-4-180">
            <a:extLst xmlns:a="http://schemas.openxmlformats.org/drawingml/2006/main">
              <a:ext uri="{FF2B5EF4-FFF2-40B4-BE49-F238E27FC236}">
                <a16:creationId xmlns:a16="http://schemas.microsoft.com/office/drawing/2014/main" id="{9F233C4D-9805-406B-9081-B1F52D24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98132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P0</a:t>
            </a:r>
          </a:p>
        </p:txBody>
      </p:sp>
      <p:sp>
        <p:nvSpPr>
          <p:cNvPr id="35" name="cell-bg-2-0-180">
            <a:extLst xmlns:a="http://schemas.openxmlformats.org/drawingml/2006/main">
              <a:ext uri="{FF2B5EF4-FFF2-40B4-BE49-F238E27FC236}">
                <a16:creationId xmlns:a16="http://schemas.microsoft.com/office/drawing/2014/main" id="{FE96AFDA-75DB-4F92-BC46-C74C7F87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cell-2-0-180">
            <a:extLst xmlns:a="http://schemas.openxmlformats.org/drawingml/2006/main">
              <a:ext uri="{FF2B5EF4-FFF2-40B4-BE49-F238E27FC236}">
                <a16:creationId xmlns:a16="http://schemas.microsoft.com/office/drawing/2014/main" id="{9BFF0593-545B-4033-A432-17CDFDAA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718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BUG-103</a:t>
            </a:r>
          </a:p>
        </p:txBody>
      </p:sp>
      <p:sp>
        <p:nvSpPr>
          <p:cNvPr id="37" name="cell-bg-2-1-180">
            <a:extLst xmlns:a="http://schemas.openxmlformats.org/drawingml/2006/main">
              <a:ext uri="{FF2B5EF4-FFF2-40B4-BE49-F238E27FC236}">
                <a16:creationId xmlns:a16="http://schemas.microsoft.com/office/drawing/2014/main" id="{70F48857-D483-432A-8821-6FDD1224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4861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cell-2-1-180">
            <a:extLst xmlns:a="http://schemas.openxmlformats.org/drawingml/2006/main">
              <a:ext uri="{FF2B5EF4-FFF2-40B4-BE49-F238E27FC236}">
                <a16:creationId xmlns:a16="http://schemas.microsoft.com/office/drawing/2014/main" id="{3DC987D1-85EF-4520-AE02-08A05012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718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取消订单后库存未完全释放</a:t>
            </a:r>
          </a:p>
        </p:txBody>
      </p:sp>
      <p:sp>
        <p:nvSpPr>
          <p:cNvPr id="39" name="cell-bg-2-2-180">
            <a:extLst xmlns:a="http://schemas.openxmlformats.org/drawingml/2006/main">
              <a:ext uri="{FF2B5EF4-FFF2-40B4-BE49-F238E27FC236}">
                <a16:creationId xmlns:a16="http://schemas.microsoft.com/office/drawing/2014/main" id="{E3BDC137-3296-4350-94DA-B89F2DFD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861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cell-2-2-180">
            <a:extLst xmlns:a="http://schemas.openxmlformats.org/drawingml/2006/main">
              <a:ext uri="{FF2B5EF4-FFF2-40B4-BE49-F238E27FC236}">
                <a16:creationId xmlns:a16="http://schemas.microsoft.com/office/drawing/2014/main" id="{AA31693A-BFCA-469F-BA50-F5F97D81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5718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41" name="cell-bg-2-3-180">
            <a:extLst xmlns:a="http://schemas.openxmlformats.org/drawingml/2006/main">
              <a:ext uri="{FF2B5EF4-FFF2-40B4-BE49-F238E27FC236}">
                <a16:creationId xmlns:a16="http://schemas.microsoft.com/office/drawing/2014/main" id="{15C1F4C9-6F11-49D5-9B28-4AFF863A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861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cell-2-3-180">
            <a:extLst xmlns:a="http://schemas.openxmlformats.org/drawingml/2006/main">
              <a:ext uri="{FF2B5EF4-FFF2-40B4-BE49-F238E27FC236}">
                <a16:creationId xmlns:a16="http://schemas.microsoft.com/office/drawing/2014/main" id="{1A65C379-0C09-4EE9-8568-A0637668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718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43" name="cell-bg-2-4-180">
            <a:extLst xmlns:a="http://schemas.openxmlformats.org/drawingml/2006/main">
              <a:ext uri="{FF2B5EF4-FFF2-40B4-BE49-F238E27FC236}">
                <a16:creationId xmlns:a16="http://schemas.microsoft.com/office/drawing/2014/main" id="{31F69324-6C32-4EFF-9748-5E735F6E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34861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cell-2-4-180">
            <a:extLst xmlns:a="http://schemas.openxmlformats.org/drawingml/2006/main">
              <a:ext uri="{FF2B5EF4-FFF2-40B4-BE49-F238E27FC236}">
                <a16:creationId xmlns:a16="http://schemas.microsoft.com/office/drawing/2014/main" id="{5F9BC63D-BDFC-4085-9CB4-F4C27EFD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5718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  <p:sp>
        <p:nvSpPr>
          <p:cNvPr id="45" name="cell-bg-3-0-180">
            <a:extLst xmlns:a="http://schemas.openxmlformats.org/drawingml/2006/main">
              <a:ext uri="{FF2B5EF4-FFF2-40B4-BE49-F238E27FC236}">
                <a16:creationId xmlns:a16="http://schemas.microsoft.com/office/drawing/2014/main" id="{F8E932C7-153D-4B9E-B757-4FFB1ACE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7670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6" name="cell-3-0-180">
            <a:extLst xmlns:a="http://schemas.openxmlformats.org/drawingml/2006/main">
              <a:ext uri="{FF2B5EF4-FFF2-40B4-BE49-F238E27FC236}">
                <a16:creationId xmlns:a16="http://schemas.microsoft.com/office/drawing/2014/main" id="{053B544A-5BDC-4838-A702-DE6005CC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6242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PERF-104</a:t>
            </a:r>
          </a:p>
        </p:txBody>
      </p:sp>
      <p:sp>
        <p:nvSpPr>
          <p:cNvPr id="47" name="cell-bg-3-1-180">
            <a:extLst xmlns:a="http://schemas.openxmlformats.org/drawingml/2006/main">
              <a:ext uri="{FF2B5EF4-FFF2-40B4-BE49-F238E27FC236}">
                <a16:creationId xmlns:a16="http://schemas.microsoft.com/office/drawing/2014/main" id="{1F202CC8-62AC-4F75-937A-A6018B2B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0767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8" name="cell-3-1-180">
            <a:extLst xmlns:a="http://schemas.openxmlformats.org/drawingml/2006/main">
              <a:ext uri="{FF2B5EF4-FFF2-40B4-BE49-F238E27FC236}">
                <a16:creationId xmlns:a16="http://schemas.microsoft.com/office/drawing/2014/main" id="{56E7BC66-B149-4794-8AF6-56F82795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16242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购物车批量库存校验存在 N+1 查询</a:t>
            </a:r>
          </a:p>
        </p:txBody>
      </p:sp>
      <p:sp>
        <p:nvSpPr>
          <p:cNvPr id="49" name="cell-bg-3-2-180">
            <a:extLst xmlns:a="http://schemas.openxmlformats.org/drawingml/2006/main">
              <a:ext uri="{FF2B5EF4-FFF2-40B4-BE49-F238E27FC236}">
                <a16:creationId xmlns:a16="http://schemas.microsoft.com/office/drawing/2014/main" id="{A7DC81B9-F3FF-4FC2-A577-BAACEA09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7670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0" name="cell-3-2-180">
            <a:extLst xmlns:a="http://schemas.openxmlformats.org/drawingml/2006/main">
              <a:ext uri="{FF2B5EF4-FFF2-40B4-BE49-F238E27FC236}">
                <a16:creationId xmlns:a16="http://schemas.microsoft.com/office/drawing/2014/main" id="{34FB225A-0191-4E35-B591-C618481F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6242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51" name="cell-bg-3-3-180">
            <a:extLst xmlns:a="http://schemas.openxmlformats.org/drawingml/2006/main">
              <a:ext uri="{FF2B5EF4-FFF2-40B4-BE49-F238E27FC236}">
                <a16:creationId xmlns:a16="http://schemas.microsoft.com/office/drawing/2014/main" id="{E9F31D97-4F88-4F40-B38D-A402CFAA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767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2" name="cell-3-3-180">
            <a:extLst xmlns:a="http://schemas.openxmlformats.org/drawingml/2006/main">
              <a:ext uri="{FF2B5EF4-FFF2-40B4-BE49-F238E27FC236}">
                <a16:creationId xmlns:a16="http://schemas.microsoft.com/office/drawing/2014/main" id="{E45D5C21-0096-4FB3-B2CD-2295C0D3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6242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90%</a:t>
            </a:r>
          </a:p>
        </p:txBody>
      </p:sp>
      <p:sp>
        <p:nvSpPr>
          <p:cNvPr id="53" name="cell-bg-3-4-180">
            <a:extLst xmlns:a="http://schemas.openxmlformats.org/drawingml/2006/main">
              <a:ext uri="{FF2B5EF4-FFF2-40B4-BE49-F238E27FC236}">
                <a16:creationId xmlns:a16="http://schemas.microsoft.com/office/drawing/2014/main" id="{9E0074B1-8B6A-4521-A989-51607ADF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07670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4" name="cell-3-4-180">
            <a:extLst xmlns:a="http://schemas.openxmlformats.org/drawingml/2006/main">
              <a:ext uri="{FF2B5EF4-FFF2-40B4-BE49-F238E27FC236}">
                <a16:creationId xmlns:a16="http://schemas.microsoft.com/office/drawing/2014/main" id="{63A3D6C2-2CD0-44DA-BE84-3B37CE1C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16242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  <p:sp>
        <p:nvSpPr>
          <p:cNvPr id="55" name="cell-bg-4-0-180">
            <a:extLst xmlns:a="http://schemas.openxmlformats.org/drawingml/2006/main">
              <a:ext uri="{FF2B5EF4-FFF2-40B4-BE49-F238E27FC236}">
                <a16:creationId xmlns:a16="http://schemas.microsoft.com/office/drawing/2014/main" id="{4FBCB7A8-978C-467D-BDFE-2470AFD9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1476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6" name="cell-4-0-180">
            <a:extLst xmlns:a="http://schemas.openxmlformats.org/drawingml/2006/main">
              <a:ext uri="{FF2B5EF4-FFF2-40B4-BE49-F238E27FC236}">
                <a16:creationId xmlns:a16="http://schemas.microsoft.com/office/drawing/2014/main" id="{273406F5-90C1-463B-857B-4DE68EA6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52975"/>
            <a:ext cx="1247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SEC-105</a:t>
            </a:r>
          </a:p>
        </p:txBody>
      </p:sp>
      <p:sp>
        <p:nvSpPr>
          <p:cNvPr id="57" name="cell-bg-4-1-180">
            <a:extLst xmlns:a="http://schemas.openxmlformats.org/drawingml/2006/main">
              <a:ext uri="{FF2B5EF4-FFF2-40B4-BE49-F238E27FC236}">
                <a16:creationId xmlns:a16="http://schemas.microsoft.com/office/drawing/2014/main" id="{2DEF9992-54B9-40B8-A88B-9A0B5A56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6672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8" name="cell-4-1-180">
            <a:extLst xmlns:a="http://schemas.openxmlformats.org/drawingml/2006/main">
              <a:ext uri="{FF2B5EF4-FFF2-40B4-BE49-F238E27FC236}">
                <a16:creationId xmlns:a16="http://schemas.microsoft.com/office/drawing/2014/main" id="{9BB09770-827E-4A2D-8249-85D7C654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752975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后台人工调整库存缺少权限与审计校验</a:t>
            </a:r>
          </a:p>
        </p:txBody>
      </p:sp>
      <p:sp>
        <p:nvSpPr>
          <p:cNvPr id="59" name="cell-bg-4-2-180">
            <a:extLst xmlns:a="http://schemas.openxmlformats.org/drawingml/2006/main">
              <a:ext uri="{FF2B5EF4-FFF2-40B4-BE49-F238E27FC236}">
                <a16:creationId xmlns:a16="http://schemas.microsoft.com/office/drawing/2014/main" id="{CC7D763C-4162-4324-A5B1-0AA3F53C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67250"/>
            <a:ext cx="1571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0" name="cell-4-2-180">
            <a:extLst xmlns:a="http://schemas.openxmlformats.org/drawingml/2006/main">
              <a:ext uri="{FF2B5EF4-FFF2-40B4-BE49-F238E27FC236}">
                <a16:creationId xmlns:a16="http://schemas.microsoft.com/office/drawing/2014/main" id="{482C8B64-8A2A-4459-9E44-158315DF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752975"/>
            <a:ext cx="1343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待开始</a:t>
            </a:r>
          </a:p>
        </p:txBody>
      </p:sp>
      <p:sp>
        <p:nvSpPr>
          <p:cNvPr id="61" name="cell-bg-4-3-180">
            <a:extLst xmlns:a="http://schemas.openxmlformats.org/drawingml/2006/main">
              <a:ext uri="{FF2B5EF4-FFF2-40B4-BE49-F238E27FC236}">
                <a16:creationId xmlns:a16="http://schemas.microsoft.com/office/drawing/2014/main" id="{4A36B871-1F3A-454B-8C18-6CEE0D28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6672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2" name="cell-4-3-180">
            <a:extLst xmlns:a="http://schemas.openxmlformats.org/drawingml/2006/main">
              <a:ext uri="{FF2B5EF4-FFF2-40B4-BE49-F238E27FC236}">
                <a16:creationId xmlns:a16="http://schemas.microsoft.com/office/drawing/2014/main" id="{F5C88A1F-D18A-4B22-BD56-47C15337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52975"/>
            <a:ext cx="1438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63" name="cell-bg-4-4-180">
            <a:extLst xmlns:a="http://schemas.openxmlformats.org/drawingml/2006/main">
              <a:ext uri="{FF2B5EF4-FFF2-40B4-BE49-F238E27FC236}">
                <a16:creationId xmlns:a16="http://schemas.microsoft.com/office/drawing/2014/main" id="{9E221E3F-2315-4490-B6A9-771D1606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667250"/>
            <a:ext cx="1285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64" name="cell-4-4-180">
            <a:extLst xmlns:a="http://schemas.openxmlformats.org/drawingml/2006/main">
              <a:ext uri="{FF2B5EF4-FFF2-40B4-BE49-F238E27FC236}">
                <a16:creationId xmlns:a16="http://schemas.microsoft.com/office/drawing/2014/main" id="{CBB381AE-C222-4415-929A-7426468D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4752975"/>
            <a:ext cx="1057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P1</a:t>
            </a:r>
          </a:p>
        </p:txBody>
      </p:sp>
    </p:spTree>
    <p:extLst>
      <p:ext uri="{BB962C8B-B14F-4D97-AF65-F5344CB8AC3E}">
        <p14:creationId xmlns:p14="http://schemas.microsoft.com/office/powerpoint/2010/main" val="12542716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AC0E2F33-8AB5-465C-BB5C-C81D21A6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首次修复只锁写入，仍未关闭并发竞态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EBC86A83-34B3-46D9-8412-2C4FF484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BUG-102 / PR #202 / changes requested</a:t>
            </a:r>
          </a:p>
        </p:txBody>
      </p:sp>
      <p:sp>
        <p:nvSpPr>
          <p:cNvPr id="3" name="footer-4">
            <a:extLst xmlns:a="http://schemas.openxmlformats.org/drawingml/2006/main">
              <a:ext uri="{FF2B5EF4-FFF2-40B4-BE49-F238E27FC236}">
                <a16:creationId xmlns:a16="http://schemas.microsoft.com/office/drawing/2014/main" id="{F3FDE462-E6AE-4304-9F1B-61696465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744CD394-9E80-4A73-9C6E-49F2E3D8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bug-left">
            <a:extLst xmlns:a="http://schemas.openxmlformats.org/drawingml/2006/main">
              <a:ext uri="{FF2B5EF4-FFF2-40B4-BE49-F238E27FC236}">
                <a16:creationId xmlns:a16="http://schemas.microsoft.com/office/drawing/2014/main" id="{C9F47268-F66B-4F0C-9F0F-FB64E33D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246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bug-code-title">
            <a:extLst xmlns:a="http://schemas.openxmlformats.org/drawingml/2006/main">
              <a:ext uri="{FF2B5EF4-FFF2-40B4-BE49-F238E27FC236}">
                <a16:creationId xmlns:a16="http://schemas.microsoft.com/office/drawing/2014/main" id="{9A04A521-A170-427A-9E8B-F15179A5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失败证据</a:t>
            </a:r>
          </a:p>
        </p:txBody>
      </p:sp>
      <p:sp>
        <p:nvSpPr>
          <p:cNvPr id="7" name="bug-code">
            <a:extLst xmlns:a="http://schemas.openxmlformats.org/drawingml/2006/main">
              <a:ext uri="{FF2B5EF4-FFF2-40B4-BE49-F238E27FC236}">
                <a16:creationId xmlns:a16="http://schemas.microsoft.com/office/drawing/2014/main" id="{25D7741F-1B9D-47A4-A84D-7A7B302B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6096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分支    fix/bug-102-oversell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SHA     80fcfb3035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模块    inventory-reservation / quality-gates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Diff    +34 / -7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检查    bug-102-regression: failure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断言    expected available=0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        actual available=-1</a:t>
            </a:r>
          </a:p>
        </p:txBody>
      </p:sp>
      <p:sp>
        <p:nvSpPr>
          <p:cNvPr id="8" name="bug-risk">
            <a:extLst xmlns:a="http://schemas.openxmlformats.org/drawingml/2006/main">
              <a:ext uri="{FF2B5EF4-FFF2-40B4-BE49-F238E27FC236}">
                <a16:creationId xmlns:a16="http://schemas.microsoft.com/office/drawing/2014/main" id="{B36FA824-AB22-4E70-BFDE-130506E1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14500"/>
            <a:ext cx="42862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bug-risk-title">
            <a:extLst xmlns:a="http://schemas.openxmlformats.org/drawingml/2006/main">
              <a:ext uri="{FF2B5EF4-FFF2-40B4-BE49-F238E27FC236}">
                <a16:creationId xmlns:a16="http://schemas.microsoft.com/office/drawing/2014/main" id="{ADB6104B-933F-43E1-8761-31D33A40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00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风险判断</a:t>
            </a:r>
          </a:p>
        </p:txBody>
      </p:sp>
      <p:sp>
        <p:nvSpPr>
          <p:cNvPr id="10" name="bug-risk-body">
            <a:extLst xmlns:a="http://schemas.openxmlformats.org/drawingml/2006/main">
              <a:ext uri="{FF2B5EF4-FFF2-40B4-BE49-F238E27FC236}">
                <a16:creationId xmlns:a16="http://schemas.microsoft.com/office/drawing/2014/main" id="{DCEBFB52-33AD-49C8-B3F5-9FC9443E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336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余量校验仍在锁外，两个请求可以读取同一份库存。当前修改不能通过发布门禁。</a:t>
            </a:r>
          </a:p>
        </p:txBody>
      </p:sp>
      <p:sp>
        <p:nvSpPr>
          <p:cNvPr id="11" name="bug-action-title">
            <a:extLst xmlns:a="http://schemas.openxmlformats.org/drawingml/2006/main">
              <a:ext uri="{FF2B5EF4-FFF2-40B4-BE49-F238E27FC236}">
                <a16:creationId xmlns:a16="http://schemas.microsoft.com/office/drawing/2014/main" id="{2443B965-2948-452E-B364-29DFE681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8481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下一步</a:t>
            </a:r>
          </a:p>
        </p:txBody>
      </p:sp>
      <p:sp>
        <p:nvSpPr>
          <p:cNvPr id="12" name="bug-action-body">
            <a:extLst xmlns:a="http://schemas.openxmlformats.org/drawingml/2006/main">
              <a:ext uri="{FF2B5EF4-FFF2-40B4-BE49-F238E27FC236}">
                <a16:creationId xmlns:a16="http://schemas.microsoft.com/office/drawing/2014/main" id="{10F74690-084A-43C3-B3E7-17E2569C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38150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1. 将校验与写入纳入同一原子边界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2. 保留订单 ID 幂等约束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3. 让并发回归进入发布门禁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4. 由库存一致性专家复核方案</a:t>
            </a:r>
          </a:p>
        </p:txBody>
      </p:sp>
    </p:spTree>
    <p:extLst>
      <p:ext uri="{BB962C8B-B14F-4D97-AF65-F5344CB8AC3E}">
        <p14:creationId xmlns:p14="http://schemas.microsoft.com/office/powerpoint/2010/main" val="293007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title-5">
            <a:extLst xmlns:a="http://schemas.openxmlformats.org/drawingml/2006/main">
              <a:ext uri="{FF2B5EF4-FFF2-40B4-BE49-F238E27FC236}">
                <a16:creationId xmlns:a16="http://schemas.microsoft.com/office/drawing/2014/main" id="{94B07579-9F7E-4086-9D42-844FDA2A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三条开发线影响库存核心链路，一条改动脱离计划</a:t>
            </a:r>
          </a:p>
        </p:txBody>
      </p:sp>
      <p:sp>
        <p:nvSpPr>
          <p:cNvPr id="2" name="subtitle-5">
            <a:extLst xmlns:a="http://schemas.openxmlformats.org/drawingml/2006/main">
              <a:ext uri="{FF2B5EF4-FFF2-40B4-BE49-F238E27FC236}">
                <a16:creationId xmlns:a16="http://schemas.microsoft.com/office/drawing/2014/main" id="{BEE1FCC3-68CD-4407-9B63-312A8B84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代码变化按 PR 与 Git ref 归因。</a:t>
            </a:r>
          </a:p>
        </p:txBody>
      </p:sp>
      <p:sp>
        <p:nvSpPr>
          <p:cNvPr id="3" name="footer-5">
            <a:extLst xmlns:a="http://schemas.openxmlformats.org/drawingml/2006/main">
              <a:ext uri="{FF2B5EF4-FFF2-40B4-BE49-F238E27FC236}">
                <a16:creationId xmlns:a16="http://schemas.microsoft.com/office/drawing/2014/main" id="{0CC35BBC-CA74-4FEF-980A-BA5E2FDA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C3D7BE62-0EC7-4826-8485-D17AC5B8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5" name="impact-head-bg-0">
            <a:extLst xmlns:a="http://schemas.openxmlformats.org/drawingml/2006/main">
              <a:ext uri="{FF2B5EF4-FFF2-40B4-BE49-F238E27FC236}">
                <a16:creationId xmlns:a16="http://schemas.microsoft.com/office/drawing/2014/main" id="{4646D9C7-F6B3-47AD-AA08-1C656EDC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impact-head-0">
            <a:extLst xmlns:a="http://schemas.openxmlformats.org/drawingml/2006/main">
              <a:ext uri="{FF2B5EF4-FFF2-40B4-BE49-F238E27FC236}">
                <a16:creationId xmlns:a16="http://schemas.microsoft.com/office/drawing/2014/main" id="{CB92DB5F-D8B4-4EE6-AA74-0D192AAD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28800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变更</a:t>
            </a:r>
          </a:p>
        </p:txBody>
      </p:sp>
      <p:sp>
        <p:nvSpPr>
          <p:cNvPr id="7" name="impact-head-bg-1">
            <a:extLst xmlns:a="http://schemas.openxmlformats.org/drawingml/2006/main">
              <a:ext uri="{FF2B5EF4-FFF2-40B4-BE49-F238E27FC236}">
                <a16:creationId xmlns:a16="http://schemas.microsoft.com/office/drawing/2014/main" id="{EB85BFC5-030E-41F0-B008-C539F838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7145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impact-head-1">
            <a:extLst xmlns:a="http://schemas.openxmlformats.org/drawingml/2006/main">
              <a:ext uri="{FF2B5EF4-FFF2-40B4-BE49-F238E27FC236}">
                <a16:creationId xmlns:a16="http://schemas.microsoft.com/office/drawing/2014/main" id="{3D7801AA-7DD7-4B63-8802-F5EACF8F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28800"/>
            <a:ext cx="4248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目的</a:t>
            </a:r>
          </a:p>
        </p:txBody>
      </p:sp>
      <p:sp>
        <p:nvSpPr>
          <p:cNvPr id="9" name="impact-head-bg-2">
            <a:extLst xmlns:a="http://schemas.openxmlformats.org/drawingml/2006/main">
              <a:ext uri="{FF2B5EF4-FFF2-40B4-BE49-F238E27FC236}">
                <a16:creationId xmlns:a16="http://schemas.microsoft.com/office/drawing/2014/main" id="{87E02FE9-33CF-4FA8-8ECE-D9C2795E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14500"/>
            <a:ext cx="342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mpact-head-2">
            <a:extLst xmlns:a="http://schemas.openxmlformats.org/drawingml/2006/main">
              <a:ext uri="{FF2B5EF4-FFF2-40B4-BE49-F238E27FC236}">
                <a16:creationId xmlns:a16="http://schemas.microsoft.com/office/drawing/2014/main" id="{E402667E-9611-4B76-84D4-C4C5D9C2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28800"/>
            <a:ext cx="320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影响模块</a:t>
            </a:r>
          </a:p>
        </p:txBody>
      </p:sp>
      <p:sp>
        <p:nvSpPr>
          <p:cNvPr id="11" name="impact-head-bg-3">
            <a:extLst xmlns:a="http://schemas.openxmlformats.org/drawingml/2006/main">
              <a:ext uri="{FF2B5EF4-FFF2-40B4-BE49-F238E27FC236}">
                <a16:creationId xmlns:a16="http://schemas.microsoft.com/office/drawing/2014/main" id="{5C775133-1193-492B-97BA-34D784A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714500"/>
            <a:ext cx="1866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act-head-3">
            <a:extLst xmlns:a="http://schemas.openxmlformats.org/drawingml/2006/main">
              <a:ext uri="{FF2B5EF4-FFF2-40B4-BE49-F238E27FC236}">
                <a16:creationId xmlns:a16="http://schemas.microsoft.com/office/drawing/2014/main" id="{2C922B63-FE99-43B6-96FE-3C5C0B3F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28800"/>
            <a:ext cx="1638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13" name="impact-bg-0-0">
            <a:extLst xmlns:a="http://schemas.openxmlformats.org/drawingml/2006/main">
              <a:ext uri="{FF2B5EF4-FFF2-40B4-BE49-F238E27FC236}">
                <a16:creationId xmlns:a16="http://schemas.microsoft.com/office/drawing/2014/main" id="{8520F993-567C-4C36-A343-FFC0F7EB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4" name="impact-0-0">
            <a:extLst xmlns:a="http://schemas.openxmlformats.org/drawingml/2006/main">
              <a:ext uri="{FF2B5EF4-FFF2-40B4-BE49-F238E27FC236}">
                <a16:creationId xmlns:a16="http://schemas.microsoft.com/office/drawing/2014/main" id="{47BC976A-94B5-44C0-8D5A-FCA9E592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#202</a:t>
            </a:r>
          </a:p>
        </p:txBody>
      </p:sp>
      <p:sp>
        <p:nvSpPr>
          <p:cNvPr id="15" name="impact-bg-0-1">
            <a:extLst xmlns:a="http://schemas.openxmlformats.org/drawingml/2006/main">
              <a:ext uri="{FF2B5EF4-FFF2-40B4-BE49-F238E27FC236}">
                <a16:creationId xmlns:a16="http://schemas.microsoft.com/office/drawing/2014/main" id="{8CD1D23A-AB66-4331-A669-1400193E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6695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impact-0-1">
            <a:extLst xmlns:a="http://schemas.openxmlformats.org/drawingml/2006/main">
              <a:ext uri="{FF2B5EF4-FFF2-40B4-BE49-F238E27FC236}">
                <a16:creationId xmlns:a16="http://schemas.microsoft.com/office/drawing/2014/main" id="{0986C5EC-210E-406E-9115-5DD0A45B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8125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fix: serialize reservation writes for BUG-102</a:t>
            </a:r>
          </a:p>
        </p:txBody>
      </p:sp>
      <p:sp>
        <p:nvSpPr>
          <p:cNvPr id="17" name="impact-bg-0-2">
            <a:extLst xmlns:a="http://schemas.openxmlformats.org/drawingml/2006/main">
              <a:ext uri="{FF2B5EF4-FFF2-40B4-BE49-F238E27FC236}">
                <a16:creationId xmlns:a16="http://schemas.microsoft.com/office/drawing/2014/main" id="{4CF2ABFC-5D75-48FA-97B7-0FBE37AF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impact-0-2">
            <a:extLst xmlns:a="http://schemas.openxmlformats.org/drawingml/2006/main">
              <a:ext uri="{FF2B5EF4-FFF2-40B4-BE49-F238E27FC236}">
                <a16:creationId xmlns:a16="http://schemas.microsoft.com/office/drawing/2014/main" id="{C1B8C47C-4856-45AD-9D4E-1053B011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8125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inventory-reservation / quality-gates</a:t>
            </a:r>
          </a:p>
        </p:txBody>
      </p:sp>
      <p:sp>
        <p:nvSpPr>
          <p:cNvPr id="19" name="impact-bg-0-3">
            <a:extLst xmlns:a="http://schemas.openxmlformats.org/drawingml/2006/main">
              <a:ext uri="{FF2B5EF4-FFF2-40B4-BE49-F238E27FC236}">
                <a16:creationId xmlns:a16="http://schemas.microsoft.com/office/drawing/2014/main" id="{7C5E73BC-70E8-4754-895B-97E393DA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impact-0-3">
            <a:extLst xmlns:a="http://schemas.openxmlformats.org/drawingml/2006/main">
              <a:ext uri="{FF2B5EF4-FFF2-40B4-BE49-F238E27FC236}">
                <a16:creationId xmlns:a16="http://schemas.microsoft.com/office/drawing/2014/main" id="{96BAF71B-D689-402A-81C8-A2BB34D6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8125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检查失败</a:t>
            </a:r>
          </a:p>
        </p:txBody>
      </p:sp>
      <p:sp>
        <p:nvSpPr>
          <p:cNvPr id="21" name="impact-bg-1-0">
            <a:extLst xmlns:a="http://schemas.openxmlformats.org/drawingml/2006/main">
              <a:ext uri="{FF2B5EF4-FFF2-40B4-BE49-F238E27FC236}">
                <a16:creationId xmlns:a16="http://schemas.microsoft.com/office/drawing/2014/main" id="{15F0399D-54E7-495F-9217-CE73E13C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impact-1-0">
            <a:extLst xmlns:a="http://schemas.openxmlformats.org/drawingml/2006/main">
              <a:ext uri="{FF2B5EF4-FFF2-40B4-BE49-F238E27FC236}">
                <a16:creationId xmlns:a16="http://schemas.microsoft.com/office/drawing/2014/main" id="{3C66DE44-E535-4DA3-A6C6-CCDDF85A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#203</a:t>
            </a:r>
          </a:p>
        </p:txBody>
      </p:sp>
      <p:sp>
        <p:nvSpPr>
          <p:cNvPr id="23" name="impact-bg-1-1">
            <a:extLst xmlns:a="http://schemas.openxmlformats.org/drawingml/2006/main">
              <a:ext uri="{FF2B5EF4-FFF2-40B4-BE49-F238E27FC236}">
                <a16:creationId xmlns:a16="http://schemas.microsoft.com/office/drawing/2014/main" id="{62A0971F-422C-4D8E-A967-9F352127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4800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impact-1-1">
            <a:extLst xmlns:a="http://schemas.openxmlformats.org/drawingml/2006/main">
              <a:ext uri="{FF2B5EF4-FFF2-40B4-BE49-F238E27FC236}">
                <a16:creationId xmlns:a16="http://schemas.microsoft.com/office/drawing/2014/main" id="{57FC5EB3-EA3E-4CAB-9358-03581632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6230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fix: release cancelled order inventory correctly</a:t>
            </a:r>
          </a:p>
        </p:txBody>
      </p:sp>
      <p:sp>
        <p:nvSpPr>
          <p:cNvPr id="25" name="impact-bg-1-2">
            <a:extLst xmlns:a="http://schemas.openxmlformats.org/drawingml/2006/main">
              <a:ext uri="{FF2B5EF4-FFF2-40B4-BE49-F238E27FC236}">
                <a16:creationId xmlns:a16="http://schemas.microsoft.com/office/drawing/2014/main" id="{DB489DFF-1395-4CE6-B446-E6A7641D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4800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impact-1-2">
            <a:extLst xmlns:a="http://schemas.openxmlformats.org/drawingml/2006/main">
              <a:ext uri="{FF2B5EF4-FFF2-40B4-BE49-F238E27FC236}">
                <a16:creationId xmlns:a16="http://schemas.microsoft.com/office/drawing/2014/main" id="{3BB48E97-22B6-48C8-814D-22DE19CD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6230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inventory-reservation / quality-gates</a:t>
            </a:r>
          </a:p>
        </p:txBody>
      </p:sp>
      <p:sp>
        <p:nvSpPr>
          <p:cNvPr id="27" name="impact-bg-1-3">
            <a:extLst xmlns:a="http://schemas.openxmlformats.org/drawingml/2006/main">
              <a:ext uri="{FF2B5EF4-FFF2-40B4-BE49-F238E27FC236}">
                <a16:creationId xmlns:a16="http://schemas.microsoft.com/office/drawing/2014/main" id="{941BCE97-C64F-4E3F-9707-A1B86D12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4800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impact-1-3">
            <a:extLst xmlns:a="http://schemas.openxmlformats.org/drawingml/2006/main">
              <a:ext uri="{FF2B5EF4-FFF2-40B4-BE49-F238E27FC236}">
                <a16:creationId xmlns:a16="http://schemas.microsoft.com/office/drawing/2014/main" id="{158B1E86-52B0-4062-ADD9-08BB4B13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16230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已合并</a:t>
            </a:r>
          </a:p>
        </p:txBody>
      </p:sp>
      <p:sp>
        <p:nvSpPr>
          <p:cNvPr id="29" name="impact-bg-2-0">
            <a:extLst xmlns:a="http://schemas.openxmlformats.org/drawingml/2006/main">
              <a:ext uri="{FF2B5EF4-FFF2-40B4-BE49-F238E27FC236}">
                <a16:creationId xmlns:a16="http://schemas.microsoft.com/office/drawing/2014/main" id="{96EA28BC-B7A3-4B8A-B2F9-C33E16E9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2905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impact-2-0">
            <a:extLst xmlns:a="http://schemas.openxmlformats.org/drawingml/2006/main">
              <a:ext uri="{FF2B5EF4-FFF2-40B4-BE49-F238E27FC236}">
                <a16:creationId xmlns:a16="http://schemas.microsoft.com/office/drawing/2014/main" id="{778E6559-5586-4EBF-8923-174F1775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PR #204</a:t>
            </a:r>
          </a:p>
        </p:txBody>
      </p:sp>
      <p:sp>
        <p:nvSpPr>
          <p:cNvPr id="31" name="impact-bg-2-1">
            <a:extLst xmlns:a="http://schemas.openxmlformats.org/drawingml/2006/main">
              <a:ext uri="{FF2B5EF4-FFF2-40B4-BE49-F238E27FC236}">
                <a16:creationId xmlns:a16="http://schemas.microsoft.com/office/drawing/2014/main" id="{91346018-6AC0-4612-A1AC-7D837200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82905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impact-2-1">
            <a:extLst xmlns:a="http://schemas.openxmlformats.org/drawingml/2006/main">
              <a:ext uri="{FF2B5EF4-FFF2-40B4-BE49-F238E27FC236}">
                <a16:creationId xmlns:a16="http://schemas.microsoft.com/office/drawing/2014/main" id="{CBA646B6-BB07-4478-B314-B02901E7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94335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perf: batch cart inventory availability checks</a:t>
            </a:r>
          </a:p>
        </p:txBody>
      </p:sp>
      <p:sp>
        <p:nvSpPr>
          <p:cNvPr id="33" name="impact-bg-2-2">
            <a:extLst xmlns:a="http://schemas.openxmlformats.org/drawingml/2006/main">
              <a:ext uri="{FF2B5EF4-FFF2-40B4-BE49-F238E27FC236}">
                <a16:creationId xmlns:a16="http://schemas.microsoft.com/office/drawing/2014/main" id="{CCEDEB6D-C8E8-4D13-BEAF-C76543E2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2905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impact-2-2">
            <a:extLst xmlns:a="http://schemas.openxmlformats.org/drawingml/2006/main">
              <a:ext uri="{FF2B5EF4-FFF2-40B4-BE49-F238E27FC236}">
                <a16:creationId xmlns:a16="http://schemas.microsoft.com/office/drawing/2014/main" id="{586FEE3E-AC93-454E-83C5-4F938FAD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4335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cart-service / inventory-reservation / quality-gates</a:t>
            </a:r>
          </a:p>
        </p:txBody>
      </p:sp>
      <p:sp>
        <p:nvSpPr>
          <p:cNvPr id="35" name="impact-bg-2-3">
            <a:extLst xmlns:a="http://schemas.openxmlformats.org/drawingml/2006/main">
              <a:ext uri="{FF2B5EF4-FFF2-40B4-BE49-F238E27FC236}">
                <a16:creationId xmlns:a16="http://schemas.microsoft.com/office/drawing/2014/main" id="{3223AC13-5D40-46ED-A74A-2F9911C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82905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impact-2-3">
            <a:extLst xmlns:a="http://schemas.openxmlformats.org/drawingml/2006/main">
              <a:ext uri="{FF2B5EF4-FFF2-40B4-BE49-F238E27FC236}">
                <a16:creationId xmlns:a16="http://schemas.microsoft.com/office/drawing/2014/main" id="{C8F7464A-8760-47CC-A24E-FA25A5EF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94335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37" name="impact-bg-3-0">
            <a:extLst xmlns:a="http://schemas.openxmlformats.org/drawingml/2006/main">
              <a:ext uri="{FF2B5EF4-FFF2-40B4-BE49-F238E27FC236}">
                <a16:creationId xmlns:a16="http://schemas.microsoft.com/office/drawing/2014/main" id="{A3CC654D-A6E5-4D90-AC18-28A80C9B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161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impact-3-0">
            <a:extLst xmlns:a="http://schemas.openxmlformats.org/drawingml/2006/main">
              <a:ext uri="{FF2B5EF4-FFF2-40B4-BE49-F238E27FC236}">
                <a16:creationId xmlns:a16="http://schemas.microsoft.com/office/drawing/2014/main" id="{D2183CB0-E306-401A-B1D2-0B5AE570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CHORE-106</a:t>
            </a:r>
          </a:p>
        </p:txBody>
      </p:sp>
      <p:sp>
        <p:nvSpPr>
          <p:cNvPr id="39" name="impact-bg-3-1">
            <a:extLst xmlns:a="http://schemas.openxmlformats.org/drawingml/2006/main">
              <a:ext uri="{FF2B5EF4-FFF2-40B4-BE49-F238E27FC236}">
                <a16:creationId xmlns:a16="http://schemas.microsoft.com/office/drawing/2014/main" id="{F0DF3BDB-4E7D-4CA3-B289-C6303D0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10100"/>
            <a:ext cx="4476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impact-3-1">
            <a:extLst xmlns:a="http://schemas.openxmlformats.org/drawingml/2006/main">
              <a:ext uri="{FF2B5EF4-FFF2-40B4-BE49-F238E27FC236}">
                <a16:creationId xmlns:a16="http://schemas.microsoft.com/office/drawing/2014/main" id="{7F864FAE-0E0D-4597-9724-04D45A9D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4248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缓存配置变更未关联 Issue</a:t>
            </a:r>
          </a:p>
        </p:txBody>
      </p:sp>
      <p:sp>
        <p:nvSpPr>
          <p:cNvPr id="41" name="impact-bg-3-2">
            <a:extLst xmlns:a="http://schemas.openxmlformats.org/drawingml/2006/main">
              <a:ext uri="{FF2B5EF4-FFF2-40B4-BE49-F238E27FC236}">
                <a16:creationId xmlns:a16="http://schemas.microsoft.com/office/drawing/2014/main" id="{706CDC99-5E2A-48D9-BFA2-D87A8B97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10100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impact-3-2">
            <a:extLst xmlns:a="http://schemas.openxmlformats.org/drawingml/2006/main">
              <a:ext uri="{FF2B5EF4-FFF2-40B4-BE49-F238E27FC236}">
                <a16:creationId xmlns:a16="http://schemas.microsoft.com/office/drawing/2014/main" id="{8C4863DC-EA0D-44FA-8E90-463C9ACE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24400"/>
            <a:ext cx="320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runtime-config</a:t>
            </a:r>
          </a:p>
        </p:txBody>
      </p:sp>
      <p:sp>
        <p:nvSpPr>
          <p:cNvPr id="43" name="impact-bg-3-3">
            <a:extLst xmlns:a="http://schemas.openxmlformats.org/drawingml/2006/main">
              <a:ext uri="{FF2B5EF4-FFF2-40B4-BE49-F238E27FC236}">
                <a16:creationId xmlns:a16="http://schemas.microsoft.com/office/drawing/2014/main" id="{6F34C6BF-9F75-4892-A852-DD773ADE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610100"/>
            <a:ext cx="1866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impact-3-3">
            <a:extLst xmlns:a="http://schemas.openxmlformats.org/drawingml/2006/main">
              <a:ext uri="{FF2B5EF4-FFF2-40B4-BE49-F238E27FC236}">
                <a16:creationId xmlns:a16="http://schemas.microsoft.com/office/drawing/2014/main" id="{CCAB59B3-2BC4-402B-905A-82134948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724400"/>
            <a:ext cx="1638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待确认</a:t>
            </a:r>
          </a:p>
        </p:txBody>
      </p:sp>
    </p:spTree>
    <p:extLst>
      <p:ext uri="{BB962C8B-B14F-4D97-AF65-F5344CB8AC3E}">
        <p14:creationId xmlns:p14="http://schemas.microsoft.com/office/powerpoint/2010/main" val="1630612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0E83D678-70FD-4A9C-BEA6-9D0C9BBB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规范解释为什么失败，专家负责当前例外处理</a:t>
            </a:r>
          </a:p>
        </p:txBody>
      </p:sp>
      <p:sp>
        <p:nvSpPr>
          <p:cNvPr id="2" name="subtitle-6">
            <a:extLst xmlns:a="http://schemas.openxmlformats.org/drawingml/2006/main">
              <a:ext uri="{FF2B5EF4-FFF2-40B4-BE49-F238E27FC236}">
                <a16:creationId xmlns:a16="http://schemas.microsoft.com/office/drawing/2014/main" id="{D9FE3AA5-BD32-4F2D-9A8F-8AE25DD3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知识与人员来自不同的受控数据源。</a:t>
            </a:r>
          </a:p>
        </p:txBody>
      </p:sp>
      <p:sp>
        <p:nvSpPr>
          <p:cNvPr id="3" name="footer-6">
            <a:extLst xmlns:a="http://schemas.openxmlformats.org/drawingml/2006/main">
              <a:ext uri="{FF2B5EF4-FFF2-40B4-BE49-F238E27FC236}">
                <a16:creationId xmlns:a16="http://schemas.microsoft.com/office/drawing/2014/main" id="{1399E8C5-E02B-4083-B274-70598C4B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351C5986-6A79-4F1F-AC1E-BB1A7200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5" name="knowledge-band">
            <a:extLst xmlns:a="http://schemas.openxmlformats.org/drawingml/2006/main">
              <a:ext uri="{FF2B5EF4-FFF2-40B4-BE49-F238E27FC236}">
                <a16:creationId xmlns:a16="http://schemas.microsoft.com/office/drawing/2014/main" id="{E0E454EF-45CA-43BB-89F2-7589013E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5353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knowledge-label">
            <a:extLst xmlns:a="http://schemas.openxmlformats.org/drawingml/2006/main">
              <a:ext uri="{FF2B5EF4-FFF2-40B4-BE49-F238E27FC236}">
                <a16:creationId xmlns:a16="http://schemas.microsoft.com/office/drawing/2014/main" id="{951B7ACE-3C3D-4FC4-8C7F-F590BD54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知识证据</a:t>
            </a:r>
          </a:p>
        </p:txBody>
      </p:sp>
      <p:sp>
        <p:nvSpPr>
          <p:cNvPr id="7" name="knowledge-title">
            <a:extLst xmlns:a="http://schemas.openxmlformats.org/drawingml/2006/main">
              <a:ext uri="{FF2B5EF4-FFF2-40B4-BE49-F238E27FC236}">
                <a16:creationId xmlns:a16="http://schemas.microsoft.com/office/drawing/2014/main" id="{D7FE8AB8-422D-4BFF-90BF-11E06404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66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库存预占并发一致性规范</a:t>
            </a:r>
          </a:p>
        </p:txBody>
      </p:sp>
      <p:sp>
        <p:nvSpPr>
          <p:cNvPr id="8" name="knowledge-claim">
            <a:extLst xmlns:a="http://schemas.openxmlformats.org/drawingml/2006/main">
              <a:ext uri="{FF2B5EF4-FFF2-40B4-BE49-F238E27FC236}">
                <a16:creationId xmlns:a16="http://schemas.microsoft.com/office/drawing/2014/main" id="{A8DD5604-6A90-4E8E-91CD-0E8C4FCA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4667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“余量校验与预占写入必须处于同一原子边界；只锁写入仍属于 check-then-act 竞态。”</a:t>
            </a:r>
          </a:p>
        </p:txBody>
      </p:sp>
      <p:sp>
        <p:nvSpPr>
          <p:cNvPr id="9" name="knowledge-source">
            <a:extLst xmlns:a="http://schemas.openxmlformats.org/drawingml/2006/main">
              <a:ext uri="{FF2B5EF4-FFF2-40B4-BE49-F238E27FC236}">
                <a16:creationId xmlns:a16="http://schemas.microsoft.com/office/drawing/2014/main" id="{2F7B5CE2-0D22-4648-83BB-620D93CB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kb://shopflow/architecture/inventory-concurrency-v1</a:t>
            </a:r>
          </a:p>
        </p:txBody>
      </p:sp>
      <p:sp>
        <p:nvSpPr>
          <p:cNvPr id="10" name="expert-band">
            <a:extLst xmlns:a="http://schemas.openxmlformats.org/drawingml/2006/main">
              <a:ext uri="{FF2B5EF4-FFF2-40B4-BE49-F238E27FC236}">
                <a16:creationId xmlns:a16="http://schemas.microsoft.com/office/drawing/2014/main" id="{EA440BA3-A6BB-4154-89C5-EC194360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6007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expert-label">
            <a:extLst xmlns:a="http://schemas.openxmlformats.org/drawingml/2006/main">
              <a:ext uri="{FF2B5EF4-FFF2-40B4-BE49-F238E27FC236}">
                <a16:creationId xmlns:a16="http://schemas.microsoft.com/office/drawing/2014/main" id="{D621A1AC-30FC-4463-9400-DF8DD3A7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推荐专家</a:t>
            </a:r>
          </a:p>
        </p:txBody>
      </p:sp>
      <p:sp>
        <p:nvSpPr>
          <p:cNvPr id="12" name="expert-name">
            <a:extLst xmlns:a="http://schemas.openxmlformats.org/drawingml/2006/main">
              <a:ext uri="{FF2B5EF4-FFF2-40B4-BE49-F238E27FC236}">
                <a16:creationId xmlns:a16="http://schemas.microsoft.com/office/drawing/2014/main" id="{B107418A-C62C-4EEF-958C-F7D5C2B3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王海  /  库存一致性架构师</a:t>
            </a:r>
          </a:p>
        </p:txBody>
      </p:sp>
      <p:sp>
        <p:nvSpPr>
          <p:cNvPr id="13" name="expert-reason">
            <a:extLst xmlns:a="http://schemas.openxmlformats.org/drawingml/2006/main">
              <a:ext uri="{FF2B5EF4-FFF2-40B4-BE49-F238E27FC236}">
                <a16:creationId xmlns:a16="http://schemas.microsoft.com/office/drawing/2014/main" id="{8D44549A-4595-4121-90A9-81808085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433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领域匹配 concurrency, inventory, oversell；模块匹配 inventory-reservation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状态：available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升级条件：出现负库存、原子性缺陷或 P0 库存阻塞</a:t>
            </a:r>
          </a:p>
        </p:txBody>
      </p:sp>
      <p:sp>
        <p:nvSpPr>
          <p:cNvPr id="14" name="expert-contact">
            <a:extLst xmlns:a="http://schemas.openxmlformats.org/drawingml/2006/main">
              <a:ext uri="{FF2B5EF4-FFF2-40B4-BE49-F238E27FC236}">
                <a16:creationId xmlns:a16="http://schemas.microsoft.com/office/drawing/2014/main" id="{D9AD5646-7FFB-44AC-A2E9-CA2EB8AA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387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wang.hai@example.local</a:t>
            </a:r>
          </a:p>
        </p:txBody>
      </p:sp>
      <p:sp>
        <p:nvSpPr>
          <p:cNvPr id="15" name="knowledge-action">
            <a:extLst xmlns:a="http://schemas.openxmlformats.org/drawingml/2006/main">
              <a:ext uri="{FF2B5EF4-FFF2-40B4-BE49-F238E27FC236}">
                <a16:creationId xmlns:a16="http://schemas.microsoft.com/office/drawing/2014/main" id="{5EB820E5-FDA6-4E87-BD6A-27CEAB55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建议动作：技术负责人在下一轮修复提交前完成方案评审，并将并发回归测试设为合并必需检查。</a:t>
            </a:r>
          </a:p>
        </p:txBody>
      </p:sp>
    </p:spTree>
    <p:extLst>
      <p:ext uri="{BB962C8B-B14F-4D97-AF65-F5344CB8AC3E}">
        <p14:creationId xmlns:p14="http://schemas.microsoft.com/office/powerpoint/2010/main" val="1180532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7">
            <a:extLst xmlns:a="http://schemas.openxmlformats.org/drawingml/2006/main">
              <a:ext uri="{FF2B5EF4-FFF2-40B4-BE49-F238E27FC236}">
                <a16:creationId xmlns:a16="http://schemas.microsoft.com/office/drawing/2014/main" id="{C35B47FF-D1AF-4536-8902-B8D06A8C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先解除 P0 阻塞，再收敛性能与权限风险</a:t>
            </a:r>
          </a:p>
        </p:txBody>
      </p:sp>
      <p:sp>
        <p:nvSpPr>
          <p:cNvPr id="2" name="subtitle-7">
            <a:extLst xmlns:a="http://schemas.openxmlformats.org/drawingml/2006/main">
              <a:ext uri="{FF2B5EF4-FFF2-40B4-BE49-F238E27FC236}">
                <a16:creationId xmlns:a16="http://schemas.microsoft.com/office/drawing/2014/main" id="{A9D4896A-2B60-44F3-8F6A-00B5282F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本期快照后的建议动作，不改变已冻结证据。</a:t>
            </a:r>
          </a:p>
        </p:txBody>
      </p:sp>
      <p:sp>
        <p:nvSpPr>
          <p:cNvPr id="3" name="footer-7">
            <a:extLst xmlns:a="http://schemas.openxmlformats.org/drawingml/2006/main">
              <a:ext uri="{FF2B5EF4-FFF2-40B4-BE49-F238E27FC236}">
                <a16:creationId xmlns:a16="http://schemas.microsoft.com/office/drawing/2014/main" id="{3580BAC7-CE19-4046-9E0D-A805A804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097923E2-DE0F-4EE4-BF7C-E91913D4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9FF0AC6F-EC7D-42A7-841D-8B46EA89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535D062A-8E08-491D-8DCE-4A0B7D95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meline-time-0">
            <a:extLst xmlns:a="http://schemas.openxmlformats.org/drawingml/2006/main">
              <a:ext uri="{FF2B5EF4-FFF2-40B4-BE49-F238E27FC236}">
                <a16:creationId xmlns:a16="http://schemas.microsoft.com/office/drawing/2014/main" id="{1FAF9DBE-4152-4B77-8319-3D11CEE3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今天 20:00</a:t>
            </a:r>
          </a:p>
        </p:txBody>
      </p:sp>
      <p:sp>
        <p:nvSpPr>
          <p:cNvPr id="8" name="timeline-title-0">
            <a:extLst xmlns:a="http://schemas.openxmlformats.org/drawingml/2006/main">
              <a:ext uri="{FF2B5EF4-FFF2-40B4-BE49-F238E27FC236}">
                <a16:creationId xmlns:a16="http://schemas.microsoft.com/office/drawing/2014/main" id="{B048225E-3136-405B-BADF-5C4D672F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原子性方案评审</a:t>
            </a:r>
          </a:p>
        </p:txBody>
      </p:sp>
      <p:sp>
        <p:nvSpPr>
          <p:cNvPr id="9" name="timeline-owner-0">
            <a:extLst xmlns:a="http://schemas.openxmlformats.org/drawingml/2006/main">
              <a:ext uri="{FF2B5EF4-FFF2-40B4-BE49-F238E27FC236}">
                <a16:creationId xmlns:a16="http://schemas.microsoft.com/office/drawing/2014/main" id="{FB425742-7D12-468D-9183-187C5B7D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陈晨 + 王海</a:t>
            </a:r>
          </a:p>
        </p:txBody>
      </p:sp>
      <p:sp>
        <p:nvSpPr>
          <p:cNvPr id="10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F9EF6095-73B9-4EC5-84C8-23447526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imeline-time-1">
            <a:extLst xmlns:a="http://schemas.openxmlformats.org/drawingml/2006/main">
              <a:ext uri="{FF2B5EF4-FFF2-40B4-BE49-F238E27FC236}">
                <a16:creationId xmlns:a16="http://schemas.microsoft.com/office/drawing/2014/main" id="{FDEAFCFF-5F9C-4E06-A2CB-070EBF2A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明天 12:00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09702EE6-86BF-49D2-8BA7-89A4796D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并发回归与 owner review</a:t>
            </a:r>
          </a:p>
        </p:txBody>
      </p:sp>
      <p:sp>
        <p:nvSpPr>
          <p:cNvPr id="13" name="timeline-owner-1">
            <a:extLst xmlns:a="http://schemas.openxmlformats.org/drawingml/2006/main">
              <a:ext uri="{FF2B5EF4-FFF2-40B4-BE49-F238E27FC236}">
                <a16:creationId xmlns:a16="http://schemas.microsoft.com/office/drawing/2014/main" id="{2FB01B8F-7CF9-4DEC-95D8-9DE918E0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QA + 模块负责人</a:t>
            </a:r>
          </a:p>
        </p:txBody>
      </p:sp>
      <p:sp>
        <p:nvSpPr>
          <p:cNvPr id="14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F39FD99E-B37B-41FB-B531-3E35ECFE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imeline-time-2">
            <a:extLst xmlns:a="http://schemas.openxmlformats.org/drawingml/2006/main">
              <a:ext uri="{FF2B5EF4-FFF2-40B4-BE49-F238E27FC236}">
                <a16:creationId xmlns:a16="http://schemas.microsoft.com/office/drawing/2014/main" id="{CB41BCA6-B470-48EC-8220-89D3D60A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明天 18:00</a:t>
            </a:r>
          </a:p>
        </p:txBody>
      </p:sp>
      <p:sp>
        <p:nvSpPr>
          <p:cNvPr id="16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9B1FBF06-D7E0-449A-9307-207F3F8A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发布门禁复核</a:t>
            </a:r>
          </a:p>
        </p:txBody>
      </p:sp>
      <p:sp>
        <p:nvSpPr>
          <p:cNvPr id="17" name="timeline-owner-2">
            <a:extLst xmlns:a="http://schemas.openxmlformats.org/drawingml/2006/main">
              <a:ext uri="{FF2B5EF4-FFF2-40B4-BE49-F238E27FC236}">
                <a16:creationId xmlns:a16="http://schemas.microsoft.com/office/drawing/2014/main" id="{78A63F0B-245F-42F7-AB29-71458F13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赵磊</a:t>
            </a:r>
          </a:p>
        </p:txBody>
      </p:sp>
      <p:sp>
        <p:nvSpPr>
          <p:cNvPr id="18" name="decision-band">
            <a:extLst xmlns:a="http://schemas.openxmlformats.org/drawingml/2006/main">
              <a:ext uri="{FF2B5EF4-FFF2-40B4-BE49-F238E27FC236}">
                <a16:creationId xmlns:a16="http://schemas.microsoft.com/office/drawing/2014/main" id="{E19BAC1D-A0CB-498B-B829-5FF2AB6F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cision-text">
            <a:extLst xmlns:a="http://schemas.openxmlformats.org/drawingml/2006/main">
              <a:ext uri="{FF2B5EF4-FFF2-40B4-BE49-F238E27FC236}">
                <a16:creationId xmlns:a16="http://schemas.microsoft.com/office/drawing/2014/main" id="{3E312540-68D4-4B8C-98AC-0C18AB04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29275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技术负责人决策：是否冻结非阻塞变更，并指定 BUG-102 第二次修复的合并门禁。</a:t>
            </a:r>
          </a:p>
        </p:txBody>
      </p:sp>
    </p:spTree>
    <p:extLst>
      <p:ext uri="{BB962C8B-B14F-4D97-AF65-F5344CB8AC3E}">
        <p14:creationId xmlns:p14="http://schemas.microsoft.com/office/powerpoint/2010/main" val="18558828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2026-08-06T05:50:13.6480000Z</dcterms:created>
  <dcterms:modified xsi:type="dcterms:W3CDTF">2026-08-06T05:50:13.6480000Z</dcterms:modified>
</coreProperties>
</file>