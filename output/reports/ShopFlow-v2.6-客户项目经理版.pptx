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416e26b7644cda" /><Relationship Type="http://schemas.openxmlformats.org/officeDocument/2006/relationships/extended-properties" Target="/docProps/app.xml" Id="R14b16c62c6cb4f8b" /><Relationship Type="http://schemas.openxmlformats.org/officeDocument/2006/relationships/officeDocument" Target="/ppt/presentation.xml" Id="Rf3f194a70c6f4e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8138b2e4b6444b"/>
  </p:sldMasterIdLst>
  <p:notesMasterIdLst>
    <p:notesMasterId xmlns:r="http://schemas.openxmlformats.org/officeDocument/2006/relationships" r:id="Rbadc79cd3d0e4d13"/>
  </p:notesMasterIdLst>
  <p:sldIdLst>
    <p:sldId xmlns:r="http://schemas.openxmlformats.org/officeDocument/2006/relationships" id="256" r:id="R3eae379736ae4e14"/>
    <p:sldId xmlns:r="http://schemas.openxmlformats.org/officeDocument/2006/relationships" id="257" r:id="R792eb45780714a52"/>
    <p:sldId xmlns:r="http://schemas.openxmlformats.org/officeDocument/2006/relationships" id="258" r:id="R5437024b05fb40bb"/>
    <p:sldId xmlns:r="http://schemas.openxmlformats.org/officeDocument/2006/relationships" id="259" r:id="R0f1735cb25144d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9e68c7df5b4dca" /><Relationship Type="http://schemas.openxmlformats.org/officeDocument/2006/relationships/slideMaster" Target="/ppt/slideMasters/slideMaster1.xml" Id="Ra68138b2e4b6444b" /><Relationship Type="http://schemas.openxmlformats.org/officeDocument/2006/relationships/notesMaster" Target="/ppt/notesMasters/notesMaster1.xml" Id="Rbadc79cd3d0e4d13" /><Relationship Type="http://schemas.openxmlformats.org/officeDocument/2006/relationships/presProps" Target="/ppt/presProps.xml" Id="R4c6cb98ae45349d6" /><Relationship Type="http://schemas.openxmlformats.org/officeDocument/2006/relationships/tableStyles" Target="/ppt/tableStyles.xml" Id="R0384ed0e6c054853" /><Relationship Type="http://schemas.openxmlformats.org/officeDocument/2006/relationships/slide" Target="/ppt/slides/slide1.xml" Id="R3eae379736ae4e14" /><Relationship Type="http://schemas.openxmlformats.org/officeDocument/2006/relationships/slide" Target="/ppt/slides/slide2.xml" Id="R792eb45780714a52" /><Relationship Type="http://schemas.openxmlformats.org/officeDocument/2006/relationships/slide" Target="/ppt/slides/slide3.xml" Id="R5437024b05fb40bb" /><Relationship Type="http://schemas.openxmlformats.org/officeDocument/2006/relationships/slide" Target="/ppt/slides/slide4.xml" Id="R0f1735cb25144d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22933475ff48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9dd21672e841b2" /><Relationship Type="http://schemas.openxmlformats.org/officeDocument/2006/relationships/notesMaster" Target="/ppt/notesMasters/notesMaster1.xml" Id="R61369b932e6548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dda848c23449d1" /><Relationship Type="http://schemas.openxmlformats.org/officeDocument/2006/relationships/notesMaster" Target="/ppt/notesMasters/notesMaster1.xml" Id="Rca908001f6af48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d78d0ba7f24eae" /><Relationship Type="http://schemas.openxmlformats.org/officeDocument/2006/relationships/notesMaster" Target="/ppt/notesMasters/notesMaster1.xml" Id="R79181cbb45cd4f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b015dbfb2445de" /><Relationship Type="http://schemas.openxmlformats.org/officeDocument/2006/relationships/notesMaster" Target="/ppt/notesMasters/notesMaster1.xml" Id="R38ee5349dd244c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github://pipiwolve/dumate-ecommerce-case/milestone/v2.6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github://pipiwolve/dumate-ecommerce-case/milestone/v2.6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github://pipiwolve/dumate-ecommerce-case/milestone/v2.6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github://pipiwolve/dumate-ecommerce-case/milestone/v2.6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d2ed9ea6c047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8bd82218af48e5" /><Relationship Type="http://schemas.openxmlformats.org/officeDocument/2006/relationships/slideLayout" Target="/ppt/slideLayouts/slideLayout1.xml" Id="R40de5750b5994d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de5750b5994d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0033af3f14af2" /><Relationship Type="http://schemas.openxmlformats.org/officeDocument/2006/relationships/notesSlide" Target="/ppt/notesSlides/notesSlide1.xml" Id="R082ce8ca60d040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051bd27424698" /><Relationship Type="http://schemas.openxmlformats.org/officeDocument/2006/relationships/notesSlide" Target="/ppt/notesSlides/notesSlide2.xml" Id="R7228e48864ef4d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c72c76efe46b3" /><Relationship Type="http://schemas.openxmlformats.org/officeDocument/2006/relationships/notesSlide" Target="/ppt/notesSlides/notesSlide3.xml" Id="Rd3197647d2a54d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d5b8a8f8c4c85" /><Relationship Type="http://schemas.openxmlformats.org/officeDocument/2006/relationships/notesSlide" Target="/ppt/notesSlides/notesSlide4.xml" Id="R68c7f6305d4b4a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07F6E16-15C2-4BC8-87A8-A1173752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SHOPFLOW  /  DELIVERY REVIEW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1F5C834-ECF6-4C03-B57F-23EDF33B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990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ShopFlow v2.6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项目进展更新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E20763E2-5369-4813-9DA0-29882BDE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4332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audience">
            <a:extLst xmlns:a="http://schemas.openxmlformats.org/drawingml/2006/main">
              <a:ext uri="{FF2B5EF4-FFF2-40B4-BE49-F238E27FC236}">
                <a16:creationId xmlns:a16="http://schemas.microsoft.com/office/drawing/2014/main" id="{8BEC944C-CC6F-4895-813C-9C8C96CA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客户项目经理版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31656F60-7C72-4B28-844F-ADD73AD2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快照时间  2026-08-06T18:00:00+08:00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里程碑  v2.6 限时促销稳定性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证据快照  shopflow-fcbc6c1cd435</a:t>
            </a:r>
          </a:p>
        </p:txBody>
      </p:sp>
      <p:sp>
        <p:nvSpPr>
          <p:cNvPr id="6" name="cover-health">
            <a:extLst xmlns:a="http://schemas.openxmlformats.org/drawingml/2006/main">
              <a:ext uri="{FF2B5EF4-FFF2-40B4-BE49-F238E27FC236}">
                <a16:creationId xmlns:a16="http://schemas.microsoft.com/office/drawing/2014/main" id="{1A3E7BDA-F8E5-42E2-976F-75EB746A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625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有风险</a:t>
            </a:r>
          </a:p>
        </p:txBody>
      </p:sp>
    </p:spTree>
    <p:extLst>
      <p:ext uri="{BB962C8B-B14F-4D97-AF65-F5344CB8AC3E}">
        <p14:creationId xmlns:p14="http://schemas.microsoft.com/office/powerpoint/2010/main" val="2003700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2">
            <a:extLst xmlns:a="http://schemas.openxmlformats.org/drawingml/2006/main">
              <a:ext uri="{FF2B5EF4-FFF2-40B4-BE49-F238E27FC236}">
                <a16:creationId xmlns:a16="http://schemas.microsoft.com/office/drawing/2014/main" id="{F55ADF4C-5103-4C88-A1ED-A15E2FCA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版本完成 65%，当前交付状态为有风险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89653C3D-D94D-4614-9000-4E65A4ED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核心能力已部分完成，团队正在处理一个影响发布的库存一致性问题。</a:t>
            </a:r>
          </a:p>
        </p:txBody>
      </p:sp>
      <p:sp>
        <p:nvSpPr>
          <p:cNvPr id="3" name="footer-2">
            <a:extLst xmlns:a="http://schemas.openxmlformats.org/drawingml/2006/main">
              <a:ext uri="{FF2B5EF4-FFF2-40B4-BE49-F238E27FC236}">
                <a16:creationId xmlns:a16="http://schemas.microsoft.com/office/drawing/2014/main" id="{DC14C201-2DE5-4B82-B569-C06D9FDA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shopflow-fcbc6c1cd435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516CCC55-8999-4188-A96A-C446D012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5" name="progress-number">
            <a:extLst xmlns:a="http://schemas.openxmlformats.org/drawingml/2006/main">
              <a:ext uri="{FF2B5EF4-FFF2-40B4-BE49-F238E27FC236}">
                <a16:creationId xmlns:a16="http://schemas.microsoft.com/office/drawing/2014/main" id="{A4B64153-DE4D-4F6D-9730-A71CD4F8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143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65%</a:t>
            </a:r>
          </a:p>
        </p:txBody>
      </p:sp>
      <p:sp>
        <p:nvSpPr>
          <p:cNvPr id="6" name="progress-base">
            <a:extLst xmlns:a="http://schemas.openxmlformats.org/drawingml/2006/main">
              <a:ext uri="{FF2B5EF4-FFF2-40B4-BE49-F238E27FC236}">
                <a16:creationId xmlns:a16="http://schemas.microsoft.com/office/drawing/2014/main" id="{7ED3E2D0-5AA0-4441-AB9E-FF1748A7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gress-fill">
            <a:extLst xmlns:a="http://schemas.openxmlformats.org/drawingml/2006/main">
              <a:ext uri="{FF2B5EF4-FFF2-40B4-BE49-F238E27FC236}">
                <a16:creationId xmlns:a16="http://schemas.microsoft.com/office/drawing/2014/main" id="{8A03C19B-0163-4A86-8D82-A977383F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204311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gress-label">
            <a:extLst xmlns:a="http://schemas.openxmlformats.org/drawingml/2006/main">
              <a:ext uri="{FF2B5EF4-FFF2-40B4-BE49-F238E27FC236}">
                <a16:creationId xmlns:a16="http://schemas.microsoft.com/office/drawing/2014/main" id="{DF9627D4-6556-49E9-9780-4224C99C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加权里程碑进度</a:t>
            </a:r>
          </a:p>
        </p:txBody>
      </p:sp>
      <p:sp>
        <p:nvSpPr>
          <p:cNvPr id="9" name="stat-bg-0">
            <a:extLst xmlns:a="http://schemas.openxmlformats.org/drawingml/2006/main">
              <a:ext uri="{FF2B5EF4-FFF2-40B4-BE49-F238E27FC236}">
                <a16:creationId xmlns:a16="http://schemas.microsoft.com/office/drawing/2014/main" id="{277053FB-3AAE-4562-B2CD-B062AC64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value-0">
            <a:extLst xmlns:a="http://schemas.openxmlformats.org/drawingml/2006/main">
              <a:ext uri="{FF2B5EF4-FFF2-40B4-BE49-F238E27FC236}">
                <a16:creationId xmlns:a16="http://schemas.microsoft.com/office/drawing/2014/main" id="{6860CAC5-77AE-4B27-92FD-9A36C6F7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8794E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18794E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1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CA182FC0-435A-47EB-94AD-9714416B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已完成事项</a:t>
            </a:r>
          </a:p>
        </p:txBody>
      </p:sp>
      <p:sp>
        <p:nvSpPr>
          <p:cNvPr id="12" name="stat-bg-1">
            <a:extLst xmlns:a="http://schemas.openxmlformats.org/drawingml/2006/main">
              <a:ext uri="{FF2B5EF4-FFF2-40B4-BE49-F238E27FC236}">
                <a16:creationId xmlns:a16="http://schemas.microsoft.com/office/drawing/2014/main" id="{ECB34222-B843-4913-8DA3-70011F0E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t-value-1">
            <a:extLst xmlns:a="http://schemas.openxmlformats.org/drawingml/2006/main">
              <a:ext uri="{FF2B5EF4-FFF2-40B4-BE49-F238E27FC236}">
                <a16:creationId xmlns:a16="http://schemas.microsoft.com/office/drawing/2014/main" id="{EB3A4325-2092-43C6-8CC6-2FF8D1C6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0D9722C0-8024-457A-83B4-02A79CE5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处理中事项</a:t>
            </a:r>
          </a:p>
        </p:txBody>
      </p:sp>
      <p:sp>
        <p:nvSpPr>
          <p:cNvPr id="15" name="stat-bg-2">
            <a:extLst xmlns:a="http://schemas.openxmlformats.org/drawingml/2006/main">
              <a:ext uri="{FF2B5EF4-FFF2-40B4-BE49-F238E27FC236}">
                <a16:creationId xmlns:a16="http://schemas.microsoft.com/office/drawing/2014/main" id="{CC3D5247-6451-465D-82CC-C8C31FD9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tat-value-2">
            <a:extLst xmlns:a="http://schemas.openxmlformats.org/drawingml/2006/main">
              <a:ext uri="{FF2B5EF4-FFF2-40B4-BE49-F238E27FC236}">
                <a16:creationId xmlns:a16="http://schemas.microsoft.com/office/drawing/2014/main" id="{C1BC3520-E5F2-43BC-9F3C-B55999DE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41347020-0082-40B7-A151-683EA16E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待启动风险</a:t>
            </a:r>
          </a:p>
        </p:txBody>
      </p:sp>
      <p:sp>
        <p:nvSpPr>
          <p:cNvPr id="18" name="health-conclusion">
            <a:extLst xmlns:a="http://schemas.openxmlformats.org/drawingml/2006/main">
              <a:ext uri="{FF2B5EF4-FFF2-40B4-BE49-F238E27FC236}">
                <a16:creationId xmlns:a16="http://schemas.microsoft.com/office/drawing/2014/main" id="{3CC3F8E0-16CE-4128-BD23-0BA520D1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00600"/>
            <a:ext cx="7543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当前不建议进入发布候选。若阻塞在下一个工作日仍未关闭，发布日期影响需由项目经理确认。</a:t>
            </a:r>
          </a:p>
        </p:txBody>
      </p:sp>
    </p:spTree>
    <p:extLst>
      <p:ext uri="{BB962C8B-B14F-4D97-AF65-F5344CB8AC3E}">
        <p14:creationId xmlns:p14="http://schemas.microsoft.com/office/powerpoint/2010/main" val="17374230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itle-3">
            <a:extLst xmlns:a="http://schemas.openxmlformats.org/drawingml/2006/main">
              <a:ext uri="{FF2B5EF4-FFF2-40B4-BE49-F238E27FC236}">
                <a16:creationId xmlns:a16="http://schemas.microsoft.com/office/drawing/2014/main" id="{F64557DE-2D40-47B2-AE3E-D8F6C77B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已完成核心能力，但发布阻塞尚未解除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FA677653-CC4E-4401-9D3E-DF619D0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客户视图聚焦业务结果与责任人，不展示内部代码细节。</a:t>
            </a:r>
          </a:p>
        </p:txBody>
      </p:sp>
      <p:sp>
        <p:nvSpPr>
          <p:cNvPr id="3" name="footer-3">
            <a:extLst xmlns:a="http://schemas.openxmlformats.org/drawingml/2006/main">
              <a:ext uri="{FF2B5EF4-FFF2-40B4-BE49-F238E27FC236}">
                <a16:creationId xmlns:a16="http://schemas.microsoft.com/office/drawing/2014/main" id="{DB6B76E9-2B39-457D-A2E9-BA34924A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shopflow-fcbc6c1cd435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6E36A572-EB00-4687-91B7-703512F5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header-bg-0-180">
            <a:extLst xmlns:a="http://schemas.openxmlformats.org/drawingml/2006/main">
              <a:ext uri="{FF2B5EF4-FFF2-40B4-BE49-F238E27FC236}">
                <a16:creationId xmlns:a16="http://schemas.microsoft.com/office/drawing/2014/main" id="{DEC7E970-A883-48C0-9647-31A8CD64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eader-0-180">
            <a:extLst xmlns:a="http://schemas.openxmlformats.org/drawingml/2006/main">
              <a:ext uri="{FF2B5EF4-FFF2-40B4-BE49-F238E27FC236}">
                <a16:creationId xmlns:a16="http://schemas.microsoft.com/office/drawing/2014/main" id="{BEA78F4B-A28C-4AF2-951C-DBEBF986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事项</a:t>
            </a:r>
          </a:p>
        </p:txBody>
      </p:sp>
      <p:sp>
        <p:nvSpPr>
          <p:cNvPr id="7" name="header-bg-1-180">
            <a:extLst xmlns:a="http://schemas.openxmlformats.org/drawingml/2006/main">
              <a:ext uri="{FF2B5EF4-FFF2-40B4-BE49-F238E27FC236}">
                <a16:creationId xmlns:a16="http://schemas.microsoft.com/office/drawing/2014/main" id="{AC2DDE15-8953-4437-A337-D699B1B3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71450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eader-1-180">
            <a:extLst xmlns:a="http://schemas.openxmlformats.org/drawingml/2006/main">
              <a:ext uri="{FF2B5EF4-FFF2-40B4-BE49-F238E27FC236}">
                <a16:creationId xmlns:a16="http://schemas.microsoft.com/office/drawing/2014/main" id="{6B42A891-623A-4F7B-B083-A35B8602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09750"/>
            <a:ext cx="491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业务结果</a:t>
            </a:r>
          </a:p>
        </p:txBody>
      </p:sp>
      <p:sp>
        <p:nvSpPr>
          <p:cNvPr id="9" name="header-bg-2-180">
            <a:extLst xmlns:a="http://schemas.openxmlformats.org/drawingml/2006/main">
              <a:ext uri="{FF2B5EF4-FFF2-40B4-BE49-F238E27FC236}">
                <a16:creationId xmlns:a16="http://schemas.microsoft.com/office/drawing/2014/main" id="{D8F90C13-0639-48BA-930B-343FC3F1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5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2-180">
            <a:extLst xmlns:a="http://schemas.openxmlformats.org/drawingml/2006/main">
              <a:ext uri="{FF2B5EF4-FFF2-40B4-BE49-F238E27FC236}">
                <a16:creationId xmlns:a16="http://schemas.microsoft.com/office/drawing/2014/main" id="{5DC9A076-99D3-4BEE-8698-9E7EC0D5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097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</a:t>
            </a:r>
          </a:p>
        </p:txBody>
      </p:sp>
      <p:sp>
        <p:nvSpPr>
          <p:cNvPr id="11" name="header-bg-3-180">
            <a:extLst xmlns:a="http://schemas.openxmlformats.org/drawingml/2006/main">
              <a:ext uri="{FF2B5EF4-FFF2-40B4-BE49-F238E27FC236}">
                <a16:creationId xmlns:a16="http://schemas.microsoft.com/office/drawing/2014/main" id="{A12D442B-3968-47AF-BE11-8833B6D5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145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eader-3-180">
            <a:extLst xmlns:a="http://schemas.openxmlformats.org/drawingml/2006/main">
              <a:ext uri="{FF2B5EF4-FFF2-40B4-BE49-F238E27FC236}">
                <a16:creationId xmlns:a16="http://schemas.microsoft.com/office/drawing/2014/main" id="{F9F7A355-E9FF-4843-8482-3E2615E8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097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负责人</a:t>
            </a:r>
          </a:p>
        </p:txBody>
      </p:sp>
      <p:sp>
        <p:nvSpPr>
          <p:cNvPr id="13" name="cell-bg-0-0-180">
            <a:extLst xmlns:a="http://schemas.openxmlformats.org/drawingml/2006/main">
              <a:ext uri="{FF2B5EF4-FFF2-40B4-BE49-F238E27FC236}">
                <a16:creationId xmlns:a16="http://schemas.microsoft.com/office/drawing/2014/main" id="{AD0BB189-B833-413B-96DC-255719FB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4" name="cell-0-0-180">
            <a:extLst xmlns:a="http://schemas.openxmlformats.org/drawingml/2006/main">
              <a:ext uri="{FF2B5EF4-FFF2-40B4-BE49-F238E27FC236}">
                <a16:creationId xmlns:a16="http://schemas.microsoft.com/office/drawing/2014/main" id="{47910F6E-BA89-45DE-98EF-DD6F87C6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FEAT-101</a:t>
            </a:r>
          </a:p>
        </p:txBody>
      </p:sp>
      <p:sp>
        <p:nvSpPr>
          <p:cNvPr id="15" name="cell-bg-0-1-180">
            <a:extLst xmlns:a="http://schemas.openxmlformats.org/drawingml/2006/main">
              <a:ext uri="{FF2B5EF4-FFF2-40B4-BE49-F238E27FC236}">
                <a16:creationId xmlns:a16="http://schemas.microsoft.com/office/drawing/2014/main" id="{5EECB3B8-D8A4-4287-8994-3B7BD540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0505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6" name="cell-0-1-180">
            <a:extLst xmlns:a="http://schemas.openxmlformats.org/drawingml/2006/main">
              <a:ext uri="{FF2B5EF4-FFF2-40B4-BE49-F238E27FC236}">
                <a16:creationId xmlns:a16="http://schemas.microsoft.com/office/drawing/2014/main" id="{CBD0151A-8D94-4055-AAFD-1C57354C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9077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新增库存预占与超时释放模块</a:t>
            </a:r>
          </a:p>
        </p:txBody>
      </p:sp>
      <p:sp>
        <p:nvSpPr>
          <p:cNvPr id="17" name="cell-bg-0-2-180">
            <a:extLst xmlns:a="http://schemas.openxmlformats.org/drawingml/2006/main">
              <a:ext uri="{FF2B5EF4-FFF2-40B4-BE49-F238E27FC236}">
                <a16:creationId xmlns:a16="http://schemas.microsoft.com/office/drawing/2014/main" id="{BA15AE83-4145-4FAC-A83C-AB31EE57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050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8" name="cell-0-2-180">
            <a:extLst xmlns:a="http://schemas.openxmlformats.org/drawingml/2006/main">
              <a:ext uri="{FF2B5EF4-FFF2-40B4-BE49-F238E27FC236}">
                <a16:creationId xmlns:a16="http://schemas.microsoft.com/office/drawing/2014/main" id="{8DC7DC6D-97A2-4D5B-8C8E-F70BAF80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907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19" name="cell-bg-0-3-180">
            <a:extLst xmlns:a="http://schemas.openxmlformats.org/drawingml/2006/main">
              <a:ext uri="{FF2B5EF4-FFF2-40B4-BE49-F238E27FC236}">
                <a16:creationId xmlns:a16="http://schemas.microsoft.com/office/drawing/2014/main" id="{2660ABE8-9DB9-4D7A-A4E7-1426FFC5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050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0" name="cell-0-3-180">
            <a:extLst xmlns:a="http://schemas.openxmlformats.org/drawingml/2006/main">
              <a:ext uri="{FF2B5EF4-FFF2-40B4-BE49-F238E27FC236}">
                <a16:creationId xmlns:a16="http://schemas.microsoft.com/office/drawing/2014/main" id="{A4D2224B-3412-4ADA-95A2-B835FB3B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907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陈晨</a:t>
            </a:r>
          </a:p>
        </p:txBody>
      </p:sp>
      <p:sp>
        <p:nvSpPr>
          <p:cNvPr id="21" name="cell-bg-1-0-180">
            <a:extLst xmlns:a="http://schemas.openxmlformats.org/drawingml/2006/main">
              <a:ext uri="{FF2B5EF4-FFF2-40B4-BE49-F238E27FC236}">
                <a16:creationId xmlns:a16="http://schemas.microsoft.com/office/drawing/2014/main" id="{F108E329-7563-4F0A-A711-E52EFE3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cell-1-0-180">
            <a:extLst xmlns:a="http://schemas.openxmlformats.org/drawingml/2006/main">
              <a:ext uri="{FF2B5EF4-FFF2-40B4-BE49-F238E27FC236}">
                <a16:creationId xmlns:a16="http://schemas.microsoft.com/office/drawing/2014/main" id="{1F6C7605-8DBB-4610-A284-31DEDD32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8132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BUG-102</a:t>
            </a:r>
          </a:p>
        </p:txBody>
      </p:sp>
      <p:sp>
        <p:nvSpPr>
          <p:cNvPr id="23" name="cell-bg-1-1-180">
            <a:extLst xmlns:a="http://schemas.openxmlformats.org/drawingml/2006/main">
              <a:ext uri="{FF2B5EF4-FFF2-40B4-BE49-F238E27FC236}">
                <a16:creationId xmlns:a16="http://schemas.microsoft.com/office/drawing/2014/main" id="{85CD4A2A-4F2C-42ED-AE3E-A462991A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9560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4" name="cell-1-1-180">
            <a:extLst xmlns:a="http://schemas.openxmlformats.org/drawingml/2006/main">
              <a:ext uri="{FF2B5EF4-FFF2-40B4-BE49-F238E27FC236}">
                <a16:creationId xmlns:a16="http://schemas.microsoft.com/office/drawing/2014/main" id="{4B1A5C3D-4BEE-49B5-89B7-E567C110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8132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高并发库存预占出现超卖</a:t>
            </a:r>
          </a:p>
        </p:txBody>
      </p:sp>
      <p:sp>
        <p:nvSpPr>
          <p:cNvPr id="25" name="cell-bg-1-2-180">
            <a:extLst xmlns:a="http://schemas.openxmlformats.org/drawingml/2006/main">
              <a:ext uri="{FF2B5EF4-FFF2-40B4-BE49-F238E27FC236}">
                <a16:creationId xmlns:a16="http://schemas.microsoft.com/office/drawing/2014/main" id="{D6DD2964-0DEE-4CD1-971C-D1D5317F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6" name="cell-1-2-180">
            <a:extLst xmlns:a="http://schemas.openxmlformats.org/drawingml/2006/main">
              <a:ext uri="{FF2B5EF4-FFF2-40B4-BE49-F238E27FC236}">
                <a16:creationId xmlns:a16="http://schemas.microsoft.com/office/drawing/2014/main" id="{5F6E685C-56D1-43FD-96B0-97755A20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813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阻塞</a:t>
            </a:r>
          </a:p>
        </p:txBody>
      </p:sp>
      <p:sp>
        <p:nvSpPr>
          <p:cNvPr id="27" name="cell-bg-1-3-180">
            <a:extLst xmlns:a="http://schemas.openxmlformats.org/drawingml/2006/main">
              <a:ext uri="{FF2B5EF4-FFF2-40B4-BE49-F238E27FC236}">
                <a16:creationId xmlns:a16="http://schemas.microsoft.com/office/drawing/2014/main" id="{7A3DC833-54FC-480E-A422-A870333A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956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8" name="cell-1-3-180">
            <a:extLst xmlns:a="http://schemas.openxmlformats.org/drawingml/2006/main">
              <a:ext uri="{FF2B5EF4-FFF2-40B4-BE49-F238E27FC236}">
                <a16:creationId xmlns:a16="http://schemas.microsoft.com/office/drawing/2014/main" id="{D4D43D00-4D8C-4F9B-A199-19C5A0F9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813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陈晨</a:t>
            </a:r>
          </a:p>
        </p:txBody>
      </p:sp>
      <p:sp>
        <p:nvSpPr>
          <p:cNvPr id="29" name="cell-bg-2-0-180">
            <a:extLst xmlns:a="http://schemas.openxmlformats.org/drawingml/2006/main">
              <a:ext uri="{FF2B5EF4-FFF2-40B4-BE49-F238E27FC236}">
                <a16:creationId xmlns:a16="http://schemas.microsoft.com/office/drawing/2014/main" id="{ACB21AE4-8949-4A4F-AD4C-36C35872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861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0" name="cell-2-0-180">
            <a:extLst xmlns:a="http://schemas.openxmlformats.org/drawingml/2006/main">
              <a:ext uri="{FF2B5EF4-FFF2-40B4-BE49-F238E27FC236}">
                <a16:creationId xmlns:a16="http://schemas.microsoft.com/office/drawing/2014/main" id="{4E9E8258-943C-409D-A9FA-1A0811DA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7187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BUG-103</a:t>
            </a:r>
          </a:p>
        </p:txBody>
      </p:sp>
      <p:sp>
        <p:nvSpPr>
          <p:cNvPr id="31" name="cell-bg-2-1-180">
            <a:extLst xmlns:a="http://schemas.openxmlformats.org/drawingml/2006/main">
              <a:ext uri="{FF2B5EF4-FFF2-40B4-BE49-F238E27FC236}">
                <a16:creationId xmlns:a16="http://schemas.microsoft.com/office/drawing/2014/main" id="{D3D4E1E8-6B4F-42D8-8DE1-BC4FF3CB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8615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2" name="cell-2-1-180">
            <a:extLst xmlns:a="http://schemas.openxmlformats.org/drawingml/2006/main">
              <a:ext uri="{FF2B5EF4-FFF2-40B4-BE49-F238E27FC236}">
                <a16:creationId xmlns:a16="http://schemas.microsoft.com/office/drawing/2014/main" id="{89566DC2-548B-4100-856E-4444B2A5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7187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取消订单后库存未完全释放</a:t>
            </a:r>
          </a:p>
        </p:txBody>
      </p:sp>
      <p:sp>
        <p:nvSpPr>
          <p:cNvPr id="33" name="cell-bg-2-2-180">
            <a:extLst xmlns:a="http://schemas.openxmlformats.org/drawingml/2006/main">
              <a:ext uri="{FF2B5EF4-FFF2-40B4-BE49-F238E27FC236}">
                <a16:creationId xmlns:a16="http://schemas.microsoft.com/office/drawing/2014/main" id="{A2CBB190-B63A-40FC-B566-8938F246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861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4" name="cell-2-2-180">
            <a:extLst xmlns:a="http://schemas.openxmlformats.org/drawingml/2006/main">
              <a:ext uri="{FF2B5EF4-FFF2-40B4-BE49-F238E27FC236}">
                <a16:creationId xmlns:a16="http://schemas.microsoft.com/office/drawing/2014/main" id="{40C72876-FCFD-4C8D-94B3-78316295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718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35" name="cell-bg-2-3-180">
            <a:extLst xmlns:a="http://schemas.openxmlformats.org/drawingml/2006/main">
              <a:ext uri="{FF2B5EF4-FFF2-40B4-BE49-F238E27FC236}">
                <a16:creationId xmlns:a16="http://schemas.microsoft.com/office/drawing/2014/main" id="{3BC5016E-434B-4095-9DF7-234DA008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861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6" name="cell-2-3-180">
            <a:extLst xmlns:a="http://schemas.openxmlformats.org/drawingml/2006/main">
              <a:ext uri="{FF2B5EF4-FFF2-40B4-BE49-F238E27FC236}">
                <a16:creationId xmlns:a16="http://schemas.microsoft.com/office/drawing/2014/main" id="{46E86D42-D212-49E1-B4B4-85315CB4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718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孙璐</a:t>
            </a:r>
          </a:p>
        </p:txBody>
      </p:sp>
      <p:sp>
        <p:nvSpPr>
          <p:cNvPr id="37" name="cell-bg-3-0-180">
            <a:extLst xmlns:a="http://schemas.openxmlformats.org/drawingml/2006/main">
              <a:ext uri="{FF2B5EF4-FFF2-40B4-BE49-F238E27FC236}">
                <a16:creationId xmlns:a16="http://schemas.microsoft.com/office/drawing/2014/main" id="{04120642-0355-4569-BF3D-D12211A9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767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8" name="cell-3-0-180">
            <a:extLst xmlns:a="http://schemas.openxmlformats.org/drawingml/2006/main">
              <a:ext uri="{FF2B5EF4-FFF2-40B4-BE49-F238E27FC236}">
                <a16:creationId xmlns:a16="http://schemas.microsoft.com/office/drawing/2014/main" id="{60A0218C-7AF8-4295-B163-70DBE1B0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6242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PERF-104</a:t>
            </a:r>
          </a:p>
        </p:txBody>
      </p:sp>
      <p:sp>
        <p:nvSpPr>
          <p:cNvPr id="39" name="cell-bg-3-1-180">
            <a:extLst xmlns:a="http://schemas.openxmlformats.org/drawingml/2006/main">
              <a:ext uri="{FF2B5EF4-FFF2-40B4-BE49-F238E27FC236}">
                <a16:creationId xmlns:a16="http://schemas.microsoft.com/office/drawing/2014/main" id="{98EA456A-22B8-4BD2-809F-62210FEF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7670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0" name="cell-3-1-180">
            <a:extLst xmlns:a="http://schemas.openxmlformats.org/drawingml/2006/main">
              <a:ext uri="{FF2B5EF4-FFF2-40B4-BE49-F238E27FC236}">
                <a16:creationId xmlns:a16="http://schemas.microsoft.com/office/drawing/2014/main" id="{3AA8830A-156C-4E57-A130-89DA47CA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6242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购物车批量库存校验存在 N+1 查询</a:t>
            </a:r>
          </a:p>
        </p:txBody>
      </p:sp>
      <p:sp>
        <p:nvSpPr>
          <p:cNvPr id="41" name="cell-bg-3-2-180">
            <a:extLst xmlns:a="http://schemas.openxmlformats.org/drawingml/2006/main">
              <a:ext uri="{FF2B5EF4-FFF2-40B4-BE49-F238E27FC236}">
                <a16:creationId xmlns:a16="http://schemas.microsoft.com/office/drawing/2014/main" id="{3B100D5C-AD7B-46C1-982B-7F1886B8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767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2" name="cell-3-2-180">
            <a:extLst xmlns:a="http://schemas.openxmlformats.org/drawingml/2006/main">
              <a:ext uri="{FF2B5EF4-FFF2-40B4-BE49-F238E27FC236}">
                <a16:creationId xmlns:a16="http://schemas.microsoft.com/office/drawing/2014/main" id="{E008234E-3EB4-48D2-A1EF-45D014CC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624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审查中</a:t>
            </a:r>
          </a:p>
        </p:txBody>
      </p:sp>
      <p:sp>
        <p:nvSpPr>
          <p:cNvPr id="43" name="cell-bg-3-3-180">
            <a:extLst xmlns:a="http://schemas.openxmlformats.org/drawingml/2006/main">
              <a:ext uri="{FF2B5EF4-FFF2-40B4-BE49-F238E27FC236}">
                <a16:creationId xmlns:a16="http://schemas.microsoft.com/office/drawing/2014/main" id="{6E30C141-088B-4F51-9F04-B46B0DD3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0767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4" name="cell-3-3-180">
            <a:extLst xmlns:a="http://schemas.openxmlformats.org/drawingml/2006/main">
              <a:ext uri="{FF2B5EF4-FFF2-40B4-BE49-F238E27FC236}">
                <a16:creationId xmlns:a16="http://schemas.microsoft.com/office/drawing/2014/main" id="{823EF331-1E43-408B-AFC9-46248DE1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624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郭琪</a:t>
            </a:r>
          </a:p>
        </p:txBody>
      </p:sp>
      <p:sp>
        <p:nvSpPr>
          <p:cNvPr id="45" name="cell-bg-4-0-180">
            <a:extLst xmlns:a="http://schemas.openxmlformats.org/drawingml/2006/main">
              <a:ext uri="{FF2B5EF4-FFF2-40B4-BE49-F238E27FC236}">
                <a16:creationId xmlns:a16="http://schemas.microsoft.com/office/drawing/2014/main" id="{C058A589-9B70-443A-A1FA-0F06C571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6" name="cell-4-0-180">
            <a:extLst xmlns:a="http://schemas.openxmlformats.org/drawingml/2006/main">
              <a:ext uri="{FF2B5EF4-FFF2-40B4-BE49-F238E27FC236}">
                <a16:creationId xmlns:a16="http://schemas.microsoft.com/office/drawing/2014/main" id="{259842D4-CA71-4E85-A646-EA10306C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5297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SEC-105</a:t>
            </a:r>
          </a:p>
        </p:txBody>
      </p:sp>
      <p:sp>
        <p:nvSpPr>
          <p:cNvPr id="47" name="cell-bg-4-1-180">
            <a:extLst xmlns:a="http://schemas.openxmlformats.org/drawingml/2006/main">
              <a:ext uri="{FF2B5EF4-FFF2-40B4-BE49-F238E27FC236}">
                <a16:creationId xmlns:a16="http://schemas.microsoft.com/office/drawing/2014/main" id="{A6D6ED3A-FEDD-4BF1-BDF2-9907ACF6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66725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8" name="cell-4-1-180">
            <a:extLst xmlns:a="http://schemas.openxmlformats.org/drawingml/2006/main">
              <a:ext uri="{FF2B5EF4-FFF2-40B4-BE49-F238E27FC236}">
                <a16:creationId xmlns:a16="http://schemas.microsoft.com/office/drawing/2014/main" id="{A7852951-901D-4789-81E3-41E3A189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75297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后台人工调整库存缺少权限与审计校验</a:t>
            </a:r>
          </a:p>
        </p:txBody>
      </p:sp>
      <p:sp>
        <p:nvSpPr>
          <p:cNvPr id="49" name="cell-bg-4-2-180">
            <a:extLst xmlns:a="http://schemas.openxmlformats.org/drawingml/2006/main">
              <a:ext uri="{FF2B5EF4-FFF2-40B4-BE49-F238E27FC236}">
                <a16:creationId xmlns:a16="http://schemas.microsoft.com/office/drawing/2014/main" id="{A521F46D-52AD-41A4-AA3E-20F97E85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672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0" name="cell-4-2-180">
            <a:extLst xmlns:a="http://schemas.openxmlformats.org/drawingml/2006/main">
              <a:ext uri="{FF2B5EF4-FFF2-40B4-BE49-F238E27FC236}">
                <a16:creationId xmlns:a16="http://schemas.microsoft.com/office/drawing/2014/main" id="{BB590E62-161C-4019-B7D4-49E0B4F9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529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待开始</a:t>
            </a:r>
          </a:p>
        </p:txBody>
      </p:sp>
      <p:sp>
        <p:nvSpPr>
          <p:cNvPr id="51" name="cell-bg-4-3-180">
            <a:extLst xmlns:a="http://schemas.openxmlformats.org/drawingml/2006/main">
              <a:ext uri="{FF2B5EF4-FFF2-40B4-BE49-F238E27FC236}">
                <a16:creationId xmlns:a16="http://schemas.microsoft.com/office/drawing/2014/main" id="{39BF97CB-463B-42BD-A1C7-AB9256BE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6672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2" name="cell-4-3-180">
            <a:extLst xmlns:a="http://schemas.openxmlformats.org/drawingml/2006/main">
              <a:ext uri="{FF2B5EF4-FFF2-40B4-BE49-F238E27FC236}">
                <a16:creationId xmlns:a16="http://schemas.microsoft.com/office/drawing/2014/main" id="{EDB6299B-A8E9-4726-AC6E-198DBBE4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7529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未分配</a:t>
            </a:r>
          </a:p>
        </p:txBody>
      </p:sp>
    </p:spTree>
    <p:extLst>
      <p:ext uri="{BB962C8B-B14F-4D97-AF65-F5344CB8AC3E}">
        <p14:creationId xmlns:p14="http://schemas.microsoft.com/office/powerpoint/2010/main" val="4101972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4">
            <a:extLst xmlns:a="http://schemas.openxmlformats.org/drawingml/2006/main">
              <a:ext uri="{FF2B5EF4-FFF2-40B4-BE49-F238E27FC236}">
                <a16:creationId xmlns:a16="http://schemas.microsoft.com/office/drawing/2014/main" id="{77761D7B-3CC3-4EDA-B30B-B42BB5BD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团队按三步恢复计划推进，发布日期影响待确认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F7E121EC-57AF-4BD9-89A1-2890B332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本期快照后的建议动作，不改变已冻结证据。</a:t>
            </a:r>
          </a:p>
        </p:txBody>
      </p:sp>
      <p:sp>
        <p:nvSpPr>
          <p:cNvPr id="3" name="footer-4">
            <a:extLst xmlns:a="http://schemas.openxmlformats.org/drawingml/2006/main">
              <a:ext uri="{FF2B5EF4-FFF2-40B4-BE49-F238E27FC236}">
                <a16:creationId xmlns:a16="http://schemas.microsoft.com/office/drawing/2014/main" id="{D8428798-0C50-4178-90D2-C7E958D4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shopflow-fcbc6c1cd435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73C07DE8-842F-4736-BBA0-1CBE1279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C364660E-242C-4298-A069-DC8CB2C6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5F81DB7A-3694-44F4-944F-38D6C532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meline-time-0">
            <a:extLst xmlns:a="http://schemas.openxmlformats.org/drawingml/2006/main">
              <a:ext uri="{FF2B5EF4-FFF2-40B4-BE49-F238E27FC236}">
                <a16:creationId xmlns:a16="http://schemas.microsoft.com/office/drawing/2014/main" id="{E6ADD9BB-589A-4B56-8A70-4644CB4A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当前</a:t>
            </a:r>
          </a:p>
        </p:txBody>
      </p:sp>
      <p:sp>
        <p:nvSpPr>
          <p:cNvPr id="8" name="timeline-title-0">
            <a:extLst xmlns:a="http://schemas.openxmlformats.org/drawingml/2006/main">
              <a:ext uri="{FF2B5EF4-FFF2-40B4-BE49-F238E27FC236}">
                <a16:creationId xmlns:a16="http://schemas.microsoft.com/office/drawing/2014/main" id="{6286DB31-974E-4C7E-A275-1378552D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专家复核库存修复方案</a:t>
            </a:r>
          </a:p>
        </p:txBody>
      </p:sp>
      <p:sp>
        <p:nvSpPr>
          <p:cNvPr id="9" name="timeline-owner-0">
            <a:extLst xmlns:a="http://schemas.openxmlformats.org/drawingml/2006/main">
              <a:ext uri="{FF2B5EF4-FFF2-40B4-BE49-F238E27FC236}">
                <a16:creationId xmlns:a16="http://schemas.microsoft.com/office/drawing/2014/main" id="{FE172FA4-1FD9-4F41-A714-2B3974A0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技术负责人</a:t>
            </a:r>
          </a:p>
        </p:txBody>
      </p:sp>
      <p:sp>
        <p:nvSpPr>
          <p:cNvPr id="10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F93200D9-47F8-44DA-8464-CE252A99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imeline-time-1">
            <a:extLst xmlns:a="http://schemas.openxmlformats.org/drawingml/2006/main">
              <a:ext uri="{FF2B5EF4-FFF2-40B4-BE49-F238E27FC236}">
                <a16:creationId xmlns:a16="http://schemas.microsoft.com/office/drawing/2014/main" id="{AA878389-984A-49B8-812B-62CA027B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下一检查点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D8A73382-BA83-422D-9954-CDF3A295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完成并发回归与安全评估</a:t>
            </a:r>
          </a:p>
        </p:txBody>
      </p:sp>
      <p:sp>
        <p:nvSpPr>
          <p:cNvPr id="13" name="timeline-owner-1">
            <a:extLst xmlns:a="http://schemas.openxmlformats.org/drawingml/2006/main">
              <a:ext uri="{FF2B5EF4-FFF2-40B4-BE49-F238E27FC236}">
                <a16:creationId xmlns:a16="http://schemas.microsoft.com/office/drawing/2014/main" id="{9809B970-C1C5-48E0-809C-11104CD6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研发团队</a:t>
            </a:r>
          </a:p>
        </p:txBody>
      </p:sp>
      <p:sp>
        <p:nvSpPr>
          <p:cNvPr id="14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109C91D2-896A-456A-81D8-AC2536EB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imeline-time-2">
            <a:extLst xmlns:a="http://schemas.openxmlformats.org/drawingml/2006/main">
              <a:ext uri="{FF2B5EF4-FFF2-40B4-BE49-F238E27FC236}">
                <a16:creationId xmlns:a16="http://schemas.microsoft.com/office/drawing/2014/main" id="{3A2A4D7D-F460-4D1F-97A0-D29637E5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结果确认</a:t>
            </a:r>
          </a:p>
        </p:txBody>
      </p:sp>
      <p:sp>
        <p:nvSpPr>
          <p:cNvPr id="16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5CC37E35-5021-4D1E-844B-CAAE6149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更新发布日期与客户影响</a:t>
            </a:r>
          </a:p>
        </p:txBody>
      </p:sp>
      <p:sp>
        <p:nvSpPr>
          <p:cNvPr id="17" name="timeline-owner-2">
            <a:extLst xmlns:a="http://schemas.openxmlformats.org/drawingml/2006/main">
              <a:ext uri="{FF2B5EF4-FFF2-40B4-BE49-F238E27FC236}">
                <a16:creationId xmlns:a16="http://schemas.microsoft.com/office/drawing/2014/main" id="{200483E4-BD52-4A4A-B66C-75A10C98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项目经理</a:t>
            </a:r>
          </a:p>
        </p:txBody>
      </p:sp>
      <p:sp>
        <p:nvSpPr>
          <p:cNvPr id="18" name="decision-band">
            <a:extLst xmlns:a="http://schemas.openxmlformats.org/drawingml/2006/main">
              <a:ext uri="{FF2B5EF4-FFF2-40B4-BE49-F238E27FC236}">
                <a16:creationId xmlns:a16="http://schemas.microsoft.com/office/drawing/2014/main" id="{5E7C0F84-AC7C-4595-A86E-5A049287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ecision-text">
            <a:extLst xmlns:a="http://schemas.openxmlformats.org/drawingml/2006/main">
              <a:ext uri="{FF2B5EF4-FFF2-40B4-BE49-F238E27FC236}">
                <a16:creationId xmlns:a16="http://schemas.microsoft.com/office/drawing/2014/main" id="{85315101-F87E-42B3-AB8C-217C88FE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29275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客户项目经理决策：维持 8 月 15 日目标；若下一检查点未通过，再确认是否调整发布日期。</a:t>
            </a:r>
          </a:p>
        </p:txBody>
      </p:sp>
    </p:spTree>
    <p:extLst>
      <p:ext uri="{BB962C8B-B14F-4D97-AF65-F5344CB8AC3E}">
        <p14:creationId xmlns:p14="http://schemas.microsoft.com/office/powerpoint/2010/main" val="1515752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2026-08-06T06:58:12.0290000Z</dcterms:created>
  <dcterms:modified xsi:type="dcterms:W3CDTF">2026-08-06T06:58:12.0290000Z</dcterms:modified>
</coreProperties>
</file>