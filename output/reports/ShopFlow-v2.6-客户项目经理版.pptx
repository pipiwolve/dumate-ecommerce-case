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bbe3a1b7504e6d" /><Relationship Type="http://schemas.openxmlformats.org/officeDocument/2006/relationships/extended-properties" Target="/docProps/app.xml" Id="R3e0ebd249fe8482d" /><Relationship Type="http://schemas.openxmlformats.org/officeDocument/2006/relationships/officeDocument" Target="/ppt/presentation.xml" Id="R8c3c801f09fd43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5b188f28fe4bcc"/>
  </p:sldMasterIdLst>
  <p:notesMasterIdLst>
    <p:notesMasterId xmlns:r="http://schemas.openxmlformats.org/officeDocument/2006/relationships" r:id="R7c33d27bfa704f31"/>
  </p:notesMasterIdLst>
  <p:sldIdLst>
    <p:sldId xmlns:r="http://schemas.openxmlformats.org/officeDocument/2006/relationships" id="256" r:id="Rd5391a5ac4a445d8"/>
    <p:sldId xmlns:r="http://schemas.openxmlformats.org/officeDocument/2006/relationships" id="257" r:id="R80547df902be49b4"/>
    <p:sldId xmlns:r="http://schemas.openxmlformats.org/officeDocument/2006/relationships" id="258" r:id="Rdd5f16a06b844c66"/>
    <p:sldId xmlns:r="http://schemas.openxmlformats.org/officeDocument/2006/relationships" id="259" r:id="R49dc51973b5044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cc152763ea458b" /><Relationship Type="http://schemas.openxmlformats.org/officeDocument/2006/relationships/slideMaster" Target="/ppt/slideMasters/slideMaster1.xml" Id="R255b188f28fe4bcc" /><Relationship Type="http://schemas.openxmlformats.org/officeDocument/2006/relationships/notesMaster" Target="/ppt/notesMasters/notesMaster1.xml" Id="R7c33d27bfa704f31" /><Relationship Type="http://schemas.openxmlformats.org/officeDocument/2006/relationships/presProps" Target="/ppt/presProps.xml" Id="R89a4f33b8ca64334" /><Relationship Type="http://schemas.openxmlformats.org/officeDocument/2006/relationships/tableStyles" Target="/ppt/tableStyles.xml" Id="R123a88bdbd514db9" /><Relationship Type="http://schemas.openxmlformats.org/officeDocument/2006/relationships/slide" Target="/ppt/slides/slide1.xml" Id="Rd5391a5ac4a445d8" /><Relationship Type="http://schemas.openxmlformats.org/officeDocument/2006/relationships/slide" Target="/ppt/slides/slide2.xml" Id="R80547df902be49b4" /><Relationship Type="http://schemas.openxmlformats.org/officeDocument/2006/relationships/slide" Target="/ppt/slides/slide3.xml" Id="Rdd5f16a06b844c66" /><Relationship Type="http://schemas.openxmlformats.org/officeDocument/2006/relationships/slide" Target="/ppt/slides/slide4.xml" Id="R49dc51973b5044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ba8ca079cd4b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8240385ec147c6" /><Relationship Type="http://schemas.openxmlformats.org/officeDocument/2006/relationships/notesMaster" Target="/ppt/notesMasters/notesMaster1.xml" Id="R7c885ea4f71a42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ec9c04be4a4350" /><Relationship Type="http://schemas.openxmlformats.org/officeDocument/2006/relationships/notesMaster" Target="/ppt/notesMasters/notesMaster1.xml" Id="Rb0f65453e12d4b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029a1992624df7" /><Relationship Type="http://schemas.openxmlformats.org/officeDocument/2006/relationships/notesMaster" Target="/ppt/notesMasters/notesMaster1.xml" Id="Rbd87116b304f49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f5e00547df492f" /><Relationship Type="http://schemas.openxmlformats.org/officeDocument/2006/relationships/notesMaster" Target="/ppt/notesMasters/notesMaster1.xml" Id="R6ec7f844a6e04d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github://OWNER/ecommerce-delivery-case/milestone/v2.6</a:t>
            </a:r>
          </a:p>
          <a:p xmlns:a="http://schemas.openxmlformats.org/drawingml/2006/main">
            <a:r>
              <a:t>- git://shopflow/product-main@8b67e3d750386b4c993fed848298fa54ff6e2bea</a:t>
            </a:r>
          </a:p>
          <a:p xmlns:a="http://schemas.openxmlformats.org/drawingml/2006/main">
            <a:r>
              <a:t>- kb://shopflow/sop/promotion-release-gate-v1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b9ee66f1b24d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007e6821dd489f" /><Relationship Type="http://schemas.openxmlformats.org/officeDocument/2006/relationships/slideLayout" Target="/ppt/slideLayouts/slideLayout1.xml" Id="R86e08242fee34f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e08242fee34f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c3c6f2a9a843e3" /><Relationship Type="http://schemas.openxmlformats.org/officeDocument/2006/relationships/notesSlide" Target="/ppt/notesSlides/notesSlide1.xml" Id="R2ca2294c38fc47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22cb15001d458e" /><Relationship Type="http://schemas.openxmlformats.org/officeDocument/2006/relationships/notesSlide" Target="/ppt/notesSlides/notesSlide2.xml" Id="Ra349a47461b540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652f4838104508" /><Relationship Type="http://schemas.openxmlformats.org/officeDocument/2006/relationships/notesSlide" Target="/ppt/notesSlides/notesSlide3.xml" Id="R46df734c01994e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fc5d3e7054d9a" /><Relationship Type="http://schemas.openxmlformats.org/officeDocument/2006/relationships/notesSlide" Target="/ppt/notesSlides/notesSlide4.xml" Id="Rc52cb24e32fb4b6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5E124622-5A0D-4419-A306-19D372F5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SHOPFLOW  /  DELIVERY REVIEW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AB6D25F-32D3-490E-A3AC-03364DD6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9906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ShopFlow v2.6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项目进展更新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1CFE04F9-3683-4791-BF5B-EB14624F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4332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audience">
            <a:extLst xmlns:a="http://schemas.openxmlformats.org/drawingml/2006/main">
              <a:ext uri="{FF2B5EF4-FFF2-40B4-BE49-F238E27FC236}">
                <a16:creationId xmlns:a16="http://schemas.microsoft.com/office/drawing/2014/main" id="{B91FBD27-35B8-4EFD-83CD-5F419538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客户项目经理版</a:t>
            </a:r>
          </a:p>
        </p:txBody>
      </p:sp>
      <p:sp>
        <p:nvSpPr>
          <p:cNvPr id="5" name="cover-meta">
            <a:extLst xmlns:a="http://schemas.openxmlformats.org/drawingml/2006/main">
              <a:ext uri="{FF2B5EF4-FFF2-40B4-BE49-F238E27FC236}">
                <a16:creationId xmlns:a16="http://schemas.microsoft.com/office/drawing/2014/main" id="{65ACD460-06C8-4355-9EB7-4C128278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809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快照时间  2026-08-06T18:00:00+08:00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里程碑  v2.6 限时促销稳定性</a:t>
            </a:r>
          </a:p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证据快照  shopflow-41d613d1137b</a:t>
            </a:r>
          </a:p>
        </p:txBody>
      </p:sp>
      <p:sp>
        <p:nvSpPr>
          <p:cNvPr id="6" name="cover-health">
            <a:extLst xmlns:a="http://schemas.openxmlformats.org/drawingml/2006/main">
              <a:ext uri="{FF2B5EF4-FFF2-40B4-BE49-F238E27FC236}">
                <a16:creationId xmlns:a16="http://schemas.microsoft.com/office/drawing/2014/main" id="{5FBF259B-116A-46C4-B1A6-1E4E43DA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62500"/>
            <a:ext cx="2266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有风险</a:t>
            </a:r>
          </a:p>
        </p:txBody>
      </p:sp>
    </p:spTree>
    <p:extLst>
      <p:ext uri="{BB962C8B-B14F-4D97-AF65-F5344CB8AC3E}">
        <p14:creationId xmlns:p14="http://schemas.microsoft.com/office/powerpoint/2010/main" val="6260518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2">
            <a:extLst xmlns:a="http://schemas.openxmlformats.org/drawingml/2006/main">
              <a:ext uri="{FF2B5EF4-FFF2-40B4-BE49-F238E27FC236}">
                <a16:creationId xmlns:a16="http://schemas.microsoft.com/office/drawing/2014/main" id="{B5E838E6-0409-48BB-A7EB-51770410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版本完成 65%，当前交付状态为有风险</a:t>
            </a:r>
          </a:p>
        </p:txBody>
      </p:sp>
      <p:sp>
        <p:nvSpPr>
          <p:cNvPr id="2" name="subtitle-2">
            <a:extLst xmlns:a="http://schemas.openxmlformats.org/drawingml/2006/main">
              <a:ext uri="{FF2B5EF4-FFF2-40B4-BE49-F238E27FC236}">
                <a16:creationId xmlns:a16="http://schemas.microsoft.com/office/drawing/2014/main" id="{2F0A9F44-5C20-487E-B8C0-044917C8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核心能力已部分完成，团队正在处理一个影响发布的库存一致性问题。</a:t>
            </a:r>
          </a:p>
        </p:txBody>
      </p:sp>
      <p:sp>
        <p:nvSpPr>
          <p:cNvPr id="3" name="footer-2">
            <a:extLst xmlns:a="http://schemas.openxmlformats.org/drawingml/2006/main">
              <a:ext uri="{FF2B5EF4-FFF2-40B4-BE49-F238E27FC236}">
                <a16:creationId xmlns:a16="http://schemas.microsoft.com/office/drawing/2014/main" id="{0FE1CEF7-736E-4F4D-9473-E1310C1E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DE78BE3C-F315-4C8F-9F9C-6CAD4A7D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5" name="progress-number">
            <a:extLst xmlns:a="http://schemas.openxmlformats.org/drawingml/2006/main">
              <a:ext uri="{FF2B5EF4-FFF2-40B4-BE49-F238E27FC236}">
                <a16:creationId xmlns:a16="http://schemas.microsoft.com/office/drawing/2014/main" id="{C3B13994-65D8-4BF4-914D-657C9A25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143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65%</a:t>
            </a:r>
          </a:p>
        </p:txBody>
      </p:sp>
      <p:sp>
        <p:nvSpPr>
          <p:cNvPr id="6" name="progress-base">
            <a:extLst xmlns:a="http://schemas.openxmlformats.org/drawingml/2006/main">
              <a:ext uri="{FF2B5EF4-FFF2-40B4-BE49-F238E27FC236}">
                <a16:creationId xmlns:a16="http://schemas.microsoft.com/office/drawing/2014/main" id="{D06D4162-DF55-4E6D-85F9-E3529908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gress-fill">
            <a:extLst xmlns:a="http://schemas.openxmlformats.org/drawingml/2006/main">
              <a:ext uri="{FF2B5EF4-FFF2-40B4-BE49-F238E27FC236}">
                <a16:creationId xmlns:a16="http://schemas.microsoft.com/office/drawing/2014/main" id="{74A44E8A-9019-4BB1-87F7-4049C9B8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2043113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gress-label">
            <a:extLst xmlns:a="http://schemas.openxmlformats.org/drawingml/2006/main">
              <a:ext uri="{FF2B5EF4-FFF2-40B4-BE49-F238E27FC236}">
                <a16:creationId xmlns:a16="http://schemas.microsoft.com/office/drawing/2014/main" id="{C60EEC26-D425-488B-AF84-4FBDC1EB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加权里程碑进度</a:t>
            </a:r>
          </a:p>
        </p:txBody>
      </p:sp>
      <p:sp>
        <p:nvSpPr>
          <p:cNvPr id="9" name="stat-bg-0">
            <a:extLst xmlns:a="http://schemas.openxmlformats.org/drawingml/2006/main">
              <a:ext uri="{FF2B5EF4-FFF2-40B4-BE49-F238E27FC236}">
                <a16:creationId xmlns:a16="http://schemas.microsoft.com/office/drawing/2014/main" id="{582FEE92-12DB-454D-AB57-3478C0CD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3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value-0">
            <a:extLst xmlns:a="http://schemas.openxmlformats.org/drawingml/2006/main">
              <a:ext uri="{FF2B5EF4-FFF2-40B4-BE49-F238E27FC236}">
                <a16:creationId xmlns:a16="http://schemas.microsoft.com/office/drawing/2014/main" id="{6A31C212-ECC0-4C4B-A75D-3595438A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8794E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18794E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1" name="stat-label-0">
            <a:extLst xmlns:a="http://schemas.openxmlformats.org/drawingml/2006/main">
              <a:ext uri="{FF2B5EF4-FFF2-40B4-BE49-F238E27FC236}">
                <a16:creationId xmlns:a16="http://schemas.microsoft.com/office/drawing/2014/main" id="{16703E09-8148-4C0C-9FC8-A09D034E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已完成事项</a:t>
            </a:r>
          </a:p>
        </p:txBody>
      </p:sp>
      <p:sp>
        <p:nvSpPr>
          <p:cNvPr id="12" name="stat-bg-1">
            <a:extLst xmlns:a="http://schemas.openxmlformats.org/drawingml/2006/main">
              <a:ext uri="{FF2B5EF4-FFF2-40B4-BE49-F238E27FC236}">
                <a16:creationId xmlns:a16="http://schemas.microsoft.com/office/drawing/2014/main" id="{C9040E9E-4E5D-44BC-B278-B7C0C227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t-value-1">
            <a:extLst xmlns:a="http://schemas.openxmlformats.org/drawingml/2006/main">
              <a:ext uri="{FF2B5EF4-FFF2-40B4-BE49-F238E27FC236}">
                <a16:creationId xmlns:a16="http://schemas.microsoft.com/office/drawing/2014/main" id="{64BD51C7-0851-4FEA-8BFF-E02D4EF5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2E7CF6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2E7CF6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stat-label-1">
            <a:extLst xmlns:a="http://schemas.openxmlformats.org/drawingml/2006/main">
              <a:ext uri="{FF2B5EF4-FFF2-40B4-BE49-F238E27FC236}">
                <a16:creationId xmlns:a16="http://schemas.microsoft.com/office/drawing/2014/main" id="{68CEC501-9E58-41A3-9F26-86FAA119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处理中事项</a:t>
            </a:r>
          </a:p>
        </p:txBody>
      </p:sp>
      <p:sp>
        <p:nvSpPr>
          <p:cNvPr id="15" name="stat-bg-2">
            <a:extLst xmlns:a="http://schemas.openxmlformats.org/drawingml/2006/main">
              <a:ext uri="{FF2B5EF4-FFF2-40B4-BE49-F238E27FC236}">
                <a16:creationId xmlns:a16="http://schemas.microsoft.com/office/drawing/2014/main" id="{4861535C-3B3C-4104-836F-FBA90362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47900"/>
            <a:ext cx="2190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tat-value-2">
            <a:extLst xmlns:a="http://schemas.openxmlformats.org/drawingml/2006/main">
              <a:ext uri="{FF2B5EF4-FFF2-40B4-BE49-F238E27FC236}">
                <a16:creationId xmlns:a16="http://schemas.microsoft.com/office/drawing/2014/main" id="{D86991E2-2E85-441B-AD67-248B040C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571750"/>
            <a:ext cx="1733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B46A00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7" name="stat-label-2">
            <a:extLst xmlns:a="http://schemas.openxmlformats.org/drawingml/2006/main">
              <a:ext uri="{FF2B5EF4-FFF2-40B4-BE49-F238E27FC236}">
                <a16:creationId xmlns:a16="http://schemas.microsoft.com/office/drawing/2014/main" id="{A92D1084-F989-4EF6-874F-FF80831D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543300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待启动风险</a:t>
            </a:r>
          </a:p>
        </p:txBody>
      </p:sp>
      <p:sp>
        <p:nvSpPr>
          <p:cNvPr id="18" name="health-conclusion">
            <a:extLst xmlns:a="http://schemas.openxmlformats.org/drawingml/2006/main">
              <a:ext uri="{FF2B5EF4-FFF2-40B4-BE49-F238E27FC236}">
                <a16:creationId xmlns:a16="http://schemas.microsoft.com/office/drawing/2014/main" id="{E5D70179-0E99-451B-B19C-DD784CE0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800600"/>
            <a:ext cx="7543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当前不建议进入发布候选。若阻塞在下一个工作日仍未关闭，发布日期影响需由项目经理确认。</a:t>
            </a:r>
          </a:p>
        </p:txBody>
      </p:sp>
    </p:spTree>
    <p:extLst>
      <p:ext uri="{BB962C8B-B14F-4D97-AF65-F5344CB8AC3E}">
        <p14:creationId xmlns:p14="http://schemas.microsoft.com/office/powerpoint/2010/main" val="14172360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title-3">
            <a:extLst xmlns:a="http://schemas.openxmlformats.org/drawingml/2006/main">
              <a:ext uri="{FF2B5EF4-FFF2-40B4-BE49-F238E27FC236}">
                <a16:creationId xmlns:a16="http://schemas.microsoft.com/office/drawing/2014/main" id="{01E65904-8CAB-4CC0-A8D4-2D448228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已完成核心能力，但发布阻塞尚未解除</a:t>
            </a:r>
          </a:p>
        </p:txBody>
      </p:sp>
      <p:sp>
        <p:nvSpPr>
          <p:cNvPr id="2" name="subtitle-3">
            <a:extLst xmlns:a="http://schemas.openxmlformats.org/drawingml/2006/main">
              <a:ext uri="{FF2B5EF4-FFF2-40B4-BE49-F238E27FC236}">
                <a16:creationId xmlns:a16="http://schemas.microsoft.com/office/drawing/2014/main" id="{ABAC7FA5-91CC-410B-A37F-9FFE4F0A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客户视图聚焦业务结果与责任人，不展示内部代码细节。</a:t>
            </a:r>
          </a:p>
        </p:txBody>
      </p:sp>
      <p:sp>
        <p:nvSpPr>
          <p:cNvPr id="3" name="footer-3">
            <a:extLst xmlns:a="http://schemas.openxmlformats.org/drawingml/2006/main">
              <a:ext uri="{FF2B5EF4-FFF2-40B4-BE49-F238E27FC236}">
                <a16:creationId xmlns:a16="http://schemas.microsoft.com/office/drawing/2014/main" id="{3A08CDD1-44D9-47DD-9A70-88E19D67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A0FD25CF-D71D-4B2B-8A9C-ED9722724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5" name="header-bg-0-180">
            <a:extLst xmlns:a="http://schemas.openxmlformats.org/drawingml/2006/main">
              <a:ext uri="{FF2B5EF4-FFF2-40B4-BE49-F238E27FC236}">
                <a16:creationId xmlns:a16="http://schemas.microsoft.com/office/drawing/2014/main" id="{E215D55A-B28F-477F-B063-80F96CE1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header-0-180">
            <a:extLst xmlns:a="http://schemas.openxmlformats.org/drawingml/2006/main">
              <a:ext uri="{FF2B5EF4-FFF2-40B4-BE49-F238E27FC236}">
                <a16:creationId xmlns:a16="http://schemas.microsoft.com/office/drawing/2014/main" id="{5037F1F7-6B07-405A-9B8F-1D41FFBE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事项</a:t>
            </a:r>
          </a:p>
        </p:txBody>
      </p:sp>
      <p:sp>
        <p:nvSpPr>
          <p:cNvPr id="7" name="header-bg-1-180">
            <a:extLst xmlns:a="http://schemas.openxmlformats.org/drawingml/2006/main">
              <a:ext uri="{FF2B5EF4-FFF2-40B4-BE49-F238E27FC236}">
                <a16:creationId xmlns:a16="http://schemas.microsoft.com/office/drawing/2014/main" id="{303F98CE-3E3D-4457-BC6F-2D6D959F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71450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header-1-180">
            <a:extLst xmlns:a="http://schemas.openxmlformats.org/drawingml/2006/main">
              <a:ext uri="{FF2B5EF4-FFF2-40B4-BE49-F238E27FC236}">
                <a16:creationId xmlns:a16="http://schemas.microsoft.com/office/drawing/2014/main" id="{A798B2A8-5F9B-4C25-8A37-AE49665F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09750"/>
            <a:ext cx="491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业务结果</a:t>
            </a:r>
          </a:p>
        </p:txBody>
      </p:sp>
      <p:sp>
        <p:nvSpPr>
          <p:cNvPr id="9" name="header-bg-2-180">
            <a:extLst xmlns:a="http://schemas.openxmlformats.org/drawingml/2006/main">
              <a:ext uri="{FF2B5EF4-FFF2-40B4-BE49-F238E27FC236}">
                <a16:creationId xmlns:a16="http://schemas.microsoft.com/office/drawing/2014/main" id="{147C503A-10CC-4A32-8342-4D61D419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145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2-180">
            <a:extLst xmlns:a="http://schemas.openxmlformats.org/drawingml/2006/main">
              <a:ext uri="{FF2B5EF4-FFF2-40B4-BE49-F238E27FC236}">
                <a16:creationId xmlns:a16="http://schemas.microsoft.com/office/drawing/2014/main" id="{6E479044-ADCD-4132-8EA8-D1DAE879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097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状态</a:t>
            </a:r>
          </a:p>
        </p:txBody>
      </p:sp>
      <p:sp>
        <p:nvSpPr>
          <p:cNvPr id="11" name="header-bg-3-180">
            <a:extLst xmlns:a="http://schemas.openxmlformats.org/drawingml/2006/main">
              <a:ext uri="{FF2B5EF4-FFF2-40B4-BE49-F238E27FC236}">
                <a16:creationId xmlns:a16="http://schemas.microsoft.com/office/drawing/2014/main" id="{DF979632-BD27-42F3-BE85-89CCB6CB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7145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header-3-180">
            <a:extLst xmlns:a="http://schemas.openxmlformats.org/drawingml/2006/main">
              <a:ext uri="{FF2B5EF4-FFF2-40B4-BE49-F238E27FC236}">
                <a16:creationId xmlns:a16="http://schemas.microsoft.com/office/drawing/2014/main" id="{379BE54C-83BA-4E1B-A41B-E7426C32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809750"/>
            <a:ext cx="1390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负责人</a:t>
            </a:r>
          </a:p>
        </p:txBody>
      </p:sp>
      <p:sp>
        <p:nvSpPr>
          <p:cNvPr id="13" name="cell-bg-0-0-180">
            <a:extLst xmlns:a="http://schemas.openxmlformats.org/drawingml/2006/main">
              <a:ext uri="{FF2B5EF4-FFF2-40B4-BE49-F238E27FC236}">
                <a16:creationId xmlns:a16="http://schemas.microsoft.com/office/drawing/2014/main" id="{642F99B7-4B5D-4DA5-8BF8-0166DA1C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4" name="cell-0-0-180">
            <a:extLst xmlns:a="http://schemas.openxmlformats.org/drawingml/2006/main">
              <a:ext uri="{FF2B5EF4-FFF2-40B4-BE49-F238E27FC236}">
                <a16:creationId xmlns:a16="http://schemas.microsoft.com/office/drawing/2014/main" id="{136FA9F9-7957-4B97-83A4-18A11ACA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9077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FEAT-101</a:t>
            </a:r>
          </a:p>
        </p:txBody>
      </p:sp>
      <p:sp>
        <p:nvSpPr>
          <p:cNvPr id="15" name="cell-bg-0-1-180">
            <a:extLst xmlns:a="http://schemas.openxmlformats.org/drawingml/2006/main">
              <a:ext uri="{FF2B5EF4-FFF2-40B4-BE49-F238E27FC236}">
                <a16:creationId xmlns:a16="http://schemas.microsoft.com/office/drawing/2014/main" id="{D4133B2C-BEE6-45CC-950B-4BE2858A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0505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6" name="cell-0-1-180">
            <a:extLst xmlns:a="http://schemas.openxmlformats.org/drawingml/2006/main">
              <a:ext uri="{FF2B5EF4-FFF2-40B4-BE49-F238E27FC236}">
                <a16:creationId xmlns:a16="http://schemas.microsoft.com/office/drawing/2014/main" id="{6F530435-F6B1-4817-BC7F-1F3A945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9077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新增库存预占与超时释放模块</a:t>
            </a:r>
          </a:p>
        </p:txBody>
      </p:sp>
      <p:sp>
        <p:nvSpPr>
          <p:cNvPr id="17" name="cell-bg-0-2-180">
            <a:extLst xmlns:a="http://schemas.openxmlformats.org/drawingml/2006/main">
              <a:ext uri="{FF2B5EF4-FFF2-40B4-BE49-F238E27FC236}">
                <a16:creationId xmlns:a16="http://schemas.microsoft.com/office/drawing/2014/main" id="{1DFBBEF8-6343-4A6D-BD50-DB18DEFB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050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18" name="cell-0-2-180">
            <a:extLst xmlns:a="http://schemas.openxmlformats.org/drawingml/2006/main">
              <a:ext uri="{FF2B5EF4-FFF2-40B4-BE49-F238E27FC236}">
                <a16:creationId xmlns:a16="http://schemas.microsoft.com/office/drawing/2014/main" id="{3F7219B3-D5F3-4CF9-BF21-D905BFAB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907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19" name="cell-bg-0-3-180">
            <a:extLst xmlns:a="http://schemas.openxmlformats.org/drawingml/2006/main">
              <a:ext uri="{FF2B5EF4-FFF2-40B4-BE49-F238E27FC236}">
                <a16:creationId xmlns:a16="http://schemas.microsoft.com/office/drawing/2014/main" id="{6AE035BE-96E9-4738-B7A7-D016F01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3050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0" name="cell-0-3-180">
            <a:extLst xmlns:a="http://schemas.openxmlformats.org/drawingml/2006/main">
              <a:ext uri="{FF2B5EF4-FFF2-40B4-BE49-F238E27FC236}">
                <a16:creationId xmlns:a16="http://schemas.microsoft.com/office/drawing/2014/main" id="{7AF19F85-A236-4C89-8D70-E40C6E804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907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陈晨</a:t>
            </a:r>
          </a:p>
        </p:txBody>
      </p:sp>
      <p:sp>
        <p:nvSpPr>
          <p:cNvPr id="21" name="cell-bg-1-0-180">
            <a:extLst xmlns:a="http://schemas.openxmlformats.org/drawingml/2006/main">
              <a:ext uri="{FF2B5EF4-FFF2-40B4-BE49-F238E27FC236}">
                <a16:creationId xmlns:a16="http://schemas.microsoft.com/office/drawing/2014/main" id="{4B60F237-968D-454A-9217-3E8C8332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2" name="cell-1-0-180">
            <a:extLst xmlns:a="http://schemas.openxmlformats.org/drawingml/2006/main">
              <a:ext uri="{FF2B5EF4-FFF2-40B4-BE49-F238E27FC236}">
                <a16:creationId xmlns:a16="http://schemas.microsoft.com/office/drawing/2014/main" id="{3EF715C4-7933-4194-A4F9-46609261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8132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BUG-102</a:t>
            </a:r>
          </a:p>
        </p:txBody>
      </p:sp>
      <p:sp>
        <p:nvSpPr>
          <p:cNvPr id="23" name="cell-bg-1-1-180">
            <a:extLst xmlns:a="http://schemas.openxmlformats.org/drawingml/2006/main">
              <a:ext uri="{FF2B5EF4-FFF2-40B4-BE49-F238E27FC236}">
                <a16:creationId xmlns:a16="http://schemas.microsoft.com/office/drawing/2014/main" id="{94F0B3D9-066A-428D-813B-9886EC1E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89560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4" name="cell-1-1-180">
            <a:extLst xmlns:a="http://schemas.openxmlformats.org/drawingml/2006/main">
              <a:ext uri="{FF2B5EF4-FFF2-40B4-BE49-F238E27FC236}">
                <a16:creationId xmlns:a16="http://schemas.microsoft.com/office/drawing/2014/main" id="{B78900C9-C876-459D-9BAA-1D381C06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8132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高并发库存预占出现超卖</a:t>
            </a:r>
          </a:p>
        </p:txBody>
      </p:sp>
      <p:sp>
        <p:nvSpPr>
          <p:cNvPr id="25" name="cell-bg-1-2-180">
            <a:extLst xmlns:a="http://schemas.openxmlformats.org/drawingml/2006/main">
              <a:ext uri="{FF2B5EF4-FFF2-40B4-BE49-F238E27FC236}">
                <a16:creationId xmlns:a16="http://schemas.microsoft.com/office/drawing/2014/main" id="{CC7752D9-879C-4BAF-ABEB-3A03BBED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956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6" name="cell-1-2-180">
            <a:extLst xmlns:a="http://schemas.openxmlformats.org/drawingml/2006/main">
              <a:ext uri="{FF2B5EF4-FFF2-40B4-BE49-F238E27FC236}">
                <a16:creationId xmlns:a16="http://schemas.microsoft.com/office/drawing/2014/main" id="{2C32371D-C92E-4E87-B2A7-4AB64CAD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9813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D23B3B"/>
                </a:solidFill>
                <a:latin typeface="PingFang SC"/>
                <a:ea typeface="PingFang SC"/>
                <a:cs typeface="PingFang SC"/>
              </a:rPr>
              <a:t>阻塞</a:t>
            </a:r>
          </a:p>
        </p:txBody>
      </p:sp>
      <p:sp>
        <p:nvSpPr>
          <p:cNvPr id="27" name="cell-bg-1-3-180">
            <a:extLst xmlns:a="http://schemas.openxmlformats.org/drawingml/2006/main">
              <a:ext uri="{FF2B5EF4-FFF2-40B4-BE49-F238E27FC236}">
                <a16:creationId xmlns:a16="http://schemas.microsoft.com/office/drawing/2014/main" id="{7B7778CD-1135-43CD-8D75-758EF406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956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7E7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28" name="cell-1-3-180">
            <a:extLst xmlns:a="http://schemas.openxmlformats.org/drawingml/2006/main">
              <a:ext uri="{FF2B5EF4-FFF2-40B4-BE49-F238E27FC236}">
                <a16:creationId xmlns:a16="http://schemas.microsoft.com/office/drawing/2014/main" id="{CE8EB69C-743B-4050-9A02-B2B9C652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813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陈晨</a:t>
            </a:r>
          </a:p>
        </p:txBody>
      </p:sp>
      <p:sp>
        <p:nvSpPr>
          <p:cNvPr id="29" name="cell-bg-2-0-180">
            <a:extLst xmlns:a="http://schemas.openxmlformats.org/drawingml/2006/main">
              <a:ext uri="{FF2B5EF4-FFF2-40B4-BE49-F238E27FC236}">
                <a16:creationId xmlns:a16="http://schemas.microsoft.com/office/drawing/2014/main" id="{2C4BDA82-91D6-488A-94BB-5DE056E5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861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0" name="cell-2-0-180">
            <a:extLst xmlns:a="http://schemas.openxmlformats.org/drawingml/2006/main">
              <a:ext uri="{FF2B5EF4-FFF2-40B4-BE49-F238E27FC236}">
                <a16:creationId xmlns:a16="http://schemas.microsoft.com/office/drawing/2014/main" id="{A921CBE3-58AE-411C-B0B5-4192A918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7187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BUG-103</a:t>
            </a:r>
          </a:p>
        </p:txBody>
      </p:sp>
      <p:sp>
        <p:nvSpPr>
          <p:cNvPr id="31" name="cell-bg-2-1-180">
            <a:extLst xmlns:a="http://schemas.openxmlformats.org/drawingml/2006/main">
              <a:ext uri="{FF2B5EF4-FFF2-40B4-BE49-F238E27FC236}">
                <a16:creationId xmlns:a16="http://schemas.microsoft.com/office/drawing/2014/main" id="{D628A99D-5926-41C2-A302-9B2FEBD7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8615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2" name="cell-2-1-180">
            <a:extLst xmlns:a="http://schemas.openxmlformats.org/drawingml/2006/main">
              <a:ext uri="{FF2B5EF4-FFF2-40B4-BE49-F238E27FC236}">
                <a16:creationId xmlns:a16="http://schemas.microsoft.com/office/drawing/2014/main" id="{2E37027B-97BA-44A3-8915-E574B143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7187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取消订单后库存未完全释放</a:t>
            </a:r>
          </a:p>
        </p:txBody>
      </p:sp>
      <p:sp>
        <p:nvSpPr>
          <p:cNvPr id="33" name="cell-bg-2-2-180">
            <a:extLst xmlns:a="http://schemas.openxmlformats.org/drawingml/2006/main">
              <a:ext uri="{FF2B5EF4-FFF2-40B4-BE49-F238E27FC236}">
                <a16:creationId xmlns:a16="http://schemas.microsoft.com/office/drawing/2014/main" id="{435451AF-20CC-4A10-9071-8A41CA6C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861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4" name="cell-2-2-180">
            <a:extLst xmlns:a="http://schemas.openxmlformats.org/drawingml/2006/main">
              <a:ext uri="{FF2B5EF4-FFF2-40B4-BE49-F238E27FC236}">
                <a16:creationId xmlns:a16="http://schemas.microsoft.com/office/drawing/2014/main" id="{946F2C19-E856-4764-89DD-C9B3CF94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718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已完成</a:t>
            </a:r>
          </a:p>
        </p:txBody>
      </p:sp>
      <p:sp>
        <p:nvSpPr>
          <p:cNvPr id="35" name="cell-bg-2-3-180">
            <a:extLst xmlns:a="http://schemas.openxmlformats.org/drawingml/2006/main">
              <a:ext uri="{FF2B5EF4-FFF2-40B4-BE49-F238E27FC236}">
                <a16:creationId xmlns:a16="http://schemas.microsoft.com/office/drawing/2014/main" id="{C3CEB399-ED25-44E0-A9CA-43E5BDD0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861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6" name="cell-2-3-180">
            <a:extLst xmlns:a="http://schemas.openxmlformats.org/drawingml/2006/main">
              <a:ext uri="{FF2B5EF4-FFF2-40B4-BE49-F238E27FC236}">
                <a16:creationId xmlns:a16="http://schemas.microsoft.com/office/drawing/2014/main" id="{AECBA353-11B0-44EA-A034-A4B8427C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5718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孙璐</a:t>
            </a:r>
          </a:p>
        </p:txBody>
      </p:sp>
      <p:sp>
        <p:nvSpPr>
          <p:cNvPr id="37" name="cell-bg-3-0-180">
            <a:extLst xmlns:a="http://schemas.openxmlformats.org/drawingml/2006/main">
              <a:ext uri="{FF2B5EF4-FFF2-40B4-BE49-F238E27FC236}">
                <a16:creationId xmlns:a16="http://schemas.microsoft.com/office/drawing/2014/main" id="{14A9C59B-B1D0-4EB9-8AF9-1A02D0EA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767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38" name="cell-3-0-180">
            <a:extLst xmlns:a="http://schemas.openxmlformats.org/drawingml/2006/main">
              <a:ext uri="{FF2B5EF4-FFF2-40B4-BE49-F238E27FC236}">
                <a16:creationId xmlns:a16="http://schemas.microsoft.com/office/drawing/2014/main" id="{05FCF409-6403-4F32-BB4C-5E3609AD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6242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PERF-104</a:t>
            </a:r>
          </a:p>
        </p:txBody>
      </p:sp>
      <p:sp>
        <p:nvSpPr>
          <p:cNvPr id="39" name="cell-bg-3-1-180">
            <a:extLst xmlns:a="http://schemas.openxmlformats.org/drawingml/2006/main">
              <a:ext uri="{FF2B5EF4-FFF2-40B4-BE49-F238E27FC236}">
                <a16:creationId xmlns:a16="http://schemas.microsoft.com/office/drawing/2014/main" id="{56E51F01-FBB9-4505-B93A-02A687CE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07670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0" name="cell-3-1-180">
            <a:extLst xmlns:a="http://schemas.openxmlformats.org/drawingml/2006/main">
              <a:ext uri="{FF2B5EF4-FFF2-40B4-BE49-F238E27FC236}">
                <a16:creationId xmlns:a16="http://schemas.microsoft.com/office/drawing/2014/main" id="{7D26DD62-F897-4FA2-B7AD-D0882ECA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6242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购物车批量库存校验存在 N+1 查询</a:t>
            </a:r>
          </a:p>
        </p:txBody>
      </p:sp>
      <p:sp>
        <p:nvSpPr>
          <p:cNvPr id="41" name="cell-bg-3-2-180">
            <a:extLst xmlns:a="http://schemas.openxmlformats.org/drawingml/2006/main">
              <a:ext uri="{FF2B5EF4-FFF2-40B4-BE49-F238E27FC236}">
                <a16:creationId xmlns:a16="http://schemas.microsoft.com/office/drawing/2014/main" id="{A2F55B8E-7BEA-4105-9A93-48A11AB1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767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2" name="cell-3-2-180">
            <a:extLst xmlns:a="http://schemas.openxmlformats.org/drawingml/2006/main">
              <a:ext uri="{FF2B5EF4-FFF2-40B4-BE49-F238E27FC236}">
                <a16:creationId xmlns:a16="http://schemas.microsoft.com/office/drawing/2014/main" id="{4108CB83-E4DD-4DF6-8E1A-914A9986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624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审查中</a:t>
            </a:r>
          </a:p>
        </p:txBody>
      </p:sp>
      <p:sp>
        <p:nvSpPr>
          <p:cNvPr id="43" name="cell-bg-3-3-180">
            <a:extLst xmlns:a="http://schemas.openxmlformats.org/drawingml/2006/main">
              <a:ext uri="{FF2B5EF4-FFF2-40B4-BE49-F238E27FC236}">
                <a16:creationId xmlns:a16="http://schemas.microsoft.com/office/drawing/2014/main" id="{D9CD7657-C3A5-462F-941A-87F89A41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07670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4" name="cell-3-3-180">
            <a:extLst xmlns:a="http://schemas.openxmlformats.org/drawingml/2006/main">
              <a:ext uri="{FF2B5EF4-FFF2-40B4-BE49-F238E27FC236}">
                <a16:creationId xmlns:a16="http://schemas.microsoft.com/office/drawing/2014/main" id="{5B8598F4-3CD7-49F1-A61C-4441D087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6242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郭琪</a:t>
            </a:r>
          </a:p>
        </p:txBody>
      </p:sp>
      <p:sp>
        <p:nvSpPr>
          <p:cNvPr id="45" name="cell-bg-4-0-180">
            <a:extLst xmlns:a="http://schemas.openxmlformats.org/drawingml/2006/main">
              <a:ext uri="{FF2B5EF4-FFF2-40B4-BE49-F238E27FC236}">
                <a16:creationId xmlns:a16="http://schemas.microsoft.com/office/drawing/2014/main" id="{CE43CF6E-ECE0-4A34-88B1-2B45D5A7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6" name="cell-4-0-180">
            <a:extLst xmlns:a="http://schemas.openxmlformats.org/drawingml/2006/main">
              <a:ext uri="{FF2B5EF4-FFF2-40B4-BE49-F238E27FC236}">
                <a16:creationId xmlns:a16="http://schemas.microsoft.com/office/drawing/2014/main" id="{A46632FE-D199-4E90-BF26-9A72348B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52975"/>
            <a:ext cx="1866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SEC-105</a:t>
            </a:r>
          </a:p>
        </p:txBody>
      </p:sp>
      <p:sp>
        <p:nvSpPr>
          <p:cNvPr id="47" name="cell-bg-4-1-180">
            <a:extLst xmlns:a="http://schemas.openxmlformats.org/drawingml/2006/main">
              <a:ext uri="{FF2B5EF4-FFF2-40B4-BE49-F238E27FC236}">
                <a16:creationId xmlns:a16="http://schemas.microsoft.com/office/drawing/2014/main" id="{C1CA7BD5-2A3B-44AB-9553-0B4BAF64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667250"/>
            <a:ext cx="514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48" name="cell-4-1-180">
            <a:extLst xmlns:a="http://schemas.openxmlformats.org/drawingml/2006/main">
              <a:ext uri="{FF2B5EF4-FFF2-40B4-BE49-F238E27FC236}">
                <a16:creationId xmlns:a16="http://schemas.microsoft.com/office/drawing/2014/main" id="{4D0E8257-0A52-418F-97BE-DF2F0ED6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752975"/>
            <a:ext cx="491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后台人工调整库存缺少权限与审计校验</a:t>
            </a:r>
          </a:p>
        </p:txBody>
      </p:sp>
      <p:sp>
        <p:nvSpPr>
          <p:cNvPr id="49" name="cell-bg-4-2-180">
            <a:extLst xmlns:a="http://schemas.openxmlformats.org/drawingml/2006/main">
              <a:ext uri="{FF2B5EF4-FFF2-40B4-BE49-F238E27FC236}">
                <a16:creationId xmlns:a16="http://schemas.microsoft.com/office/drawing/2014/main" id="{BFFD150C-9776-46C0-BBBA-8AFA652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672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0" name="cell-4-2-180">
            <a:extLst xmlns:a="http://schemas.openxmlformats.org/drawingml/2006/main">
              <a:ext uri="{FF2B5EF4-FFF2-40B4-BE49-F238E27FC236}">
                <a16:creationId xmlns:a16="http://schemas.microsoft.com/office/drawing/2014/main" id="{BFF519D7-F8F2-4B21-907C-1D964F78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529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待开始</a:t>
            </a:r>
          </a:p>
        </p:txBody>
      </p:sp>
      <p:sp>
        <p:nvSpPr>
          <p:cNvPr id="51" name="cell-bg-4-3-180">
            <a:extLst xmlns:a="http://schemas.openxmlformats.org/drawingml/2006/main">
              <a:ext uri="{FF2B5EF4-FFF2-40B4-BE49-F238E27FC236}">
                <a16:creationId xmlns:a16="http://schemas.microsoft.com/office/drawing/2014/main" id="{F688A6C6-0E81-4F6F-B7E4-57B9A7BC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667250"/>
            <a:ext cx="161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5"/>
          </a:solidFill>
          <a:ln xmlns:a="http://schemas.openxmlformats.org/drawingml/2006/main" w="9525">
            <a:solidFill>
              <a:srgbClr val="C8CDD3"/>
            </a:solidFill>
            <a:prstDash val="solid"/>
          </a:ln>
        </p:spPr>
      </p:sp>
      <p:sp>
        <p:nvSpPr>
          <p:cNvPr id="52" name="cell-4-3-180">
            <a:extLst xmlns:a="http://schemas.openxmlformats.org/drawingml/2006/main">
              <a:ext uri="{FF2B5EF4-FFF2-40B4-BE49-F238E27FC236}">
                <a16:creationId xmlns:a16="http://schemas.microsoft.com/office/drawing/2014/main" id="{8031273C-1E71-42BD-A8BE-FF2C4FFE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752975"/>
            <a:ext cx="139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未分配</a:t>
            </a:r>
          </a:p>
        </p:txBody>
      </p:sp>
    </p:spTree>
    <p:extLst>
      <p:ext uri="{BB962C8B-B14F-4D97-AF65-F5344CB8AC3E}">
        <p14:creationId xmlns:p14="http://schemas.microsoft.com/office/powerpoint/2010/main" val="414187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4">
            <a:extLst xmlns:a="http://schemas.openxmlformats.org/drawingml/2006/main">
              <a:ext uri="{FF2B5EF4-FFF2-40B4-BE49-F238E27FC236}">
                <a16:creationId xmlns:a16="http://schemas.microsoft.com/office/drawing/2014/main" id="{7C652201-FBF9-4474-8A37-2D2DAAA2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团队按三步恢复计划推进，发布日期影响待确认</a:t>
            </a:r>
          </a:p>
        </p:txBody>
      </p:sp>
      <p:sp>
        <p:nvSpPr>
          <p:cNvPr id="2" name="subtitle-4">
            <a:extLst xmlns:a="http://schemas.openxmlformats.org/drawingml/2006/main">
              <a:ext uri="{FF2B5EF4-FFF2-40B4-BE49-F238E27FC236}">
                <a16:creationId xmlns:a16="http://schemas.microsoft.com/office/drawing/2014/main" id="{B01CE79C-B64C-41A6-91F1-07D2F627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71550"/>
            <a:ext cx="11391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本期快照后的建议动作，不改变已冻结证据。</a:t>
            </a:r>
          </a:p>
        </p:txBody>
      </p:sp>
      <p:sp>
        <p:nvSpPr>
          <p:cNvPr id="3" name="footer-4">
            <a:extLst xmlns:a="http://schemas.openxmlformats.org/drawingml/2006/main">
              <a:ext uri="{FF2B5EF4-FFF2-40B4-BE49-F238E27FC236}">
                <a16:creationId xmlns:a16="http://schemas.microsoft.com/office/drawing/2014/main" id="{3F58138A-5406-4FD7-92D0-2EC3A0D4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762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ShopFlow v2.6  |  shopflow-41d613d1137b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E692ACE3-189E-4DBA-B667-EFD67CA7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" name="timeline">
            <a:extLst xmlns:a="http://schemas.openxmlformats.org/drawingml/2006/main">
              <a:ext uri="{FF2B5EF4-FFF2-40B4-BE49-F238E27FC236}">
                <a16:creationId xmlns:a16="http://schemas.microsoft.com/office/drawing/2014/main" id="{B561DB32-EB20-4505-938F-AF12843C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4CB46FF1-9083-41D8-94F6-C6B4A3EC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meline-time-0">
            <a:extLst xmlns:a="http://schemas.openxmlformats.org/drawingml/2006/main">
              <a:ext uri="{FF2B5EF4-FFF2-40B4-BE49-F238E27FC236}">
                <a16:creationId xmlns:a16="http://schemas.microsoft.com/office/drawing/2014/main" id="{8F8EF6C5-1095-4829-9F23-BC7F61C0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当前</a:t>
            </a:r>
          </a:p>
        </p:txBody>
      </p:sp>
      <p:sp>
        <p:nvSpPr>
          <p:cNvPr id="8" name="timeline-title-0">
            <a:extLst xmlns:a="http://schemas.openxmlformats.org/drawingml/2006/main">
              <a:ext uri="{FF2B5EF4-FFF2-40B4-BE49-F238E27FC236}">
                <a16:creationId xmlns:a16="http://schemas.microsoft.com/office/drawing/2014/main" id="{4E6C95CC-3DDA-4EF8-9420-18EA04C0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专家复核库存修复方案</a:t>
            </a:r>
          </a:p>
        </p:txBody>
      </p:sp>
      <p:sp>
        <p:nvSpPr>
          <p:cNvPr id="9" name="timeline-owner-0">
            <a:extLst xmlns:a="http://schemas.openxmlformats.org/drawingml/2006/main">
              <a:ext uri="{FF2B5EF4-FFF2-40B4-BE49-F238E27FC236}">
                <a16:creationId xmlns:a16="http://schemas.microsoft.com/office/drawing/2014/main" id="{5829EA5B-7270-4934-8D64-FE57BBF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技术负责人</a:t>
            </a:r>
          </a:p>
        </p:txBody>
      </p:sp>
      <p:sp>
        <p:nvSpPr>
          <p:cNvPr id="10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17B9F81C-C867-4D7E-8ACE-0E795108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imeline-time-1">
            <a:extLst xmlns:a="http://schemas.openxmlformats.org/drawingml/2006/main">
              <a:ext uri="{FF2B5EF4-FFF2-40B4-BE49-F238E27FC236}">
                <a16:creationId xmlns:a16="http://schemas.microsoft.com/office/drawing/2014/main" id="{9F9B0E18-D951-4843-B5D8-F2DDEFC1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下一检查点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2101F749-7747-413C-ABCF-EC4D105A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完成并发回归与安全评估</a:t>
            </a:r>
          </a:p>
        </p:txBody>
      </p:sp>
      <p:sp>
        <p:nvSpPr>
          <p:cNvPr id="13" name="timeline-owner-1">
            <a:extLst xmlns:a="http://schemas.openxmlformats.org/drawingml/2006/main">
              <a:ext uri="{FF2B5EF4-FFF2-40B4-BE49-F238E27FC236}">
                <a16:creationId xmlns:a16="http://schemas.microsoft.com/office/drawing/2014/main" id="{F4053FBB-A060-428F-9744-21D55DB5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研发团队</a:t>
            </a:r>
          </a:p>
        </p:txBody>
      </p:sp>
      <p:sp>
        <p:nvSpPr>
          <p:cNvPr id="14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4A6537F-9979-4FF7-B3DB-76391AAF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861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imeline-time-2">
            <a:extLst xmlns:a="http://schemas.openxmlformats.org/drawingml/2006/main">
              <a:ext uri="{FF2B5EF4-FFF2-40B4-BE49-F238E27FC236}">
                <a16:creationId xmlns:a16="http://schemas.microsoft.com/office/drawing/2014/main" id="{A5806579-BA9A-443A-AE15-6E8EAFE9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结果确认</a:t>
            </a:r>
          </a:p>
        </p:txBody>
      </p:sp>
      <p:sp>
        <p:nvSpPr>
          <p:cNvPr id="16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ABC33878-C516-4703-83C1-16B1AA42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4810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更新发布日期与客户影响</a:t>
            </a:r>
          </a:p>
        </p:txBody>
      </p:sp>
      <p:sp>
        <p:nvSpPr>
          <p:cNvPr id="17" name="timeline-owner-2">
            <a:extLst xmlns:a="http://schemas.openxmlformats.org/drawingml/2006/main">
              <a:ext uri="{FF2B5EF4-FFF2-40B4-BE49-F238E27FC236}">
                <a16:creationId xmlns:a16="http://schemas.microsoft.com/office/drawing/2014/main" id="{833E4BED-57C0-41B1-875E-7DCB78D5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244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D6470"/>
                </a:solidFill>
                <a:latin typeface="PingFang SC"/>
                <a:ea typeface="PingFang SC"/>
                <a:cs typeface="PingFang SC"/>
              </a:rPr>
              <a:t>项目经理</a:t>
            </a:r>
          </a:p>
        </p:txBody>
      </p:sp>
      <p:sp>
        <p:nvSpPr>
          <p:cNvPr id="18" name="decision-band">
            <a:extLst xmlns:a="http://schemas.openxmlformats.org/drawingml/2006/main">
              <a:ext uri="{FF2B5EF4-FFF2-40B4-BE49-F238E27FC236}">
                <a16:creationId xmlns:a16="http://schemas.microsoft.com/office/drawing/2014/main" id="{E29B2DB5-9C3B-419F-92B5-E902CF65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47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decision-text">
            <a:extLst xmlns:a="http://schemas.openxmlformats.org/drawingml/2006/main">
              <a:ext uri="{FF2B5EF4-FFF2-40B4-BE49-F238E27FC236}">
                <a16:creationId xmlns:a16="http://schemas.microsoft.com/office/drawing/2014/main" id="{AE3E48BF-EAFE-48C4-BCBA-DE96AB76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29275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客户项目经理决策：维持 8 月 15 日目标；若下一检查点未通过，再确认是否调整发布日期。</a:t>
            </a:r>
          </a:p>
        </p:txBody>
      </p:sp>
    </p:spTree>
    <p:extLst>
      <p:ext uri="{BB962C8B-B14F-4D97-AF65-F5344CB8AC3E}">
        <p14:creationId xmlns:p14="http://schemas.microsoft.com/office/powerpoint/2010/main" val="1732584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2026-08-06T05:50:14.1590000Z</dcterms:created>
  <dcterms:modified xsi:type="dcterms:W3CDTF">2026-08-06T05:50:14.1590000Z</dcterms:modified>
</coreProperties>
</file>