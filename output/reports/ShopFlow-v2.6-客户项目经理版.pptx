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94fb60304d41ef" /><Relationship Type="http://schemas.openxmlformats.org/officeDocument/2006/relationships/extended-properties" Target="/docProps/app.xml" Id="Rc4a346b72f7e4401" /><Relationship Type="http://schemas.openxmlformats.org/officeDocument/2006/relationships/officeDocument" Target="/ppt/presentation.xml" Id="R5add8351ccfe4b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f7578b50cc47f8"/>
  </p:sldMasterIdLst>
  <p:notesMasterIdLst>
    <p:notesMasterId xmlns:r="http://schemas.openxmlformats.org/officeDocument/2006/relationships" r:id="R8b1fb185fdd64194"/>
  </p:notesMasterIdLst>
  <p:sldIdLst>
    <p:sldId xmlns:r="http://schemas.openxmlformats.org/officeDocument/2006/relationships" id="256" r:id="R262c76091f5349eb"/>
    <p:sldId xmlns:r="http://schemas.openxmlformats.org/officeDocument/2006/relationships" id="257" r:id="Rf9abf21b39f94a10"/>
    <p:sldId xmlns:r="http://schemas.openxmlformats.org/officeDocument/2006/relationships" id="258" r:id="Rf2923b1d54524e05"/>
    <p:sldId xmlns:r="http://schemas.openxmlformats.org/officeDocument/2006/relationships" id="259" r:id="R3ff4260e215245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fd32c56d6f4ba2" /><Relationship Type="http://schemas.openxmlformats.org/officeDocument/2006/relationships/slideMaster" Target="/ppt/slideMasters/slideMaster1.xml" Id="Rb0f7578b50cc47f8" /><Relationship Type="http://schemas.openxmlformats.org/officeDocument/2006/relationships/notesMaster" Target="/ppt/notesMasters/notesMaster1.xml" Id="R8b1fb185fdd64194" /><Relationship Type="http://schemas.openxmlformats.org/officeDocument/2006/relationships/presProps" Target="/ppt/presProps.xml" Id="R318e3624caca49b1" /><Relationship Type="http://schemas.openxmlformats.org/officeDocument/2006/relationships/tableStyles" Target="/ppt/tableStyles.xml" Id="Rc660ad0e6cff46a1" /><Relationship Type="http://schemas.openxmlformats.org/officeDocument/2006/relationships/slide" Target="/ppt/slides/slide1.xml" Id="R262c76091f5349eb" /><Relationship Type="http://schemas.openxmlformats.org/officeDocument/2006/relationships/slide" Target="/ppt/slides/slide2.xml" Id="Rf9abf21b39f94a10" /><Relationship Type="http://schemas.openxmlformats.org/officeDocument/2006/relationships/slide" Target="/ppt/slides/slide3.xml" Id="Rf2923b1d54524e05" /><Relationship Type="http://schemas.openxmlformats.org/officeDocument/2006/relationships/slide" Target="/ppt/slides/slide4.xml" Id="R3ff4260e215245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691e0fce8242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86ee36a4f64fb3" /><Relationship Type="http://schemas.openxmlformats.org/officeDocument/2006/relationships/notesMaster" Target="/ppt/notesMasters/notesMaster1.xml" Id="R203ecc5f13394a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bdcd9ecf024afd" /><Relationship Type="http://schemas.openxmlformats.org/officeDocument/2006/relationships/notesMaster" Target="/ppt/notesMasters/notesMaster1.xml" Id="R8ed99b1d432548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8f7c0cfc594b12" /><Relationship Type="http://schemas.openxmlformats.org/officeDocument/2006/relationships/notesMaster" Target="/ppt/notesMasters/notesMaster1.xml" Id="R33dc981dcb424b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afe95f473745d9" /><Relationship Type="http://schemas.openxmlformats.org/officeDocument/2006/relationships/notesMaster" Target="/ppt/notesMasters/notesMaster1.xml" Id="Rd87ce5d3d24642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github://OWNER/ecommerce-delivery-case/milestone/v2.6</a:t>
            </a:r>
          </a:p>
          <a:p xmlns:a="http://schemas.openxmlformats.org/drawingml/2006/main">
            <a:r>
              <a:t>- git://shopflow/main@8b67e3d750386b4c993fed848298fa54ff6e2bea</a:t>
            </a:r>
          </a:p>
          <a:p xmlns:a="http://schemas.openxmlformats.org/drawingml/2006/main">
            <a:r>
              <a:t>- kb://shopflow/sop/promotion-release-gate-v1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github://OWNER/ecommerce-delivery-case/milestone/v2.6</a:t>
            </a:r>
          </a:p>
          <a:p xmlns:a="http://schemas.openxmlformats.org/drawingml/2006/main">
            <a:r>
              <a:t>- git://shopflow/main@8b67e3d750386b4c993fed848298fa54ff6e2bea</a:t>
            </a:r>
          </a:p>
          <a:p xmlns:a="http://schemas.openxmlformats.org/drawingml/2006/main">
            <a:r>
              <a:t>- kb://shopflow/sop/promotion-release-gate-v1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github://OWNER/ecommerce-delivery-case/milestone/v2.6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github://OWNER/ecommerce-delivery-case/milestone/v2.6</a:t>
            </a:r>
          </a:p>
          <a:p xmlns:a="http://schemas.openxmlformats.org/drawingml/2006/main">
            <a:r>
              <a:t>- git://shopflow/main@8b67e3d750386b4c993fed848298fa54ff6e2bea</a:t>
            </a:r>
          </a:p>
          <a:p xmlns:a="http://schemas.openxmlformats.org/drawingml/2006/main">
            <a:r>
              <a:t>- kb://shopflow/sop/promotion-release-gate-v1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5e3cbefb994b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75aa99021d4683" /><Relationship Type="http://schemas.openxmlformats.org/officeDocument/2006/relationships/slideLayout" Target="/ppt/slideLayouts/slideLayout1.xml" Id="Ra2f4c4642f064d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f4c4642f064d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1f40baedc44c7" /><Relationship Type="http://schemas.openxmlformats.org/officeDocument/2006/relationships/notesSlide" Target="/ppt/notesSlides/notesSlide1.xml" Id="R291a8ea165cc45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23d58402246d0" /><Relationship Type="http://schemas.openxmlformats.org/officeDocument/2006/relationships/notesSlide" Target="/ppt/notesSlides/notesSlide2.xml" Id="R30459c594fe54f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f63b474694b54" /><Relationship Type="http://schemas.openxmlformats.org/officeDocument/2006/relationships/notesSlide" Target="/ppt/notesSlides/notesSlide3.xml" Id="R1937320d4e2f4c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afe2b0737d4d06" /><Relationship Type="http://schemas.openxmlformats.org/officeDocument/2006/relationships/notesSlide" Target="/ppt/notesSlides/notesSlide4.xml" Id="R879e8ae9551746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9E87FA2C-4018-4576-BADA-98B6C8DD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CF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E7CF6"/>
                </a:solidFill>
                <a:latin typeface="PingFang SC"/>
                <a:ea typeface="PingFang SC"/>
                <a:cs typeface="PingFang SC"/>
              </a:rPr>
              <a:t>SHOPFLOW  /  DELIVERY REVIEW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B6DA921-AC96-49C6-ACA4-950A54B5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990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ShopFlow v2.6</a:t>
            </a:r>
          </a:p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项目进展更新</a:t>
            </a:r>
          </a:p>
        </p:txBody>
      </p:sp>
      <p:sp>
        <p:nvSpPr>
          <p:cNvPr id="3" name="cover-rule">
            <a:extLst xmlns:a="http://schemas.openxmlformats.org/drawingml/2006/main">
              <a:ext uri="{FF2B5EF4-FFF2-40B4-BE49-F238E27FC236}">
                <a16:creationId xmlns:a16="http://schemas.microsoft.com/office/drawing/2014/main" id="{35093ABA-0C59-40AB-9863-CC10DCE3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433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audience">
            <a:extLst xmlns:a="http://schemas.openxmlformats.org/drawingml/2006/main">
              <a:ext uri="{FF2B5EF4-FFF2-40B4-BE49-F238E27FC236}">
                <a16:creationId xmlns:a16="http://schemas.microsoft.com/office/drawing/2014/main" id="{4EF4F5D3-EB3D-4D6F-A3B1-3477B1DF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客户项目经理版</a:t>
            </a:r>
          </a:p>
        </p:txBody>
      </p:sp>
      <p:sp>
        <p:nvSpPr>
          <p:cNvPr id="5" name="cover-meta">
            <a:extLst xmlns:a="http://schemas.openxmlformats.org/drawingml/2006/main">
              <a:ext uri="{FF2B5EF4-FFF2-40B4-BE49-F238E27FC236}">
                <a16:creationId xmlns:a16="http://schemas.microsoft.com/office/drawing/2014/main" id="{E5A1243E-DAB8-460C-9B3E-E9CA92A0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8096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快照时间  2026-08-06T18:00:00+08:00</a:t>
            </a:r>
          </a:p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里程碑  v2.6 限时促销稳定性</a:t>
            </a:r>
          </a:p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证据快照  shopflow-5bfd99fc6000</a:t>
            </a:r>
          </a:p>
        </p:txBody>
      </p:sp>
      <p:sp>
        <p:nvSpPr>
          <p:cNvPr id="6" name="cover-health">
            <a:extLst xmlns:a="http://schemas.openxmlformats.org/drawingml/2006/main">
              <a:ext uri="{FF2B5EF4-FFF2-40B4-BE49-F238E27FC236}">
                <a16:creationId xmlns:a16="http://schemas.microsoft.com/office/drawing/2014/main" id="{FE370D65-75C4-4F9C-AAC0-EB5E4C88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0"/>
            <a:ext cx="2266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D23B3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D23B3B"/>
                </a:solidFill>
                <a:latin typeface="PingFang SC"/>
                <a:ea typeface="PingFang SC"/>
                <a:cs typeface="PingFang SC"/>
              </a:rPr>
              <a:t>有风险</a:t>
            </a:r>
          </a:p>
        </p:txBody>
      </p:sp>
    </p:spTree>
    <p:extLst>
      <p:ext uri="{BB962C8B-B14F-4D97-AF65-F5344CB8AC3E}">
        <p14:creationId xmlns:p14="http://schemas.microsoft.com/office/powerpoint/2010/main" val="4557113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2">
            <a:extLst xmlns:a="http://schemas.openxmlformats.org/drawingml/2006/main">
              <a:ext uri="{FF2B5EF4-FFF2-40B4-BE49-F238E27FC236}">
                <a16:creationId xmlns:a16="http://schemas.microsoft.com/office/drawing/2014/main" id="{ADF1CE62-0606-41AD-ACA2-8D061788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版本完成 65%，当前交付状态为有风险</a:t>
            </a:r>
          </a:p>
        </p:txBody>
      </p:sp>
      <p:sp>
        <p:nvSpPr>
          <p:cNvPr id="2" name="subtitle-2">
            <a:extLst xmlns:a="http://schemas.openxmlformats.org/drawingml/2006/main">
              <a:ext uri="{FF2B5EF4-FFF2-40B4-BE49-F238E27FC236}">
                <a16:creationId xmlns:a16="http://schemas.microsoft.com/office/drawing/2014/main" id="{57BACBC0-02EE-498A-8D99-7CEF9935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1550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核心能力已部分完成，团队正在处理一个影响发布的库存一致性问题。</a:t>
            </a:r>
          </a:p>
        </p:txBody>
      </p:sp>
      <p:sp>
        <p:nvSpPr>
          <p:cNvPr id="3" name="footer-2">
            <a:extLst xmlns:a="http://schemas.openxmlformats.org/drawingml/2006/main">
              <a:ext uri="{FF2B5EF4-FFF2-40B4-BE49-F238E27FC236}">
                <a16:creationId xmlns:a16="http://schemas.microsoft.com/office/drawing/2014/main" id="{2629BA25-D9F6-40D7-9099-E3BC01C4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ShopFlow v2.6  |  shopflow-5bfd99fc6000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26EECE00-DB5E-4628-8403-42799BD5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5" name="progress-number">
            <a:extLst xmlns:a="http://schemas.openxmlformats.org/drawingml/2006/main">
              <a:ext uri="{FF2B5EF4-FFF2-40B4-BE49-F238E27FC236}">
                <a16:creationId xmlns:a16="http://schemas.microsoft.com/office/drawing/2014/main" id="{345087A0-8B5C-4BCC-BAF8-DBA8F25E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3143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2E7CF6"/>
                </a:solidFill>
                <a:latin typeface="PingFang SC"/>
                <a:ea typeface="PingFang SC"/>
                <a:cs typeface="PingFang SC"/>
              </a:defRPr>
            </a:pPr>
            <a:r>
              <a:rPr sz="6150" b="1">
                <a:solidFill>
                  <a:srgbClr val="2E7CF6"/>
                </a:solidFill>
                <a:latin typeface="PingFang SC"/>
                <a:ea typeface="PingFang SC"/>
                <a:cs typeface="PingFang SC"/>
              </a:rPr>
              <a:t>65%</a:t>
            </a:r>
          </a:p>
        </p:txBody>
      </p:sp>
      <p:sp>
        <p:nvSpPr>
          <p:cNvPr id="6" name="progress-base">
            <a:extLst xmlns:a="http://schemas.openxmlformats.org/drawingml/2006/main">
              <a:ext uri="{FF2B5EF4-FFF2-40B4-BE49-F238E27FC236}">
                <a16:creationId xmlns:a16="http://schemas.microsoft.com/office/drawing/2014/main" id="{7B28EA18-1343-4BC7-BD44-41E472D8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gress-fill">
            <a:extLst xmlns:a="http://schemas.openxmlformats.org/drawingml/2006/main">
              <a:ext uri="{FF2B5EF4-FFF2-40B4-BE49-F238E27FC236}">
                <a16:creationId xmlns:a16="http://schemas.microsoft.com/office/drawing/2014/main" id="{EF784258-26B7-4E66-85F8-AE5799AB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204311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gress-label">
            <a:extLst xmlns:a="http://schemas.openxmlformats.org/drawingml/2006/main">
              <a:ext uri="{FF2B5EF4-FFF2-40B4-BE49-F238E27FC236}">
                <a16:creationId xmlns:a16="http://schemas.microsoft.com/office/drawing/2014/main" id="{1EF288C0-F8A2-4A49-9FAA-79FA93E5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加权里程碑进度</a:t>
            </a:r>
          </a:p>
        </p:txBody>
      </p:sp>
      <p:sp>
        <p:nvSpPr>
          <p:cNvPr id="9" name="stat-bg-0">
            <a:extLst xmlns:a="http://schemas.openxmlformats.org/drawingml/2006/main">
              <a:ext uri="{FF2B5EF4-FFF2-40B4-BE49-F238E27FC236}">
                <a16:creationId xmlns:a16="http://schemas.microsoft.com/office/drawing/2014/main" id="{FD9FF0EB-1191-4925-9318-1B9FED8F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47900"/>
            <a:ext cx="2190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at-value-0">
            <a:extLst xmlns:a="http://schemas.openxmlformats.org/drawingml/2006/main">
              <a:ext uri="{FF2B5EF4-FFF2-40B4-BE49-F238E27FC236}">
                <a16:creationId xmlns:a16="http://schemas.microsoft.com/office/drawing/2014/main" id="{CF566CEC-A950-4533-9B8F-9AB7755E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1733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8794E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18794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1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0F636679-0976-4A84-848A-9A6AFC8A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43300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已完成事项</a:t>
            </a:r>
          </a:p>
        </p:txBody>
      </p:sp>
      <p:sp>
        <p:nvSpPr>
          <p:cNvPr id="12" name="stat-bg-1">
            <a:extLst xmlns:a="http://schemas.openxmlformats.org/drawingml/2006/main">
              <a:ext uri="{FF2B5EF4-FFF2-40B4-BE49-F238E27FC236}">
                <a16:creationId xmlns:a16="http://schemas.microsoft.com/office/drawing/2014/main" id="{85139FDA-3924-40C5-88B9-360A545F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2190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at-value-1">
            <a:extLst xmlns:a="http://schemas.openxmlformats.org/drawingml/2006/main">
              <a:ext uri="{FF2B5EF4-FFF2-40B4-BE49-F238E27FC236}">
                <a16:creationId xmlns:a16="http://schemas.microsoft.com/office/drawing/2014/main" id="{F4689D41-1989-4B0C-9BD8-25B78E25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71750"/>
            <a:ext cx="1733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2E7CF6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2E7CF6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4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F643FFC0-476C-4BF3-8AAD-5D2C0B08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43300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处理中事项</a:t>
            </a:r>
          </a:p>
        </p:txBody>
      </p:sp>
      <p:sp>
        <p:nvSpPr>
          <p:cNvPr id="15" name="stat-bg-2">
            <a:extLst xmlns:a="http://schemas.openxmlformats.org/drawingml/2006/main">
              <a:ext uri="{FF2B5EF4-FFF2-40B4-BE49-F238E27FC236}">
                <a16:creationId xmlns:a16="http://schemas.microsoft.com/office/drawing/2014/main" id="{D2F35F6C-9704-4AB9-8FDB-4FF0A71B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47900"/>
            <a:ext cx="2190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at-value-2">
            <a:extLst xmlns:a="http://schemas.openxmlformats.org/drawingml/2006/main">
              <a:ext uri="{FF2B5EF4-FFF2-40B4-BE49-F238E27FC236}">
                <a16:creationId xmlns:a16="http://schemas.microsoft.com/office/drawing/2014/main" id="{B7306AEA-0667-4C80-888F-FE128C98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71750"/>
            <a:ext cx="1733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B46A00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B46A00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7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40727A0D-2355-41A0-9098-A87D45F8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543300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待启动风险</a:t>
            </a:r>
          </a:p>
        </p:txBody>
      </p:sp>
      <p:sp>
        <p:nvSpPr>
          <p:cNvPr id="18" name="health-conclusion">
            <a:extLst xmlns:a="http://schemas.openxmlformats.org/drawingml/2006/main">
              <a:ext uri="{FF2B5EF4-FFF2-40B4-BE49-F238E27FC236}">
                <a16:creationId xmlns:a16="http://schemas.microsoft.com/office/drawing/2014/main" id="{F5B12C6A-BCB0-40F1-9836-35BA5E88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800600"/>
            <a:ext cx="7543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当前不建议进入发布候选。若阻塞在下一个工作日仍未关闭，发布日期影响需由项目经理确认。</a:t>
            </a:r>
          </a:p>
        </p:txBody>
      </p:sp>
    </p:spTree>
    <p:extLst>
      <p:ext uri="{BB962C8B-B14F-4D97-AF65-F5344CB8AC3E}">
        <p14:creationId xmlns:p14="http://schemas.microsoft.com/office/powerpoint/2010/main" val="3912257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title-3">
            <a:extLst xmlns:a="http://schemas.openxmlformats.org/drawingml/2006/main">
              <a:ext uri="{FF2B5EF4-FFF2-40B4-BE49-F238E27FC236}">
                <a16:creationId xmlns:a16="http://schemas.microsoft.com/office/drawing/2014/main" id="{B24DAEFD-E453-4FCF-BF40-92386B94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已完成核心能力，但发布阻塞尚未解除</a:t>
            </a:r>
          </a:p>
        </p:txBody>
      </p:sp>
      <p:sp>
        <p:nvSpPr>
          <p:cNvPr id="2" name="subtitle-3">
            <a:extLst xmlns:a="http://schemas.openxmlformats.org/drawingml/2006/main">
              <a:ext uri="{FF2B5EF4-FFF2-40B4-BE49-F238E27FC236}">
                <a16:creationId xmlns:a16="http://schemas.microsoft.com/office/drawing/2014/main" id="{F36C8CFD-62ED-4CBA-8499-54EE4F16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1550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客户视图聚焦业务结果与责任人，不展示内部代码细节。</a:t>
            </a:r>
          </a:p>
        </p:txBody>
      </p:sp>
      <p:sp>
        <p:nvSpPr>
          <p:cNvPr id="3" name="footer-3">
            <a:extLst xmlns:a="http://schemas.openxmlformats.org/drawingml/2006/main">
              <a:ext uri="{FF2B5EF4-FFF2-40B4-BE49-F238E27FC236}">
                <a16:creationId xmlns:a16="http://schemas.microsoft.com/office/drawing/2014/main" id="{6C04636C-2D19-46DF-A9CA-36E41FB0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ShopFlow v2.6  |  shopflow-5bfd99fc6000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B277B51B-DFB7-4643-9C7F-DFB72501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5" name="header-bg-0-180">
            <a:extLst xmlns:a="http://schemas.openxmlformats.org/drawingml/2006/main">
              <a:ext uri="{FF2B5EF4-FFF2-40B4-BE49-F238E27FC236}">
                <a16:creationId xmlns:a16="http://schemas.microsoft.com/office/drawing/2014/main" id="{CC17F60C-81CA-4596-8F77-9287CDF3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er-0-180">
            <a:extLst xmlns:a="http://schemas.openxmlformats.org/drawingml/2006/main">
              <a:ext uri="{FF2B5EF4-FFF2-40B4-BE49-F238E27FC236}">
                <a16:creationId xmlns:a16="http://schemas.microsoft.com/office/drawing/2014/main" id="{409E271C-42E9-4F10-8F08-F50FCC64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事项</a:t>
            </a:r>
          </a:p>
        </p:txBody>
      </p:sp>
      <p:sp>
        <p:nvSpPr>
          <p:cNvPr id="7" name="header-bg-1-180">
            <a:extLst xmlns:a="http://schemas.openxmlformats.org/drawingml/2006/main">
              <a:ext uri="{FF2B5EF4-FFF2-40B4-BE49-F238E27FC236}">
                <a16:creationId xmlns:a16="http://schemas.microsoft.com/office/drawing/2014/main" id="{D2391EF8-2843-427D-B3C3-C946BFF6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714500"/>
            <a:ext cx="514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eader-1-180">
            <a:extLst xmlns:a="http://schemas.openxmlformats.org/drawingml/2006/main">
              <a:ext uri="{FF2B5EF4-FFF2-40B4-BE49-F238E27FC236}">
                <a16:creationId xmlns:a16="http://schemas.microsoft.com/office/drawing/2014/main" id="{95D38936-2243-490D-8E4B-05160B46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809750"/>
            <a:ext cx="491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业务结果</a:t>
            </a:r>
          </a:p>
        </p:txBody>
      </p:sp>
      <p:sp>
        <p:nvSpPr>
          <p:cNvPr id="9" name="header-bg-2-180">
            <a:extLst xmlns:a="http://schemas.openxmlformats.org/drawingml/2006/main">
              <a:ext uri="{FF2B5EF4-FFF2-40B4-BE49-F238E27FC236}">
                <a16:creationId xmlns:a16="http://schemas.microsoft.com/office/drawing/2014/main" id="{AEE70517-00E2-4DEB-B907-C1134901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71450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eader-2-180">
            <a:extLst xmlns:a="http://schemas.openxmlformats.org/drawingml/2006/main">
              <a:ext uri="{FF2B5EF4-FFF2-40B4-BE49-F238E27FC236}">
                <a16:creationId xmlns:a16="http://schemas.microsoft.com/office/drawing/2014/main" id="{72DB98E0-B480-4301-8D81-61E0F650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809750"/>
            <a:ext cx="139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状态</a:t>
            </a:r>
          </a:p>
        </p:txBody>
      </p:sp>
      <p:sp>
        <p:nvSpPr>
          <p:cNvPr id="11" name="header-bg-3-180">
            <a:extLst xmlns:a="http://schemas.openxmlformats.org/drawingml/2006/main">
              <a:ext uri="{FF2B5EF4-FFF2-40B4-BE49-F238E27FC236}">
                <a16:creationId xmlns:a16="http://schemas.microsoft.com/office/drawing/2014/main" id="{BA7D3A5F-53E1-4564-9BB4-69D0BCB3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71450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header-3-180">
            <a:extLst xmlns:a="http://schemas.openxmlformats.org/drawingml/2006/main">
              <a:ext uri="{FF2B5EF4-FFF2-40B4-BE49-F238E27FC236}">
                <a16:creationId xmlns:a16="http://schemas.microsoft.com/office/drawing/2014/main" id="{52A9F6C0-45BA-42E1-855E-91DA07CE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09750"/>
            <a:ext cx="139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负责人</a:t>
            </a:r>
          </a:p>
        </p:txBody>
      </p:sp>
      <p:sp>
        <p:nvSpPr>
          <p:cNvPr id="13" name="cell-bg-0-0-180">
            <a:extLst xmlns:a="http://schemas.openxmlformats.org/drawingml/2006/main">
              <a:ext uri="{FF2B5EF4-FFF2-40B4-BE49-F238E27FC236}">
                <a16:creationId xmlns:a16="http://schemas.microsoft.com/office/drawing/2014/main" id="{459A7782-5549-4B16-9956-ACA44F57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4" name="cell-0-0-180">
            <a:extLst xmlns:a="http://schemas.openxmlformats.org/drawingml/2006/main">
              <a:ext uri="{FF2B5EF4-FFF2-40B4-BE49-F238E27FC236}">
                <a16:creationId xmlns:a16="http://schemas.microsoft.com/office/drawing/2014/main" id="{2B430477-7896-4CE7-8F56-14DE1492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9077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FEAT-101</a:t>
            </a:r>
          </a:p>
        </p:txBody>
      </p:sp>
      <p:sp>
        <p:nvSpPr>
          <p:cNvPr id="15" name="cell-bg-0-1-180">
            <a:extLst xmlns:a="http://schemas.openxmlformats.org/drawingml/2006/main">
              <a:ext uri="{FF2B5EF4-FFF2-40B4-BE49-F238E27FC236}">
                <a16:creationId xmlns:a16="http://schemas.microsoft.com/office/drawing/2014/main" id="{8FE59351-F41E-40FD-9BB5-86B4FF92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05050"/>
            <a:ext cx="514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6" name="cell-0-1-180">
            <a:extLst xmlns:a="http://schemas.openxmlformats.org/drawingml/2006/main">
              <a:ext uri="{FF2B5EF4-FFF2-40B4-BE49-F238E27FC236}">
                <a16:creationId xmlns:a16="http://schemas.microsoft.com/office/drawing/2014/main" id="{CD63C116-4C16-42E9-8B26-7CD55C56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90775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新增库存预占与超时释放模块</a:t>
            </a:r>
          </a:p>
        </p:txBody>
      </p:sp>
      <p:sp>
        <p:nvSpPr>
          <p:cNvPr id="17" name="cell-bg-0-2-180">
            <a:extLst xmlns:a="http://schemas.openxmlformats.org/drawingml/2006/main">
              <a:ext uri="{FF2B5EF4-FFF2-40B4-BE49-F238E27FC236}">
                <a16:creationId xmlns:a16="http://schemas.microsoft.com/office/drawing/2014/main" id="{7AC1FD21-149A-4503-A694-3905C148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0505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8" name="cell-0-2-180">
            <a:extLst xmlns:a="http://schemas.openxmlformats.org/drawingml/2006/main">
              <a:ext uri="{FF2B5EF4-FFF2-40B4-BE49-F238E27FC236}">
                <a16:creationId xmlns:a16="http://schemas.microsoft.com/office/drawing/2014/main" id="{F8EBF4A8-1B10-4EF7-AA79-E4C8C73D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90775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已完成</a:t>
            </a:r>
          </a:p>
        </p:txBody>
      </p:sp>
      <p:sp>
        <p:nvSpPr>
          <p:cNvPr id="19" name="cell-bg-0-3-180">
            <a:extLst xmlns:a="http://schemas.openxmlformats.org/drawingml/2006/main">
              <a:ext uri="{FF2B5EF4-FFF2-40B4-BE49-F238E27FC236}">
                <a16:creationId xmlns:a16="http://schemas.microsoft.com/office/drawing/2014/main" id="{18F5C112-DF06-49D3-8A57-F5C07CC2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0505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0" name="cell-0-3-180">
            <a:extLst xmlns:a="http://schemas.openxmlformats.org/drawingml/2006/main">
              <a:ext uri="{FF2B5EF4-FFF2-40B4-BE49-F238E27FC236}">
                <a16:creationId xmlns:a16="http://schemas.microsoft.com/office/drawing/2014/main" id="{07DE8E0B-8E67-4BCF-B58F-4B1A4CBD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90775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陈晨</a:t>
            </a:r>
          </a:p>
        </p:txBody>
      </p:sp>
      <p:sp>
        <p:nvSpPr>
          <p:cNvPr id="21" name="cell-bg-1-0-180">
            <a:extLst xmlns:a="http://schemas.openxmlformats.org/drawingml/2006/main">
              <a:ext uri="{FF2B5EF4-FFF2-40B4-BE49-F238E27FC236}">
                <a16:creationId xmlns:a16="http://schemas.microsoft.com/office/drawing/2014/main" id="{8B99A6A4-58EA-4E67-8D0A-63F0637F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7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2" name="cell-1-0-180">
            <a:extLst xmlns:a="http://schemas.openxmlformats.org/drawingml/2006/main">
              <a:ext uri="{FF2B5EF4-FFF2-40B4-BE49-F238E27FC236}">
                <a16:creationId xmlns:a16="http://schemas.microsoft.com/office/drawing/2014/main" id="{30C3D64C-1EC7-451D-9636-DD7A6EBE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813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BUG-102</a:t>
            </a:r>
          </a:p>
        </p:txBody>
      </p:sp>
      <p:sp>
        <p:nvSpPr>
          <p:cNvPr id="23" name="cell-bg-1-1-180">
            <a:extLst xmlns:a="http://schemas.openxmlformats.org/drawingml/2006/main">
              <a:ext uri="{FF2B5EF4-FFF2-40B4-BE49-F238E27FC236}">
                <a16:creationId xmlns:a16="http://schemas.microsoft.com/office/drawing/2014/main" id="{726B9838-4A18-4C48-A923-B60FA08D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95600"/>
            <a:ext cx="514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7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4" name="cell-1-1-180">
            <a:extLst xmlns:a="http://schemas.openxmlformats.org/drawingml/2006/main">
              <a:ext uri="{FF2B5EF4-FFF2-40B4-BE49-F238E27FC236}">
                <a16:creationId xmlns:a16="http://schemas.microsoft.com/office/drawing/2014/main" id="{169906E3-880F-493B-8D95-05F7F035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81325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高并发库存预占出现超卖</a:t>
            </a:r>
          </a:p>
        </p:txBody>
      </p:sp>
      <p:sp>
        <p:nvSpPr>
          <p:cNvPr id="25" name="cell-bg-1-2-180">
            <a:extLst xmlns:a="http://schemas.openxmlformats.org/drawingml/2006/main">
              <a:ext uri="{FF2B5EF4-FFF2-40B4-BE49-F238E27FC236}">
                <a16:creationId xmlns:a16="http://schemas.microsoft.com/office/drawing/2014/main" id="{AD5CBA6E-6A5F-4668-AE22-691F79B4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9560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7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6" name="cell-1-2-180">
            <a:extLst xmlns:a="http://schemas.openxmlformats.org/drawingml/2006/main">
              <a:ext uri="{FF2B5EF4-FFF2-40B4-BE49-F238E27FC236}">
                <a16:creationId xmlns:a16="http://schemas.microsoft.com/office/drawing/2014/main" id="{EC819B98-B4DC-45C7-8CD5-A0869FCE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81325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23B3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23B3B"/>
                </a:solidFill>
                <a:latin typeface="PingFang SC"/>
                <a:ea typeface="PingFang SC"/>
                <a:cs typeface="PingFang SC"/>
              </a:rPr>
              <a:t>阻塞</a:t>
            </a:r>
          </a:p>
        </p:txBody>
      </p:sp>
      <p:sp>
        <p:nvSpPr>
          <p:cNvPr id="27" name="cell-bg-1-3-180">
            <a:extLst xmlns:a="http://schemas.openxmlformats.org/drawingml/2006/main">
              <a:ext uri="{FF2B5EF4-FFF2-40B4-BE49-F238E27FC236}">
                <a16:creationId xmlns:a16="http://schemas.microsoft.com/office/drawing/2014/main" id="{FB935551-79A4-4F43-AF10-2A42B0A3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9560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7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8" name="cell-1-3-180">
            <a:extLst xmlns:a="http://schemas.openxmlformats.org/drawingml/2006/main">
              <a:ext uri="{FF2B5EF4-FFF2-40B4-BE49-F238E27FC236}">
                <a16:creationId xmlns:a16="http://schemas.microsoft.com/office/drawing/2014/main" id="{0C308808-36CE-4F76-846E-29918D7A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81325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陈晨</a:t>
            </a:r>
          </a:p>
        </p:txBody>
      </p:sp>
      <p:sp>
        <p:nvSpPr>
          <p:cNvPr id="29" name="cell-bg-2-0-180">
            <a:extLst xmlns:a="http://schemas.openxmlformats.org/drawingml/2006/main">
              <a:ext uri="{FF2B5EF4-FFF2-40B4-BE49-F238E27FC236}">
                <a16:creationId xmlns:a16="http://schemas.microsoft.com/office/drawing/2014/main" id="{A6C2572A-FC87-415D-8E03-B682FEF8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8615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30" name="cell-2-0-180">
            <a:extLst xmlns:a="http://schemas.openxmlformats.org/drawingml/2006/main">
              <a:ext uri="{FF2B5EF4-FFF2-40B4-BE49-F238E27FC236}">
                <a16:creationId xmlns:a16="http://schemas.microsoft.com/office/drawing/2014/main" id="{E6AED768-210B-4059-AA7D-4EC681AB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7187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BUG-103</a:t>
            </a:r>
          </a:p>
        </p:txBody>
      </p:sp>
      <p:sp>
        <p:nvSpPr>
          <p:cNvPr id="31" name="cell-bg-2-1-180">
            <a:extLst xmlns:a="http://schemas.openxmlformats.org/drawingml/2006/main">
              <a:ext uri="{FF2B5EF4-FFF2-40B4-BE49-F238E27FC236}">
                <a16:creationId xmlns:a16="http://schemas.microsoft.com/office/drawing/2014/main" id="{47C8687F-58E4-4246-A86D-5AD46AC8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486150"/>
            <a:ext cx="514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32" name="cell-2-1-180">
            <a:extLst xmlns:a="http://schemas.openxmlformats.org/drawingml/2006/main">
              <a:ext uri="{FF2B5EF4-FFF2-40B4-BE49-F238E27FC236}">
                <a16:creationId xmlns:a16="http://schemas.microsoft.com/office/drawing/2014/main" id="{9869BC83-70DF-41B1-BC3B-2692FB7C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571875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取消订单后库存未完全释放</a:t>
            </a:r>
          </a:p>
        </p:txBody>
      </p:sp>
      <p:sp>
        <p:nvSpPr>
          <p:cNvPr id="33" name="cell-bg-2-2-180">
            <a:extLst xmlns:a="http://schemas.openxmlformats.org/drawingml/2006/main">
              <a:ext uri="{FF2B5EF4-FFF2-40B4-BE49-F238E27FC236}">
                <a16:creationId xmlns:a16="http://schemas.microsoft.com/office/drawing/2014/main" id="{5AAF7254-EC9B-46A4-9670-CB2DF6E6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8615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34" name="cell-2-2-180">
            <a:extLst xmlns:a="http://schemas.openxmlformats.org/drawingml/2006/main">
              <a:ext uri="{FF2B5EF4-FFF2-40B4-BE49-F238E27FC236}">
                <a16:creationId xmlns:a16="http://schemas.microsoft.com/office/drawing/2014/main" id="{F4450491-C1AA-4EA8-8315-544EB453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71875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已完成</a:t>
            </a:r>
          </a:p>
        </p:txBody>
      </p:sp>
      <p:sp>
        <p:nvSpPr>
          <p:cNvPr id="35" name="cell-bg-2-3-180">
            <a:extLst xmlns:a="http://schemas.openxmlformats.org/drawingml/2006/main">
              <a:ext uri="{FF2B5EF4-FFF2-40B4-BE49-F238E27FC236}">
                <a16:creationId xmlns:a16="http://schemas.microsoft.com/office/drawing/2014/main" id="{1D0DDB1F-C484-45FE-B7AE-5D045A2B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8615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36" name="cell-2-3-180">
            <a:extLst xmlns:a="http://schemas.openxmlformats.org/drawingml/2006/main">
              <a:ext uri="{FF2B5EF4-FFF2-40B4-BE49-F238E27FC236}">
                <a16:creationId xmlns:a16="http://schemas.microsoft.com/office/drawing/2014/main" id="{764915C2-CAD1-452D-8B6D-7B3A6572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571875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孙璐</a:t>
            </a:r>
          </a:p>
        </p:txBody>
      </p:sp>
      <p:sp>
        <p:nvSpPr>
          <p:cNvPr id="37" name="cell-bg-3-0-180">
            <a:extLst xmlns:a="http://schemas.openxmlformats.org/drawingml/2006/main">
              <a:ext uri="{FF2B5EF4-FFF2-40B4-BE49-F238E27FC236}">
                <a16:creationId xmlns:a16="http://schemas.microsoft.com/office/drawing/2014/main" id="{C5FD1824-2354-48B2-B290-04B8AB76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7670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38" name="cell-3-0-180">
            <a:extLst xmlns:a="http://schemas.openxmlformats.org/drawingml/2006/main">
              <a:ext uri="{FF2B5EF4-FFF2-40B4-BE49-F238E27FC236}">
                <a16:creationId xmlns:a16="http://schemas.microsoft.com/office/drawing/2014/main" id="{601EED28-A471-45C2-ADAB-80AFAE9D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62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PERF-104</a:t>
            </a:r>
          </a:p>
        </p:txBody>
      </p:sp>
      <p:sp>
        <p:nvSpPr>
          <p:cNvPr id="39" name="cell-bg-3-1-180">
            <a:extLst xmlns:a="http://schemas.openxmlformats.org/drawingml/2006/main">
              <a:ext uri="{FF2B5EF4-FFF2-40B4-BE49-F238E27FC236}">
                <a16:creationId xmlns:a16="http://schemas.microsoft.com/office/drawing/2014/main" id="{779107A0-3CF8-4D83-ACAA-ED31A29B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076700"/>
            <a:ext cx="514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40" name="cell-3-1-180">
            <a:extLst xmlns:a="http://schemas.openxmlformats.org/drawingml/2006/main">
              <a:ext uri="{FF2B5EF4-FFF2-40B4-BE49-F238E27FC236}">
                <a16:creationId xmlns:a16="http://schemas.microsoft.com/office/drawing/2014/main" id="{C8CEE0E4-BE76-4415-AE14-50D5D72D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162425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购物车批量库存校验存在 N+1 查询</a:t>
            </a:r>
          </a:p>
        </p:txBody>
      </p:sp>
      <p:sp>
        <p:nvSpPr>
          <p:cNvPr id="41" name="cell-bg-3-2-180">
            <a:extLst xmlns:a="http://schemas.openxmlformats.org/drawingml/2006/main">
              <a:ext uri="{FF2B5EF4-FFF2-40B4-BE49-F238E27FC236}">
                <a16:creationId xmlns:a16="http://schemas.microsoft.com/office/drawing/2014/main" id="{BFD7F7AB-090C-4DBD-996C-A8A2B60D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7670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42" name="cell-3-2-180">
            <a:extLst xmlns:a="http://schemas.openxmlformats.org/drawingml/2006/main">
              <a:ext uri="{FF2B5EF4-FFF2-40B4-BE49-F238E27FC236}">
                <a16:creationId xmlns:a16="http://schemas.microsoft.com/office/drawing/2014/main" id="{F1A7F3CF-1C7F-409F-97D7-AB1CE54C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62425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审查中</a:t>
            </a:r>
          </a:p>
        </p:txBody>
      </p:sp>
      <p:sp>
        <p:nvSpPr>
          <p:cNvPr id="43" name="cell-bg-3-3-180">
            <a:extLst xmlns:a="http://schemas.openxmlformats.org/drawingml/2006/main">
              <a:ext uri="{FF2B5EF4-FFF2-40B4-BE49-F238E27FC236}">
                <a16:creationId xmlns:a16="http://schemas.microsoft.com/office/drawing/2014/main" id="{A4D276F9-EA42-4224-8E80-859129B4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7670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44" name="cell-3-3-180">
            <a:extLst xmlns:a="http://schemas.openxmlformats.org/drawingml/2006/main">
              <a:ext uri="{FF2B5EF4-FFF2-40B4-BE49-F238E27FC236}">
                <a16:creationId xmlns:a16="http://schemas.microsoft.com/office/drawing/2014/main" id="{AB47BE8C-9A86-40B0-AED2-0659E8A3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162425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郭琪</a:t>
            </a:r>
          </a:p>
        </p:txBody>
      </p:sp>
      <p:sp>
        <p:nvSpPr>
          <p:cNvPr id="45" name="cell-bg-4-0-180">
            <a:extLst xmlns:a="http://schemas.openxmlformats.org/drawingml/2006/main">
              <a:ext uri="{FF2B5EF4-FFF2-40B4-BE49-F238E27FC236}">
                <a16:creationId xmlns:a16="http://schemas.microsoft.com/office/drawing/2014/main" id="{8C69EB80-D34E-40DF-8AE4-98BD37BF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46" name="cell-4-0-180">
            <a:extLst xmlns:a="http://schemas.openxmlformats.org/drawingml/2006/main">
              <a:ext uri="{FF2B5EF4-FFF2-40B4-BE49-F238E27FC236}">
                <a16:creationId xmlns:a16="http://schemas.microsoft.com/office/drawing/2014/main" id="{884B5528-F5FA-4E24-B09D-0EADB26C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5297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SEC-105</a:t>
            </a:r>
          </a:p>
        </p:txBody>
      </p:sp>
      <p:sp>
        <p:nvSpPr>
          <p:cNvPr id="47" name="cell-bg-4-1-180">
            <a:extLst xmlns:a="http://schemas.openxmlformats.org/drawingml/2006/main">
              <a:ext uri="{FF2B5EF4-FFF2-40B4-BE49-F238E27FC236}">
                <a16:creationId xmlns:a16="http://schemas.microsoft.com/office/drawing/2014/main" id="{D7F5986E-854E-4A53-8D36-05BE78B2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667250"/>
            <a:ext cx="514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48" name="cell-4-1-180">
            <a:extLst xmlns:a="http://schemas.openxmlformats.org/drawingml/2006/main">
              <a:ext uri="{FF2B5EF4-FFF2-40B4-BE49-F238E27FC236}">
                <a16:creationId xmlns:a16="http://schemas.microsoft.com/office/drawing/2014/main" id="{871FFD0A-67AC-4D3F-80CE-9A8F187C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752975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后台人工调整库存缺少权限与审计校验</a:t>
            </a:r>
          </a:p>
        </p:txBody>
      </p:sp>
      <p:sp>
        <p:nvSpPr>
          <p:cNvPr id="49" name="cell-bg-4-2-180">
            <a:extLst xmlns:a="http://schemas.openxmlformats.org/drawingml/2006/main">
              <a:ext uri="{FF2B5EF4-FFF2-40B4-BE49-F238E27FC236}">
                <a16:creationId xmlns:a16="http://schemas.microsoft.com/office/drawing/2014/main" id="{AF91A354-4B5D-484B-AAE6-AA6BF06E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66725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50" name="cell-4-2-180">
            <a:extLst xmlns:a="http://schemas.openxmlformats.org/drawingml/2006/main">
              <a:ext uri="{FF2B5EF4-FFF2-40B4-BE49-F238E27FC236}">
                <a16:creationId xmlns:a16="http://schemas.microsoft.com/office/drawing/2014/main" id="{767BB492-0B2F-451E-A4BC-CD214E14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752975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待开始</a:t>
            </a:r>
          </a:p>
        </p:txBody>
      </p:sp>
      <p:sp>
        <p:nvSpPr>
          <p:cNvPr id="51" name="cell-bg-4-3-180">
            <a:extLst xmlns:a="http://schemas.openxmlformats.org/drawingml/2006/main">
              <a:ext uri="{FF2B5EF4-FFF2-40B4-BE49-F238E27FC236}">
                <a16:creationId xmlns:a16="http://schemas.microsoft.com/office/drawing/2014/main" id="{9D9E0249-3375-48F3-A8CF-433EF33A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66725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52" name="cell-4-3-180">
            <a:extLst xmlns:a="http://schemas.openxmlformats.org/drawingml/2006/main">
              <a:ext uri="{FF2B5EF4-FFF2-40B4-BE49-F238E27FC236}">
                <a16:creationId xmlns:a16="http://schemas.microsoft.com/office/drawing/2014/main" id="{4A580E78-54AD-48F1-A92E-10CFD98D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752975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未分配</a:t>
            </a:r>
          </a:p>
        </p:txBody>
      </p:sp>
    </p:spTree>
    <p:extLst>
      <p:ext uri="{BB962C8B-B14F-4D97-AF65-F5344CB8AC3E}">
        <p14:creationId xmlns:p14="http://schemas.microsoft.com/office/powerpoint/2010/main" val="20925644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4">
            <a:extLst xmlns:a="http://schemas.openxmlformats.org/drawingml/2006/main">
              <a:ext uri="{FF2B5EF4-FFF2-40B4-BE49-F238E27FC236}">
                <a16:creationId xmlns:a16="http://schemas.microsoft.com/office/drawing/2014/main" id="{0E40AB49-2A05-46FA-9845-49B9BB2B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团队按三步恢复计划推进，发布日期影响待确认</a:t>
            </a:r>
          </a:p>
        </p:txBody>
      </p:sp>
      <p:sp>
        <p:nvSpPr>
          <p:cNvPr id="2" name="subtitle-4">
            <a:extLst xmlns:a="http://schemas.openxmlformats.org/drawingml/2006/main">
              <a:ext uri="{FF2B5EF4-FFF2-40B4-BE49-F238E27FC236}">
                <a16:creationId xmlns:a16="http://schemas.microsoft.com/office/drawing/2014/main" id="{592F3D7C-8C8A-4634-8807-CBC05DBE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1550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本期快照后的建议动作，不改变已冻结证据。</a:t>
            </a:r>
          </a:p>
        </p:txBody>
      </p:sp>
      <p:sp>
        <p:nvSpPr>
          <p:cNvPr id="3" name="footer-4">
            <a:extLst xmlns:a="http://schemas.openxmlformats.org/drawingml/2006/main">
              <a:ext uri="{FF2B5EF4-FFF2-40B4-BE49-F238E27FC236}">
                <a16:creationId xmlns:a16="http://schemas.microsoft.com/office/drawing/2014/main" id="{6BF2CE35-707F-4401-80C7-955234AC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ShopFlow v2.6  |  shopflow-5bfd99fc6000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A9C7C7CC-6DD9-4EBB-809E-0E449D22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5" name="timeline">
            <a:extLst xmlns:a="http://schemas.openxmlformats.org/drawingml/2006/main">
              <a:ext uri="{FF2B5EF4-FFF2-40B4-BE49-F238E27FC236}">
                <a16:creationId xmlns:a16="http://schemas.microsoft.com/office/drawing/2014/main" id="{2771F41C-7308-4940-917B-31F707F9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8882EF9-2B6E-4CDF-8910-9C4D5B07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imeline-time-0">
            <a:extLst xmlns:a="http://schemas.openxmlformats.org/drawingml/2006/main">
              <a:ext uri="{FF2B5EF4-FFF2-40B4-BE49-F238E27FC236}">
                <a16:creationId xmlns:a16="http://schemas.microsoft.com/office/drawing/2014/main" id="{53082764-AD6E-44EE-8B3D-AECA7554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当前</a:t>
            </a:r>
          </a:p>
        </p:txBody>
      </p:sp>
      <p:sp>
        <p:nvSpPr>
          <p:cNvPr id="8" name="timeline-title-0">
            <a:extLst xmlns:a="http://schemas.openxmlformats.org/drawingml/2006/main">
              <a:ext uri="{FF2B5EF4-FFF2-40B4-BE49-F238E27FC236}">
                <a16:creationId xmlns:a16="http://schemas.microsoft.com/office/drawing/2014/main" id="{94D4D475-0E21-4653-9CC5-F1B5DEC9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专家复核库存修复方案</a:t>
            </a:r>
          </a:p>
        </p:txBody>
      </p:sp>
      <p:sp>
        <p:nvSpPr>
          <p:cNvPr id="9" name="timeline-owner-0">
            <a:extLst xmlns:a="http://schemas.openxmlformats.org/drawingml/2006/main">
              <a:ext uri="{FF2B5EF4-FFF2-40B4-BE49-F238E27FC236}">
                <a16:creationId xmlns:a16="http://schemas.microsoft.com/office/drawing/2014/main" id="{774BDB26-DAD3-4232-A495-3A519FBE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技术负责人</a:t>
            </a:r>
          </a:p>
        </p:txBody>
      </p:sp>
      <p:sp>
        <p:nvSpPr>
          <p:cNvPr id="10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CA4FC476-BEB8-4799-BD41-13FA5886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86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imeline-time-1">
            <a:extLst xmlns:a="http://schemas.openxmlformats.org/drawingml/2006/main">
              <a:ext uri="{FF2B5EF4-FFF2-40B4-BE49-F238E27FC236}">
                <a16:creationId xmlns:a16="http://schemas.microsoft.com/office/drawing/2014/main" id="{24280052-F351-4679-962A-F0F439FA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098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下一检查点</a:t>
            </a:r>
          </a:p>
        </p:txBody>
      </p:sp>
      <p:sp>
        <p:nvSpPr>
          <p:cNvPr id="12" name="timeline-title-1">
            <a:extLst xmlns:a="http://schemas.openxmlformats.org/drawingml/2006/main">
              <a:ext uri="{FF2B5EF4-FFF2-40B4-BE49-F238E27FC236}">
                <a16:creationId xmlns:a16="http://schemas.microsoft.com/office/drawing/2014/main" id="{406E1C11-397E-4221-86C3-B5FCFFAB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481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完成并发回归与安全评估</a:t>
            </a:r>
          </a:p>
        </p:txBody>
      </p:sp>
      <p:sp>
        <p:nvSpPr>
          <p:cNvPr id="13" name="timeline-owner-1">
            <a:extLst xmlns:a="http://schemas.openxmlformats.org/drawingml/2006/main">
              <a:ext uri="{FF2B5EF4-FFF2-40B4-BE49-F238E27FC236}">
                <a16:creationId xmlns:a16="http://schemas.microsoft.com/office/drawing/2014/main" id="{75B49F0C-3EEE-4BC1-AF47-6B8C9338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244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研发团队</a:t>
            </a:r>
          </a:p>
        </p:txBody>
      </p:sp>
      <p:sp>
        <p:nvSpPr>
          <p:cNvPr id="14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7E7ACA83-4089-444E-A1EF-CBA4B50C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86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imeline-time-2">
            <a:extLst xmlns:a="http://schemas.openxmlformats.org/drawingml/2006/main">
              <a:ext uri="{FF2B5EF4-FFF2-40B4-BE49-F238E27FC236}">
                <a16:creationId xmlns:a16="http://schemas.microsoft.com/office/drawing/2014/main" id="{0F4EC2F4-007B-4683-976B-0B5D0EE7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098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结果确认</a:t>
            </a:r>
          </a:p>
        </p:txBody>
      </p:sp>
      <p:sp>
        <p:nvSpPr>
          <p:cNvPr id="16" name="timeline-title-2">
            <a:extLst xmlns:a="http://schemas.openxmlformats.org/drawingml/2006/main">
              <a:ext uri="{FF2B5EF4-FFF2-40B4-BE49-F238E27FC236}">
                <a16:creationId xmlns:a16="http://schemas.microsoft.com/office/drawing/2014/main" id="{1A78623A-5A4D-406A-A775-CD86869D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481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更新发布日期与客户影响</a:t>
            </a:r>
          </a:p>
        </p:txBody>
      </p:sp>
      <p:sp>
        <p:nvSpPr>
          <p:cNvPr id="17" name="timeline-owner-2">
            <a:extLst xmlns:a="http://schemas.openxmlformats.org/drawingml/2006/main">
              <a:ext uri="{FF2B5EF4-FFF2-40B4-BE49-F238E27FC236}">
                <a16:creationId xmlns:a16="http://schemas.microsoft.com/office/drawing/2014/main" id="{72E4F9AE-E388-4EDA-9D67-D064300C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244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项目经理</a:t>
            </a:r>
          </a:p>
        </p:txBody>
      </p:sp>
      <p:sp>
        <p:nvSpPr>
          <p:cNvPr id="18" name="decision-band">
            <a:extLst xmlns:a="http://schemas.openxmlformats.org/drawingml/2006/main">
              <a:ext uri="{FF2B5EF4-FFF2-40B4-BE49-F238E27FC236}">
                <a16:creationId xmlns:a16="http://schemas.microsoft.com/office/drawing/2014/main" id="{F16EC906-8872-421E-AA07-8066BDAB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47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ecision-text">
            <a:extLst xmlns:a="http://schemas.openxmlformats.org/drawingml/2006/main">
              <a:ext uri="{FF2B5EF4-FFF2-40B4-BE49-F238E27FC236}">
                <a16:creationId xmlns:a16="http://schemas.microsoft.com/office/drawing/2014/main" id="{970B8E7F-9573-4082-9F19-E3A813BB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29275"/>
            <a:ext cx="1005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客户项目经理决策：维持 8 月 15 日目标；若下一检查点未通过，再确认是否调整发布日期。</a:t>
            </a:r>
          </a:p>
        </p:txBody>
      </p:sp>
    </p:spTree>
    <p:extLst>
      <p:ext uri="{BB962C8B-B14F-4D97-AF65-F5344CB8AC3E}">
        <p14:creationId xmlns:p14="http://schemas.microsoft.com/office/powerpoint/2010/main" val="17283033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2026-08-06T05:41:44.3980000Z</dcterms:created>
  <dcterms:modified xsi:type="dcterms:W3CDTF">2026-08-06T05:41:44.3980000Z</dcterms:modified>
</coreProperties>
</file>